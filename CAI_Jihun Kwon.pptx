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4"/>
  </p:notesMasterIdLst>
  <p:sldIdLst>
    <p:sldId id="256" r:id="rId2"/>
    <p:sldId id="259" r:id="rId3"/>
    <p:sldId id="258" r:id="rId4"/>
    <p:sldId id="262" r:id="rId5"/>
    <p:sldId id="260" r:id="rId6"/>
    <p:sldId id="267" r:id="rId7"/>
    <p:sldId id="263" r:id="rId8"/>
    <p:sldId id="265" r:id="rId9"/>
    <p:sldId id="269" r:id="rId10"/>
    <p:sldId id="266" r:id="rId11"/>
    <p:sldId id="261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FFFFFF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0" autoAdjust="0"/>
    <p:restoredTop sz="89005" autoAdjust="0"/>
  </p:normalViewPr>
  <p:slideViewPr>
    <p:cSldViewPr snapToGrid="0">
      <p:cViewPr varScale="1">
        <p:scale>
          <a:sx n="75" d="100"/>
          <a:sy n="75" d="100"/>
        </p:scale>
        <p:origin x="4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03F7-845A-47EA-A43C-752FC7885753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DBFCE-002F-4D1F-930E-E22B78EF5E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40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DBFCE-002F-4D1F-930E-E22B78EF5E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1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DBFCE-002F-4D1F-930E-E22B78EF5E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98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1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2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4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6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4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8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2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08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3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9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3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26/science.ade257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화학 공식은 종이에 기록됩니다.">
            <a:extLst>
              <a:ext uri="{FF2B5EF4-FFF2-40B4-BE49-F238E27FC236}">
                <a16:creationId xmlns:a16="http://schemas.microsoft.com/office/drawing/2014/main" id="{DEDDDD77-8FE3-00FF-DDF3-D441A635CF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46A7D5-BA69-CA8E-EF8A-FBAF943C0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761" y="1587536"/>
            <a:ext cx="10042477" cy="2236264"/>
          </a:xfrm>
        </p:spPr>
        <p:txBody>
          <a:bodyPr>
            <a:normAutofit fontScale="90000"/>
          </a:bodyPr>
          <a:lstStyle/>
          <a:p>
            <a:r>
              <a:rPr lang="en-US" altLang="ko-KR" sz="5400" dirty="0"/>
              <a:t>Computational design of </a:t>
            </a:r>
            <a:r>
              <a:rPr lang="en-US" altLang="ko-KR" sz="5400" dirty="0" err="1"/>
              <a:t>GCase</a:t>
            </a:r>
            <a:r>
              <a:rPr lang="en-US" altLang="ko-KR" sz="5400" dirty="0"/>
              <a:t>:  Alternatives and screening</a:t>
            </a:r>
            <a:endParaRPr lang="ko-KR" altLang="en-US" sz="5000" dirty="0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F7BD88-AE7F-6406-F748-846CF0DCC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6359" y="4244360"/>
            <a:ext cx="7299279" cy="561693"/>
          </a:xfrm>
        </p:spPr>
        <p:txBody>
          <a:bodyPr>
            <a:normAutofit/>
          </a:bodyPr>
          <a:lstStyle/>
          <a:p>
            <a:r>
              <a:rPr lang="en-US" altLang="ko-KR" sz="2200" dirty="0">
                <a:solidFill>
                  <a:srgbClr val="FFFFFF"/>
                </a:solidFill>
              </a:rPr>
              <a:t>Jihun, Kwon (02116987)</a:t>
            </a:r>
            <a:endParaRPr lang="ko-KR" altLang="en-US" sz="2200" dirty="0">
              <a:solidFill>
                <a:srgbClr val="FFFFFF"/>
              </a:solidFill>
            </a:endParaRPr>
          </a:p>
        </p:txBody>
      </p:sp>
      <p:sp>
        <p:nvSpPr>
          <p:cNvPr id="5" name="MyPageNum">
            <a:extLst>
              <a:ext uri="{FF2B5EF4-FFF2-40B4-BE49-F238E27FC236}">
                <a16:creationId xmlns:a16="http://schemas.microsoft.com/office/drawing/2014/main" id="{23B900B4-3338-F9C2-0492-0363A87C2510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1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639494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C1C19-EE8F-F2E0-8693-C3BED4B7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65076-2354-8475-A5F1-1C2783C3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What and Why - </a:t>
            </a:r>
            <a:r>
              <a:rPr lang="en-US" altLang="ko-KR" sz="3200" dirty="0" err="1"/>
              <a:t>GCase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29F12F-EE91-5345-288D-88CC4CE33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230" y="1680898"/>
            <a:ext cx="6317542" cy="738910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Gaucher disease</a:t>
            </a:r>
            <a:endParaRPr lang="ko-KR" altLang="en-US" sz="2800" b="1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7718180-31F1-55E8-F444-8F21E0EAB61B}"/>
              </a:ext>
            </a:extLst>
          </p:cNvPr>
          <p:cNvSpPr txBox="1">
            <a:spLocks/>
          </p:cNvSpPr>
          <p:nvPr/>
        </p:nvSpPr>
        <p:spPr>
          <a:xfrm>
            <a:off x="1001698" y="2263295"/>
            <a:ext cx="10188604" cy="93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altLang="ko-KR" b="1" dirty="0"/>
              <a:t>Occurred by mutation of gene (GBA1) encoding </a:t>
            </a:r>
            <a:r>
              <a:rPr lang="el-GR" altLang="ko-KR" b="1" dirty="0">
                <a:ea typeface="맑은 고딕" panose="020B0503020000020004" pitchFamily="50" charset="-127"/>
              </a:rPr>
              <a:t>β</a:t>
            </a:r>
            <a:r>
              <a:rPr lang="en-US" altLang="ko-KR" b="1" dirty="0"/>
              <a:t> - </a:t>
            </a:r>
            <a:r>
              <a:rPr lang="nl-BE" altLang="ko-KR" b="1" dirty="0"/>
              <a:t>glucocerebrosidase (GCase)</a:t>
            </a:r>
          </a:p>
          <a:p>
            <a:pPr lvl="1">
              <a:buFontTx/>
              <a:buChar char="-"/>
            </a:pPr>
            <a:r>
              <a:rPr lang="en-US" altLang="ko-KR" b="1" dirty="0"/>
              <a:t>Lack of </a:t>
            </a:r>
            <a:r>
              <a:rPr lang="en-US" altLang="ko-KR" b="1" dirty="0" err="1"/>
              <a:t>GCase</a:t>
            </a:r>
            <a:r>
              <a:rPr lang="en-US" altLang="ko-KR" b="1" dirty="0"/>
              <a:t>: lipids accumulated in lysosome </a:t>
            </a:r>
            <a:r>
              <a:rPr lang="en-US" altLang="ko-KR" b="1" dirty="0">
                <a:latin typeface="Batang" panose="02030600000101010101" pitchFamily="18" charset="-127"/>
                <a:ea typeface="Batang" panose="02030600000101010101" pitchFamily="18" charset="-127"/>
              </a:rPr>
              <a:t>→</a:t>
            </a:r>
            <a:r>
              <a:rPr lang="en-US" altLang="ko-KR" b="1" dirty="0"/>
              <a:t> </a:t>
            </a:r>
            <a:r>
              <a:rPr lang="en-US" altLang="ko-KR" b="1"/>
              <a:t>Gaucher disease</a:t>
            </a:r>
            <a:endParaRPr lang="en-US" altLang="ko-KR" b="1" dirty="0"/>
          </a:p>
          <a:p>
            <a:pPr>
              <a:buFontTx/>
              <a:buChar char="-"/>
            </a:pPr>
            <a:endParaRPr lang="en-US" altLang="ko-KR" sz="1800" b="1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BCD93CC-86AC-3EBB-403C-85D4A90E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79" y="5198165"/>
            <a:ext cx="6228441" cy="1151835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DAC1AA9-BDBE-5108-E857-51E8CFDF56D7}"/>
              </a:ext>
            </a:extLst>
          </p:cNvPr>
          <p:cNvSpPr txBox="1">
            <a:spLocks/>
          </p:cNvSpPr>
          <p:nvPr/>
        </p:nvSpPr>
        <p:spPr>
          <a:xfrm>
            <a:off x="1420011" y="4585699"/>
            <a:ext cx="9038851" cy="650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rgbClr val="FF0000"/>
                </a:solidFill>
              </a:rPr>
              <a:t>Could brand-new designed enzyme can have cost efficiency??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1DD6F7-BECE-9EE6-1F43-DCC945435AA2}"/>
              </a:ext>
            </a:extLst>
          </p:cNvPr>
          <p:cNvSpPr txBox="1"/>
          <p:nvPr/>
        </p:nvSpPr>
        <p:spPr>
          <a:xfrm>
            <a:off x="708230" y="3414233"/>
            <a:ext cx="2832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b="1" dirty="0"/>
              <a:t>Problem</a:t>
            </a:r>
            <a:endParaRPr lang="ko-KR" altLang="en-US" sz="2800" b="1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755B50EB-3E82-DAEE-69ED-E3D854E51C90}"/>
              </a:ext>
            </a:extLst>
          </p:cNvPr>
          <p:cNvSpPr txBox="1">
            <a:spLocks/>
          </p:cNvSpPr>
          <p:nvPr/>
        </p:nvSpPr>
        <p:spPr>
          <a:xfrm>
            <a:off x="1001698" y="3966471"/>
            <a:ext cx="10188604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altLang="ko-KR" b="1" dirty="0"/>
              <a:t>Enzyme alternating </a:t>
            </a:r>
            <a:r>
              <a:rPr lang="en-US" altLang="ko-KR" b="1" dirty="0" err="1"/>
              <a:t>GCase</a:t>
            </a:r>
            <a:r>
              <a:rPr lang="en-US" altLang="ko-KR" b="1" dirty="0"/>
              <a:t> is still too expensive ($70K-550K/year)</a:t>
            </a:r>
          </a:p>
        </p:txBody>
      </p:sp>
      <p:sp>
        <p:nvSpPr>
          <p:cNvPr id="6" name="MyPageNum">
            <a:extLst>
              <a:ext uri="{FF2B5EF4-FFF2-40B4-BE49-F238E27FC236}">
                <a16:creationId xmlns:a16="http://schemas.microsoft.com/office/drawing/2014/main" id="{AFAED161-5C3F-77EA-1DBB-5E72FD6D2579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2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870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A68B9-3BFD-E9DC-F566-C2D1A72C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Overview of pipeline – De novo design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5AD1A-50A2-1BCD-BE2C-B3DB2D205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553576"/>
            <a:ext cx="6734637" cy="481752"/>
          </a:xfrm>
        </p:spPr>
        <p:txBody>
          <a:bodyPr>
            <a:normAutofit fontScale="47500" lnSpcReduction="20000"/>
          </a:bodyPr>
          <a:lstStyle/>
          <a:p>
            <a:r>
              <a:rPr lang="en-US" altLang="ko-KR" sz="3600" b="1" dirty="0"/>
              <a:t>Input: 2NT0 (structure of Native </a:t>
            </a:r>
            <a:r>
              <a:rPr lang="en-US" altLang="ko-KR" sz="3600" b="1" dirty="0" err="1"/>
              <a:t>GCase</a:t>
            </a:r>
            <a:r>
              <a:rPr lang="en-US" altLang="ko-KR" sz="3600" b="1" dirty="0"/>
              <a:t> – only if needed)</a:t>
            </a:r>
            <a:endParaRPr lang="ko-KR" altLang="en-US" sz="3600" b="1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67196AE-2A68-6B9E-9549-4EB245E34040}"/>
              </a:ext>
            </a:extLst>
          </p:cNvPr>
          <p:cNvSpPr txBox="1">
            <a:spLocks/>
          </p:cNvSpPr>
          <p:nvPr/>
        </p:nvSpPr>
        <p:spPr>
          <a:xfrm>
            <a:off x="1220726" y="2241863"/>
            <a:ext cx="6126561" cy="10598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altLang="ko-KR" sz="2400" b="1" dirty="0">
                <a:solidFill>
                  <a:srgbClr val="0070C0"/>
                </a:solidFill>
              </a:rPr>
              <a:t>Method A</a:t>
            </a:r>
            <a:r>
              <a:rPr lang="en-US" altLang="ko-KR" sz="2400" b="1" dirty="0"/>
              <a:t>: </a:t>
            </a:r>
            <a:r>
              <a:rPr lang="en-US" altLang="ko-KR" sz="2400" b="1" dirty="0" err="1"/>
              <a:t>GENzyme</a:t>
            </a:r>
            <a:endParaRPr lang="en-US" altLang="ko-KR" sz="2400" b="1" dirty="0"/>
          </a:p>
          <a:p>
            <a:pPr lvl="1">
              <a:buFontTx/>
              <a:buChar char="-"/>
            </a:pPr>
            <a:r>
              <a:rPr lang="en-US" altLang="ko-KR" b="1" dirty="0"/>
              <a:t>End to End enzyme generation model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642C4C91-076F-3B1F-B0CE-6EF97952891E}"/>
              </a:ext>
            </a:extLst>
          </p:cNvPr>
          <p:cNvSpPr txBox="1">
            <a:spLocks/>
          </p:cNvSpPr>
          <p:nvPr/>
        </p:nvSpPr>
        <p:spPr>
          <a:xfrm>
            <a:off x="1220726" y="3301676"/>
            <a:ext cx="7506181" cy="10598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altLang="ko-KR" sz="2400" b="1" dirty="0">
                <a:solidFill>
                  <a:schemeClr val="accent2"/>
                </a:solidFill>
              </a:rPr>
              <a:t>Method B</a:t>
            </a:r>
            <a:r>
              <a:rPr lang="en-US" altLang="ko-KR" sz="2400" b="1" dirty="0"/>
              <a:t>: RFdiffusion3 + </a:t>
            </a:r>
            <a:r>
              <a:rPr lang="en-US" altLang="ko-KR" sz="2400" b="1" dirty="0" err="1"/>
              <a:t>GENzyme</a:t>
            </a:r>
            <a:endParaRPr lang="en-US" altLang="ko-KR" sz="2400" b="1" dirty="0"/>
          </a:p>
          <a:p>
            <a:pPr lvl="1">
              <a:buFontTx/>
              <a:buChar char="-"/>
            </a:pPr>
            <a:r>
              <a:rPr lang="en-US" altLang="ko-KR" b="1" dirty="0"/>
              <a:t>Motif from </a:t>
            </a:r>
            <a:r>
              <a:rPr lang="en-US" altLang="ko-KR" b="1" dirty="0" err="1"/>
              <a:t>GENzyme</a:t>
            </a:r>
            <a:r>
              <a:rPr lang="en-US" altLang="ko-KR" b="1" dirty="0"/>
              <a:t> + Scaffold from RFdiffusion3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00E704CC-D093-B6B6-5E3C-A7C0282B7F08}"/>
              </a:ext>
            </a:extLst>
          </p:cNvPr>
          <p:cNvSpPr txBox="1">
            <a:spLocks/>
          </p:cNvSpPr>
          <p:nvPr/>
        </p:nvSpPr>
        <p:spPr>
          <a:xfrm>
            <a:off x="1220728" y="4392762"/>
            <a:ext cx="4187010" cy="1311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altLang="ko-KR" sz="2400" b="1" dirty="0">
                <a:solidFill>
                  <a:srgbClr val="92D050"/>
                </a:solidFill>
              </a:rPr>
              <a:t>Method C</a:t>
            </a:r>
            <a:r>
              <a:rPr lang="en-US" altLang="ko-KR" sz="2400" b="1" dirty="0"/>
              <a:t>: RFdiffusion3</a:t>
            </a:r>
          </a:p>
          <a:p>
            <a:pPr lvl="1">
              <a:buFontTx/>
              <a:buChar char="-"/>
            </a:pPr>
            <a:r>
              <a:rPr lang="en-US" altLang="ko-KR" b="1" dirty="0"/>
              <a:t>De Novo synthesis of scaffold with original </a:t>
            </a:r>
            <a:r>
              <a:rPr lang="en-US" altLang="ko-KR" b="1" dirty="0" err="1"/>
              <a:t>GCase</a:t>
            </a:r>
            <a:endParaRPr lang="en-US" altLang="ko-KR" b="1" dirty="0"/>
          </a:p>
        </p:txBody>
      </p:sp>
      <p:sp>
        <p:nvSpPr>
          <p:cNvPr id="35" name="화살표: 굽음 34">
            <a:extLst>
              <a:ext uri="{FF2B5EF4-FFF2-40B4-BE49-F238E27FC236}">
                <a16:creationId xmlns:a16="http://schemas.microsoft.com/office/drawing/2014/main" id="{5776D7AD-C337-3265-532F-A5A3FC848BE8}"/>
              </a:ext>
            </a:extLst>
          </p:cNvPr>
          <p:cNvSpPr/>
          <p:nvPr/>
        </p:nvSpPr>
        <p:spPr>
          <a:xfrm rot="5400000">
            <a:off x="7937807" y="2869332"/>
            <a:ext cx="909960" cy="2091005"/>
          </a:xfrm>
          <a:prstGeom prst="bentArrow">
            <a:avLst>
              <a:gd name="adj1" fmla="val 14616"/>
              <a:gd name="adj2" fmla="val 20684"/>
              <a:gd name="adj3" fmla="val 25000"/>
              <a:gd name="adj4" fmla="val 96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93D04025-3EC1-601F-B62B-2651FB249327}"/>
              </a:ext>
            </a:extLst>
          </p:cNvPr>
          <p:cNvSpPr/>
          <p:nvPr/>
        </p:nvSpPr>
        <p:spPr>
          <a:xfrm>
            <a:off x="5407745" y="4719981"/>
            <a:ext cx="2432975" cy="487973"/>
          </a:xfrm>
          <a:prstGeom prst="rightArrow">
            <a:avLst>
              <a:gd name="adj1" fmla="val 25820"/>
              <a:gd name="adj2" fmla="val 47567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BC084F43-4999-79D6-CDB7-00B2FC09EB61}"/>
              </a:ext>
            </a:extLst>
          </p:cNvPr>
          <p:cNvSpPr txBox="1">
            <a:spLocks/>
          </p:cNvSpPr>
          <p:nvPr/>
        </p:nvSpPr>
        <p:spPr>
          <a:xfrm>
            <a:off x="8185803" y="4632572"/>
            <a:ext cx="2164612" cy="778940"/>
          </a:xfrm>
          <a:prstGeom prst="rect">
            <a:avLst/>
          </a:prstGeom>
          <a:ln w="38100">
            <a:solidFill>
              <a:schemeClr val="tx2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 err="1"/>
              <a:t>LigandMPNN</a:t>
            </a:r>
            <a:r>
              <a:rPr lang="en-US" altLang="ko-KR" b="1" dirty="0"/>
              <a:t> + </a:t>
            </a:r>
            <a:r>
              <a:rPr lang="en-US" altLang="ko-KR" b="1" dirty="0" err="1"/>
              <a:t>ESMfold</a:t>
            </a:r>
            <a:endParaRPr lang="en-US" altLang="ko-KR" sz="1800" b="1" dirty="0"/>
          </a:p>
        </p:txBody>
      </p:sp>
      <p:sp>
        <p:nvSpPr>
          <p:cNvPr id="40" name="화살표: 위로 굽음 39">
            <a:extLst>
              <a:ext uri="{FF2B5EF4-FFF2-40B4-BE49-F238E27FC236}">
                <a16:creationId xmlns:a16="http://schemas.microsoft.com/office/drawing/2014/main" id="{F1602ECE-8EB6-0FB8-BD73-E9200C75AD3B}"/>
              </a:ext>
            </a:extLst>
          </p:cNvPr>
          <p:cNvSpPr/>
          <p:nvPr/>
        </p:nvSpPr>
        <p:spPr>
          <a:xfrm>
            <a:off x="10555372" y="2732293"/>
            <a:ext cx="874626" cy="2346116"/>
          </a:xfrm>
          <a:prstGeom prst="bentUpArrow">
            <a:avLst>
              <a:gd name="adj1" fmla="val 20480"/>
              <a:gd name="adj2" fmla="val 25000"/>
              <a:gd name="adj3" fmla="val 25000"/>
            </a:avLst>
          </a:prstGeom>
          <a:solidFill>
            <a:srgbClr val="663300"/>
          </a:solidFill>
          <a:ln>
            <a:solidFill>
              <a:srgbClr val="66003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153FB88-BD93-259A-8DBD-4BE6C6925FA0}"/>
              </a:ext>
            </a:extLst>
          </p:cNvPr>
          <p:cNvCxnSpPr>
            <a:cxnSpLocks/>
          </p:cNvCxnSpPr>
          <p:nvPr/>
        </p:nvCxnSpPr>
        <p:spPr>
          <a:xfrm>
            <a:off x="991188" y="2058194"/>
            <a:ext cx="0" cy="25743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A77E9F6D-9840-ACFE-2DED-F8DB872D7C54}"/>
              </a:ext>
            </a:extLst>
          </p:cNvPr>
          <p:cNvSpPr/>
          <p:nvPr/>
        </p:nvSpPr>
        <p:spPr>
          <a:xfrm>
            <a:off x="974920" y="2400041"/>
            <a:ext cx="245801" cy="21583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2123138F-6803-9F07-C4E4-759403C640B8}"/>
              </a:ext>
            </a:extLst>
          </p:cNvPr>
          <p:cNvSpPr/>
          <p:nvPr/>
        </p:nvSpPr>
        <p:spPr>
          <a:xfrm>
            <a:off x="961692" y="3496705"/>
            <a:ext cx="245801" cy="21583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40728491-60BA-E541-1506-AF34A8598C14}"/>
              </a:ext>
            </a:extLst>
          </p:cNvPr>
          <p:cNvSpPr/>
          <p:nvPr/>
        </p:nvSpPr>
        <p:spPr>
          <a:xfrm>
            <a:off x="961692" y="4545162"/>
            <a:ext cx="259029" cy="174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0983971-2C73-F6A9-6B39-AE6130E14645}"/>
              </a:ext>
            </a:extLst>
          </p:cNvPr>
          <p:cNvSpPr/>
          <p:nvPr/>
        </p:nvSpPr>
        <p:spPr>
          <a:xfrm>
            <a:off x="6096003" y="2244319"/>
            <a:ext cx="5538952" cy="487973"/>
          </a:xfrm>
          <a:prstGeom prst="rightArrow">
            <a:avLst>
              <a:gd name="adj1" fmla="val 25820"/>
              <a:gd name="adj2" fmla="val 475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2E09DD-C2B7-3E27-9D9D-E5853D5F4028}"/>
              </a:ext>
            </a:extLst>
          </p:cNvPr>
          <p:cNvSpPr/>
          <p:nvPr/>
        </p:nvSpPr>
        <p:spPr>
          <a:xfrm>
            <a:off x="6096003" y="2424614"/>
            <a:ext cx="4719145" cy="126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91B2A312-814B-9527-8154-9909BC1E0812}"/>
              </a:ext>
            </a:extLst>
          </p:cNvPr>
          <p:cNvSpPr/>
          <p:nvPr/>
        </p:nvSpPr>
        <p:spPr>
          <a:xfrm rot="5400000">
            <a:off x="10684422" y="2333239"/>
            <a:ext cx="463756" cy="308751"/>
          </a:xfrm>
          <a:prstGeom prst="triangl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MyPageNum">
            <a:extLst>
              <a:ext uri="{FF2B5EF4-FFF2-40B4-BE49-F238E27FC236}">
                <a16:creationId xmlns:a16="http://schemas.microsoft.com/office/drawing/2014/main" id="{A83C2EC3-6BAF-D824-EA9D-7032AD6DA033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3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54868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C6DE1-E7A7-9D6F-1C39-23E63B49E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8C0BFD-4EF1-B8C5-D65E-88080133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7456532" cy="775984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Overview of pipeline - screening</a:t>
            </a:r>
            <a:endParaRPr lang="ko-KR" altLang="en-US" sz="320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EBB2B61-3DDC-F0DE-4F2F-8FE833FF4349}"/>
              </a:ext>
            </a:extLst>
          </p:cNvPr>
          <p:cNvSpPr txBox="1">
            <a:spLocks/>
          </p:cNvSpPr>
          <p:nvPr/>
        </p:nvSpPr>
        <p:spPr>
          <a:xfrm>
            <a:off x="815468" y="5040486"/>
            <a:ext cx="2852452" cy="13095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sz="3200" dirty="0"/>
              <a:t>Result </a:t>
            </a:r>
          </a:p>
          <a:p>
            <a:pPr algn="ctr">
              <a:lnSpc>
                <a:spcPct val="120000"/>
              </a:lnSpc>
            </a:pPr>
            <a:r>
              <a:rPr lang="en-US" altLang="ko-KR" sz="3200" dirty="0"/>
              <a:t>comparison</a:t>
            </a:r>
            <a:endParaRPr lang="ko-KR" altLang="en-US" sz="32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0954DCC-C31E-F981-BC38-84F762988535}"/>
              </a:ext>
            </a:extLst>
          </p:cNvPr>
          <p:cNvGrpSpPr/>
          <p:nvPr/>
        </p:nvGrpSpPr>
        <p:grpSpPr>
          <a:xfrm>
            <a:off x="8703511" y="2285293"/>
            <a:ext cx="2852452" cy="1325463"/>
            <a:chOff x="818286" y="985678"/>
            <a:chExt cx="2852452" cy="1325463"/>
          </a:xfrm>
        </p:grpSpPr>
        <p:sp>
          <p:nvSpPr>
            <p:cNvPr id="14" name="제목 1">
              <a:extLst>
                <a:ext uri="{FF2B5EF4-FFF2-40B4-BE49-F238E27FC236}">
                  <a16:creationId xmlns:a16="http://schemas.microsoft.com/office/drawing/2014/main" id="{1AF768C8-A1F0-A983-BAF5-04229638A5F8}"/>
                </a:ext>
              </a:extLst>
            </p:cNvPr>
            <p:cNvSpPr txBox="1">
              <a:spLocks/>
            </p:cNvSpPr>
            <p:nvPr/>
          </p:nvSpPr>
          <p:spPr>
            <a:xfrm>
              <a:off x="818286" y="985678"/>
              <a:ext cx="2852452" cy="47341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5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US" altLang="ko-KR" dirty="0"/>
                <a:t>Selectivity screening</a:t>
              </a:r>
              <a:endParaRPr lang="ko-KR" altLang="en-US" dirty="0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88FD6D62-06F1-4DCE-9309-7F5F1BEFE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1013" y="1462768"/>
              <a:ext cx="1856270" cy="848373"/>
            </a:xfrm>
            <a:prstGeom prst="rect">
              <a:avLst/>
            </a:prstGeom>
          </p:spPr>
        </p:pic>
      </p:grpSp>
      <p:sp>
        <p:nvSpPr>
          <p:cNvPr id="10" name="제목 1">
            <a:extLst>
              <a:ext uri="{FF2B5EF4-FFF2-40B4-BE49-F238E27FC236}">
                <a16:creationId xmlns:a16="http://schemas.microsoft.com/office/drawing/2014/main" id="{2BF819CA-5321-F94D-C27A-688542527656}"/>
              </a:ext>
            </a:extLst>
          </p:cNvPr>
          <p:cNvSpPr txBox="1">
            <a:spLocks/>
          </p:cNvSpPr>
          <p:nvPr/>
        </p:nvSpPr>
        <p:spPr>
          <a:xfrm>
            <a:off x="709760" y="2235324"/>
            <a:ext cx="3914274" cy="7294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dirty="0"/>
              <a:t>Molecular docking </a:t>
            </a:r>
          </a:p>
          <a:p>
            <a:pPr algn="ctr">
              <a:lnSpc>
                <a:spcPct val="120000"/>
              </a:lnSpc>
            </a:pPr>
            <a:r>
              <a:rPr lang="en-US" altLang="ko-KR" dirty="0"/>
              <a:t>simulation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1451A42-8D5D-91B3-5E0C-77CC3866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105" y="3032555"/>
            <a:ext cx="1233585" cy="1415941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7107A0E6-A78D-6C5B-AAA4-B79B15827293}"/>
              </a:ext>
            </a:extLst>
          </p:cNvPr>
          <p:cNvGrpSpPr/>
          <p:nvPr/>
        </p:nvGrpSpPr>
        <p:grpSpPr>
          <a:xfrm>
            <a:off x="4355243" y="2235325"/>
            <a:ext cx="3914274" cy="2213172"/>
            <a:chOff x="3924875" y="1528695"/>
            <a:chExt cx="3914274" cy="2213172"/>
          </a:xfrm>
        </p:grpSpPr>
        <p:sp>
          <p:nvSpPr>
            <p:cNvPr id="12" name="제목 1">
              <a:extLst>
                <a:ext uri="{FF2B5EF4-FFF2-40B4-BE49-F238E27FC236}">
                  <a16:creationId xmlns:a16="http://schemas.microsoft.com/office/drawing/2014/main" id="{117E49FD-0D8E-AE50-8046-007E4045C8B0}"/>
                </a:ext>
              </a:extLst>
            </p:cNvPr>
            <p:cNvSpPr txBox="1">
              <a:spLocks/>
            </p:cNvSpPr>
            <p:nvPr/>
          </p:nvSpPr>
          <p:spPr>
            <a:xfrm>
              <a:off x="3924875" y="1528695"/>
              <a:ext cx="3914274" cy="72946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550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US" altLang="ko-KR" dirty="0"/>
                <a:t>Pharmaceutical 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ko-KR" dirty="0"/>
                <a:t>screening</a:t>
              </a:r>
              <a:endParaRPr lang="ko-KR" altLang="en-US" dirty="0"/>
            </a:p>
          </p:txBody>
        </p:sp>
        <p:pic>
          <p:nvPicPr>
            <p:cNvPr id="1026" name="Picture 2" descr="183,100+ Pill Stock Illustrations, Royalty-Free Vector ...">
              <a:extLst>
                <a:ext uri="{FF2B5EF4-FFF2-40B4-BE49-F238E27FC236}">
                  <a16:creationId xmlns:a16="http://schemas.microsoft.com/office/drawing/2014/main" id="{3210FCC7-283E-8BDC-D2AD-9796A56990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379" y="2168898"/>
              <a:ext cx="1572969" cy="1572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22EE8131-CB7C-2361-4792-20AA7D62E942}"/>
              </a:ext>
            </a:extLst>
          </p:cNvPr>
          <p:cNvSpPr txBox="1">
            <a:spLocks/>
          </p:cNvSpPr>
          <p:nvPr/>
        </p:nvSpPr>
        <p:spPr>
          <a:xfrm>
            <a:off x="4215826" y="4668040"/>
            <a:ext cx="3928078" cy="4122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dirty="0"/>
              <a:t>Main point for comparison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AA3F1E1-6F7A-5EF6-5D44-18A05F7F9B7B}"/>
              </a:ext>
            </a:extLst>
          </p:cNvPr>
          <p:cNvSpPr txBox="1">
            <a:spLocks/>
          </p:cNvSpPr>
          <p:nvPr/>
        </p:nvSpPr>
        <p:spPr>
          <a:xfrm>
            <a:off x="4182650" y="5088700"/>
            <a:ext cx="7373313" cy="1211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20000"/>
              </a:lnSpc>
              <a:buFontTx/>
              <a:buAutoNum type="arabicPeriod"/>
            </a:pPr>
            <a:r>
              <a:rPr lang="en-US" altLang="ko-KR" sz="2000" dirty="0"/>
              <a:t>Does structural stability improved?</a:t>
            </a:r>
          </a:p>
          <a:p>
            <a:pPr marL="742950" indent="-742950">
              <a:lnSpc>
                <a:spcPct val="120000"/>
              </a:lnSpc>
              <a:buAutoNum type="arabicPeriod"/>
            </a:pPr>
            <a:r>
              <a:rPr lang="en-US" altLang="ko-KR" sz="2000" dirty="0"/>
              <a:t>Does docking result improved?</a:t>
            </a:r>
          </a:p>
          <a:p>
            <a:pPr marL="742950" indent="-742950">
              <a:lnSpc>
                <a:spcPct val="120000"/>
              </a:lnSpc>
              <a:buAutoNum type="arabicPeriod"/>
            </a:pPr>
            <a:r>
              <a:rPr lang="en-US" altLang="ko-KR" sz="2000" dirty="0"/>
              <a:t>Which sample usable as wet lab provided?</a:t>
            </a:r>
          </a:p>
          <a:p>
            <a:pPr marL="742950" indent="-742950">
              <a:lnSpc>
                <a:spcPct val="120000"/>
              </a:lnSpc>
              <a:buAutoNum type="arabicPeriod"/>
            </a:pPr>
            <a:endParaRPr lang="ko-KR" altLang="en-US" sz="2000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A238816A-6426-CEF3-0C86-78BFDED3C8DA}"/>
              </a:ext>
            </a:extLst>
          </p:cNvPr>
          <p:cNvSpPr/>
          <p:nvPr/>
        </p:nvSpPr>
        <p:spPr>
          <a:xfrm>
            <a:off x="3700896" y="4979209"/>
            <a:ext cx="481954" cy="1321892"/>
          </a:xfrm>
          <a:prstGeom prst="lef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6B6FE-1AC9-E475-FCC0-6D5F527AD6B6}"/>
              </a:ext>
            </a:extLst>
          </p:cNvPr>
          <p:cNvSpPr txBox="1"/>
          <p:nvPr/>
        </p:nvSpPr>
        <p:spPr>
          <a:xfrm>
            <a:off x="25073" y="2678612"/>
            <a:ext cx="13039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Rosetta</a:t>
            </a:r>
          </a:p>
          <a:p>
            <a:r>
              <a:rPr lang="en-US" altLang="ko-KR" sz="2000" b="1" dirty="0"/>
              <a:t>relaxing</a:t>
            </a:r>
            <a:endParaRPr lang="ko-KR" altLang="en-US" sz="2000" b="1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70040B87-203A-9112-F70A-BC22BEC45956}"/>
              </a:ext>
            </a:extLst>
          </p:cNvPr>
          <p:cNvSpPr/>
          <p:nvPr/>
        </p:nvSpPr>
        <p:spPr>
          <a:xfrm>
            <a:off x="-1" y="2243750"/>
            <a:ext cx="1303975" cy="487973"/>
          </a:xfrm>
          <a:prstGeom prst="rightArrow">
            <a:avLst>
              <a:gd name="adj1" fmla="val 25820"/>
              <a:gd name="adj2" fmla="val 475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5A72D3A4-8B2C-A856-0414-3ED982001DA7}"/>
              </a:ext>
            </a:extLst>
          </p:cNvPr>
          <p:cNvSpPr/>
          <p:nvPr/>
        </p:nvSpPr>
        <p:spPr>
          <a:xfrm>
            <a:off x="4050062" y="2245335"/>
            <a:ext cx="1088020" cy="487973"/>
          </a:xfrm>
          <a:prstGeom prst="rightArrow">
            <a:avLst>
              <a:gd name="adj1" fmla="val 25820"/>
              <a:gd name="adj2" fmla="val 475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B01B4355-8B13-5A91-B89B-9B5652824492}"/>
              </a:ext>
            </a:extLst>
          </p:cNvPr>
          <p:cNvSpPr/>
          <p:nvPr/>
        </p:nvSpPr>
        <p:spPr>
          <a:xfrm>
            <a:off x="7383540" y="2243750"/>
            <a:ext cx="1088020" cy="487973"/>
          </a:xfrm>
          <a:prstGeom prst="rightArrow">
            <a:avLst>
              <a:gd name="adj1" fmla="val 25820"/>
              <a:gd name="adj2" fmla="val 475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5143F2-9351-D37B-0BCB-09C843CAA892}"/>
              </a:ext>
            </a:extLst>
          </p:cNvPr>
          <p:cNvSpPr txBox="1"/>
          <p:nvPr/>
        </p:nvSpPr>
        <p:spPr>
          <a:xfrm>
            <a:off x="612204" y="1621996"/>
            <a:ext cx="6111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/>
              <a:t>Screening the De novo synthesized result </a:t>
            </a:r>
            <a:endParaRPr lang="ko-KR" altLang="en-US" sz="2000" b="1" dirty="0"/>
          </a:p>
        </p:txBody>
      </p:sp>
      <p:sp>
        <p:nvSpPr>
          <p:cNvPr id="32" name="MyPageNum">
            <a:extLst>
              <a:ext uri="{FF2B5EF4-FFF2-40B4-BE49-F238E27FC236}">
                <a16:creationId xmlns:a16="http://schemas.microsoft.com/office/drawing/2014/main" id="{A7BD9B5C-0F2F-F931-D498-7032145E642C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4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099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6631-11A4-18ED-83C4-DA872D5C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204E8-0F16-D70A-D0F3-3ECD4C8E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0" y="548640"/>
            <a:ext cx="10653578" cy="1132258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Result</a:t>
            </a:r>
            <a:r>
              <a:rPr lang="ko-KR" altLang="en-US" sz="3200" dirty="0"/>
              <a:t> </a:t>
            </a:r>
            <a:r>
              <a:rPr lang="en-US" altLang="ko-KR" sz="3200" dirty="0"/>
              <a:t>1</a:t>
            </a:r>
            <a:r>
              <a:rPr lang="ko-KR" altLang="en-US" sz="3200" dirty="0"/>
              <a:t> </a:t>
            </a:r>
            <a:r>
              <a:rPr lang="en-US" altLang="ko-KR" sz="3200" dirty="0"/>
              <a:t>–</a:t>
            </a:r>
            <a:r>
              <a:rPr lang="ko-KR" altLang="en-US" sz="3200" dirty="0"/>
              <a:t> </a:t>
            </a:r>
            <a:r>
              <a:rPr lang="en-US" altLang="ko-KR" sz="3200" dirty="0"/>
              <a:t>Does structural stability improved?</a:t>
            </a:r>
            <a:br>
              <a:rPr lang="en-US" altLang="ko-KR" sz="3200" dirty="0"/>
            </a:br>
            <a:endParaRPr lang="ko-KR" altLang="en-US" sz="32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A4ECE89-AC6D-60FB-072B-F28EC96BB173}"/>
              </a:ext>
            </a:extLst>
          </p:cNvPr>
          <p:cNvSpPr txBox="1">
            <a:spLocks/>
          </p:cNvSpPr>
          <p:nvPr/>
        </p:nvSpPr>
        <p:spPr>
          <a:xfrm>
            <a:off x="7811428" y="1680898"/>
            <a:ext cx="3767923" cy="2409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0070C0"/>
                </a:solidFill>
              </a:rPr>
              <a:t>Method A</a:t>
            </a:r>
            <a:r>
              <a:rPr lang="en-US" altLang="ko-KR" sz="1800" b="1" dirty="0"/>
              <a:t>: Use ESM3 for filtering structure</a:t>
            </a:r>
          </a:p>
          <a:p>
            <a:r>
              <a:rPr lang="en-US" altLang="ko-KR" sz="1800" b="1" dirty="0">
                <a:solidFill>
                  <a:schemeClr val="accent2"/>
                </a:solidFill>
              </a:rPr>
              <a:t>Method B</a:t>
            </a:r>
            <a:r>
              <a:rPr lang="en-US" altLang="ko-KR" sz="1800" b="1" dirty="0"/>
              <a:t>: Relatively low </a:t>
            </a:r>
            <a:r>
              <a:rPr lang="en-US" altLang="ko-KR" sz="1800" b="1" dirty="0" err="1"/>
              <a:t>pLDDT</a:t>
            </a:r>
            <a:endParaRPr lang="en-US" altLang="ko-KR" sz="1800" b="1" dirty="0"/>
          </a:p>
          <a:p>
            <a:r>
              <a:rPr lang="en-US" altLang="ko-KR" sz="1800" b="1" dirty="0">
                <a:solidFill>
                  <a:srgbClr val="92D050"/>
                </a:solidFill>
              </a:rPr>
              <a:t>Method C</a:t>
            </a:r>
            <a:r>
              <a:rPr lang="en-US" altLang="ko-KR" sz="1800" b="1" dirty="0"/>
              <a:t>: Relatively high </a:t>
            </a:r>
            <a:r>
              <a:rPr lang="en-US" altLang="ko-KR" sz="1800" b="1" dirty="0" err="1"/>
              <a:t>pLDDT</a:t>
            </a:r>
            <a:endParaRPr lang="ko-KR" altLang="en-US" sz="1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3B251-F291-DA33-F2A2-C5058A7C5A61}"/>
              </a:ext>
            </a:extLst>
          </p:cNvPr>
          <p:cNvSpPr txBox="1"/>
          <p:nvPr/>
        </p:nvSpPr>
        <p:spPr>
          <a:xfrm>
            <a:off x="7889709" y="5765225"/>
            <a:ext cx="3611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altLang="ko-KR" sz="1600" b="1" dirty="0" err="1">
                <a:solidFill>
                  <a:schemeClr val="bg1">
                    <a:lumMod val="50000"/>
                  </a:schemeClr>
                </a:solidFill>
              </a:rPr>
              <a:t>pLDDT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: predicted Local Distance Difference Test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AE004F-61D4-0BB6-89DE-3A298DB69A9A}"/>
              </a:ext>
            </a:extLst>
          </p:cNvPr>
          <p:cNvSpPr txBox="1"/>
          <p:nvPr/>
        </p:nvSpPr>
        <p:spPr>
          <a:xfrm>
            <a:off x="7811428" y="4402166"/>
            <a:ext cx="39166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/>
              <a:t>Shouldn’t method B display similar </a:t>
            </a:r>
            <a:r>
              <a:rPr lang="en-US" altLang="ko-KR" sz="1800" b="1" dirty="0" err="1"/>
              <a:t>pLDDT</a:t>
            </a:r>
            <a:r>
              <a:rPr lang="en-US" altLang="ko-KR" sz="1800" b="1" dirty="0"/>
              <a:t> to method C??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D8463F-F88B-6EE6-3272-9F0920F2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94" y="1113452"/>
            <a:ext cx="6433921" cy="54312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D1A02B1-36F8-B476-3B29-529F64EEF5F9}"/>
              </a:ext>
            </a:extLst>
          </p:cNvPr>
          <p:cNvCxnSpPr/>
          <p:nvPr/>
        </p:nvCxnSpPr>
        <p:spPr>
          <a:xfrm>
            <a:off x="1880870" y="1665658"/>
            <a:ext cx="5588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yPageNum">
            <a:extLst>
              <a:ext uri="{FF2B5EF4-FFF2-40B4-BE49-F238E27FC236}">
                <a16:creationId xmlns:a16="http://schemas.microsoft.com/office/drawing/2014/main" id="{3E7C5B43-C6E3-FD8F-E754-B1CEF2CC7131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5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7803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27216-8E2E-6E55-F9FD-87B4A8FB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3D389-52EB-1AEC-F79F-52E926E2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0" y="548640"/>
            <a:ext cx="10653578" cy="1132258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Result</a:t>
            </a:r>
            <a:r>
              <a:rPr lang="ko-KR" altLang="en-US" sz="3200" dirty="0"/>
              <a:t> </a:t>
            </a:r>
            <a:r>
              <a:rPr lang="en-US" altLang="ko-KR" sz="3200" dirty="0"/>
              <a:t>1</a:t>
            </a:r>
            <a:r>
              <a:rPr lang="ko-KR" altLang="en-US" sz="3200" dirty="0"/>
              <a:t> </a:t>
            </a:r>
            <a:r>
              <a:rPr lang="en-US" altLang="ko-KR" sz="3200" dirty="0"/>
              <a:t>– Does structural stability improve?</a:t>
            </a:r>
            <a:br>
              <a:rPr lang="en-US" altLang="ko-KR" sz="3200" dirty="0"/>
            </a:br>
            <a:endParaRPr lang="ko-KR" altLang="en-US" sz="32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2CE25BA-7ABC-6D79-044E-9DFCD59026B0}"/>
              </a:ext>
            </a:extLst>
          </p:cNvPr>
          <p:cNvSpPr txBox="1">
            <a:spLocks/>
          </p:cNvSpPr>
          <p:nvPr/>
        </p:nvSpPr>
        <p:spPr>
          <a:xfrm>
            <a:off x="6834061" y="1545414"/>
            <a:ext cx="5266499" cy="2640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>
                <a:solidFill>
                  <a:srgbClr val="0070C0"/>
                </a:solidFill>
              </a:rPr>
              <a:t>Method A</a:t>
            </a:r>
            <a:r>
              <a:rPr lang="en-US" altLang="ko-KR" sz="1800" b="1" dirty="0"/>
              <a:t>: Self – consistency problem </a:t>
            </a:r>
          </a:p>
          <a:p>
            <a:r>
              <a:rPr lang="en-US" altLang="ko-KR" sz="1800" b="1" dirty="0">
                <a:solidFill>
                  <a:schemeClr val="accent2"/>
                </a:solidFill>
              </a:rPr>
              <a:t>Method B</a:t>
            </a:r>
            <a:r>
              <a:rPr lang="en-US" altLang="ko-KR" sz="1800" b="1" dirty="0"/>
              <a:t>: Most of the result of analysis number -&gt; usable structure</a:t>
            </a:r>
          </a:p>
          <a:p>
            <a:r>
              <a:rPr lang="en-US" altLang="ko-KR" sz="1800" b="1" dirty="0">
                <a:solidFill>
                  <a:srgbClr val="92D050"/>
                </a:solidFill>
              </a:rPr>
              <a:t>Method C</a:t>
            </a:r>
            <a:r>
              <a:rPr lang="en-US" altLang="ko-KR" sz="1800" b="1" dirty="0"/>
              <a:t>: Relatively high </a:t>
            </a:r>
            <a:r>
              <a:rPr lang="en-US" altLang="ko-KR" sz="1800" b="1" dirty="0" err="1"/>
              <a:t>pLDDT</a:t>
            </a:r>
            <a:r>
              <a:rPr lang="en-US" altLang="ko-KR" sz="1800" b="1" dirty="0"/>
              <a:t> + best result in analysis number</a:t>
            </a:r>
            <a:endParaRPr lang="ko-KR" altLang="en-US" sz="18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6AB0EEF-EAEA-EB35-2FCA-200E4C6BDDF4}"/>
              </a:ext>
            </a:extLst>
          </p:cNvPr>
          <p:cNvSpPr txBox="1">
            <a:spLocks/>
          </p:cNvSpPr>
          <p:nvPr/>
        </p:nvSpPr>
        <p:spPr>
          <a:xfrm>
            <a:off x="7444345" y="4297350"/>
            <a:ext cx="3978443" cy="1211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800" b="1" dirty="0" err="1">
                <a:solidFill>
                  <a:srgbClr val="FF0000"/>
                </a:solidFill>
              </a:rPr>
              <a:t>pLDDT</a:t>
            </a:r>
            <a:r>
              <a:rPr lang="en-US" altLang="ko-KR" sz="1800" b="1" dirty="0">
                <a:solidFill>
                  <a:srgbClr val="FF0000"/>
                </a:solidFill>
              </a:rPr>
              <a:t> is not Super-tool!</a:t>
            </a:r>
          </a:p>
          <a:p>
            <a:pPr marL="0" indent="0" algn="ctr">
              <a:buNone/>
            </a:pPr>
            <a:r>
              <a:rPr lang="en-US" altLang="ko-KR" sz="1800" b="1" dirty="0">
                <a:solidFill>
                  <a:srgbClr val="FF0000"/>
                </a:solidFill>
              </a:rPr>
              <a:t>Cross validation between other factors is necessary!!</a:t>
            </a:r>
            <a:endParaRPr lang="ko-KR" altLang="en-US" sz="1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B88F4-B0C8-A1EC-5385-576C8ED86605}"/>
              </a:ext>
            </a:extLst>
          </p:cNvPr>
          <p:cNvSpPr txBox="1"/>
          <p:nvPr/>
        </p:nvSpPr>
        <p:spPr>
          <a:xfrm>
            <a:off x="7767031" y="5527762"/>
            <a:ext cx="3501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70C0"/>
                </a:solidFill>
              </a:rPr>
              <a:t>Most of method A gets No-go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4BF5E7-E0FC-C84F-A3CF-EC98B80A9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81" y="1345191"/>
            <a:ext cx="6207965" cy="531258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AB140F8-905E-001E-F9EE-5ED04F691A7E}"/>
              </a:ext>
            </a:extLst>
          </p:cNvPr>
          <p:cNvSpPr/>
          <p:nvPr/>
        </p:nvSpPr>
        <p:spPr>
          <a:xfrm>
            <a:off x="748890" y="1485900"/>
            <a:ext cx="2855370" cy="15671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C4323D-1792-EFA3-E35C-43D8F7226E53}"/>
              </a:ext>
            </a:extLst>
          </p:cNvPr>
          <p:cNvSpPr/>
          <p:nvPr/>
        </p:nvSpPr>
        <p:spPr>
          <a:xfrm>
            <a:off x="3877296" y="3680460"/>
            <a:ext cx="2855370" cy="16984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413B63-6E2C-B008-DE05-3927FD877571}"/>
              </a:ext>
            </a:extLst>
          </p:cNvPr>
          <p:cNvSpPr/>
          <p:nvPr/>
        </p:nvSpPr>
        <p:spPr>
          <a:xfrm>
            <a:off x="762000" y="5186680"/>
            <a:ext cx="2835050" cy="131720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4D71EC-2725-B9DA-4A3B-E2FDC94A3791}"/>
              </a:ext>
            </a:extLst>
          </p:cNvPr>
          <p:cNvSpPr/>
          <p:nvPr/>
        </p:nvSpPr>
        <p:spPr>
          <a:xfrm>
            <a:off x="3877296" y="5918200"/>
            <a:ext cx="2835050" cy="58568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074BBE-5296-ECFF-1E91-24C2B5090E7C}"/>
              </a:ext>
            </a:extLst>
          </p:cNvPr>
          <p:cNvSpPr/>
          <p:nvPr/>
        </p:nvSpPr>
        <p:spPr>
          <a:xfrm>
            <a:off x="6834060" y="6168608"/>
            <a:ext cx="904240" cy="33528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26803E-0718-A117-B578-840BDBD67EBA}"/>
              </a:ext>
            </a:extLst>
          </p:cNvPr>
          <p:cNvSpPr txBox="1"/>
          <p:nvPr/>
        </p:nvSpPr>
        <p:spPr>
          <a:xfrm>
            <a:off x="7738300" y="6153388"/>
            <a:ext cx="188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: Dead zone</a:t>
            </a:r>
            <a:endParaRPr lang="ko-KR" altLang="en-US" dirty="0"/>
          </a:p>
        </p:txBody>
      </p:sp>
      <p:sp>
        <p:nvSpPr>
          <p:cNvPr id="15" name="MyPageNum">
            <a:extLst>
              <a:ext uri="{FF2B5EF4-FFF2-40B4-BE49-F238E27FC236}">
                <a16:creationId xmlns:a16="http://schemas.microsoft.com/office/drawing/2014/main" id="{82FDFA6D-FE73-B470-109F-4699C54D6CF9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6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55710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6" grpId="0" animBg="1"/>
      <p:bldP spid="9" grpId="0" animBg="1"/>
      <p:bldP spid="11" grpId="0" animBg="1"/>
      <p:bldP spid="12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6290-D7D6-25CD-DBE4-FB0781F5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CDD47-7A57-FD21-4EDB-2A00217C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1098089" cy="1132258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Result</a:t>
            </a:r>
            <a:r>
              <a:rPr lang="ko-KR" altLang="en-US" sz="3200" dirty="0"/>
              <a:t> </a:t>
            </a:r>
            <a:r>
              <a:rPr lang="en-US" altLang="ko-KR" sz="3200" dirty="0"/>
              <a:t>2</a:t>
            </a:r>
            <a:r>
              <a:rPr lang="ko-KR" altLang="en-US" sz="3200" dirty="0"/>
              <a:t> </a:t>
            </a:r>
            <a:r>
              <a:rPr lang="en-US" altLang="ko-KR" sz="3200" dirty="0"/>
              <a:t>–</a:t>
            </a:r>
            <a:r>
              <a:rPr lang="ko-KR" altLang="en-US" sz="3200" dirty="0"/>
              <a:t> </a:t>
            </a:r>
            <a:r>
              <a:rPr lang="en-US" altLang="ko-KR" sz="3200" dirty="0"/>
              <a:t>Does docking result improved?</a:t>
            </a:r>
            <a:br>
              <a:rPr lang="en-US" altLang="ko-KR" sz="3200" dirty="0"/>
            </a:br>
            <a:endParaRPr lang="ko-KR" altLang="en-US" sz="3200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2135F33-00EB-2C92-F838-4EAB1AE8D088}"/>
              </a:ext>
            </a:extLst>
          </p:cNvPr>
          <p:cNvSpPr txBox="1">
            <a:spLocks/>
          </p:cNvSpPr>
          <p:nvPr/>
        </p:nvSpPr>
        <p:spPr>
          <a:xfrm>
            <a:off x="6678633" y="2857916"/>
            <a:ext cx="4323664" cy="17016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>
                <a:solidFill>
                  <a:srgbClr val="0070C0"/>
                </a:solidFill>
              </a:rPr>
              <a:t>Method A</a:t>
            </a:r>
            <a:r>
              <a:rPr lang="en-US" altLang="ko-KR" sz="2400" b="1" dirty="0"/>
              <a:t>: worst docking result</a:t>
            </a:r>
          </a:p>
          <a:p>
            <a:r>
              <a:rPr lang="en-US" altLang="ko-KR" sz="2400" b="1" dirty="0">
                <a:solidFill>
                  <a:schemeClr val="accent2"/>
                </a:solidFill>
              </a:rPr>
              <a:t>Method B</a:t>
            </a:r>
            <a:r>
              <a:rPr lang="en-US" altLang="ko-KR" sz="2400" b="1" dirty="0"/>
              <a:t>: best docking result</a:t>
            </a:r>
          </a:p>
          <a:p>
            <a:r>
              <a:rPr lang="en-US" altLang="ko-KR" sz="2400" b="1" dirty="0">
                <a:solidFill>
                  <a:srgbClr val="92D050"/>
                </a:solidFill>
              </a:rPr>
              <a:t>Method C</a:t>
            </a:r>
            <a:r>
              <a:rPr lang="en-US" altLang="ko-KR" sz="2400" b="1" dirty="0"/>
              <a:t>: second best docking result</a:t>
            </a:r>
            <a:endParaRPr lang="ko-KR" altLang="en-US" sz="2400" b="1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4A3DA1AB-11D7-DFB1-C2B2-13CF88F4A3FB}"/>
              </a:ext>
            </a:extLst>
          </p:cNvPr>
          <p:cNvSpPr txBox="1">
            <a:spLocks/>
          </p:cNvSpPr>
          <p:nvPr/>
        </p:nvSpPr>
        <p:spPr>
          <a:xfrm>
            <a:off x="8032730" y="3892399"/>
            <a:ext cx="3575579" cy="2581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 b="1" dirty="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9E291362-193F-D1D4-C04A-65C420FC9CF8}"/>
              </a:ext>
            </a:extLst>
          </p:cNvPr>
          <p:cNvSpPr txBox="1">
            <a:spLocks/>
          </p:cNvSpPr>
          <p:nvPr/>
        </p:nvSpPr>
        <p:spPr>
          <a:xfrm>
            <a:off x="6681173" y="4959403"/>
            <a:ext cx="4927136" cy="93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rgbClr val="FF0000"/>
                </a:solidFill>
              </a:rPr>
              <a:t>Not only motif, but also scaffold affect to the docking result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DD2EAA-73BC-AF47-A858-CAE811717087}"/>
              </a:ext>
            </a:extLst>
          </p:cNvPr>
          <p:cNvSpPr/>
          <p:nvPr/>
        </p:nvSpPr>
        <p:spPr>
          <a:xfrm>
            <a:off x="983227" y="3429911"/>
            <a:ext cx="157316" cy="113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240101-F2DD-3EA2-51B6-154FECB8A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4" y="1518274"/>
            <a:ext cx="5695406" cy="4748249"/>
          </a:xfrm>
          <a:prstGeom prst="rect">
            <a:avLst/>
          </a:prstGeom>
        </p:spPr>
      </p:pic>
      <p:sp>
        <p:nvSpPr>
          <p:cNvPr id="11" name="MyPageNum">
            <a:extLst>
              <a:ext uri="{FF2B5EF4-FFF2-40B4-BE49-F238E27FC236}">
                <a16:creationId xmlns:a16="http://schemas.microsoft.com/office/drawing/2014/main" id="{CCC83D06-7EBE-DC04-D17C-E6983DC391ED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7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30851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1A374-214E-DF99-8CEC-C0BF8E11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3211D-D914-7A1F-051D-5D33005E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1098089" cy="11322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3200" dirty="0"/>
              <a:t>Result 3: what is the sample for wet-lab test?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7091DD-3CBA-E558-EF45-83D2D2626B90}"/>
              </a:ext>
            </a:extLst>
          </p:cNvPr>
          <p:cNvSpPr txBox="1">
            <a:spLocks/>
          </p:cNvSpPr>
          <p:nvPr/>
        </p:nvSpPr>
        <p:spPr>
          <a:xfrm>
            <a:off x="2340017" y="5143767"/>
            <a:ext cx="1142094" cy="540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/>
              <a:t>Result</a:t>
            </a:r>
            <a:endParaRPr lang="ko-KR" altLang="en-US" b="1" dirty="0"/>
          </a:p>
        </p:txBody>
      </p:sp>
      <p:sp>
        <p:nvSpPr>
          <p:cNvPr id="12" name="사다리꼴 11">
            <a:extLst>
              <a:ext uri="{FF2B5EF4-FFF2-40B4-BE49-F238E27FC236}">
                <a16:creationId xmlns:a16="http://schemas.microsoft.com/office/drawing/2014/main" id="{FB0F42BD-7166-9A6B-339D-3161D13D7ABC}"/>
              </a:ext>
            </a:extLst>
          </p:cNvPr>
          <p:cNvSpPr/>
          <p:nvPr/>
        </p:nvSpPr>
        <p:spPr>
          <a:xfrm rot="10800000">
            <a:off x="327511" y="2306736"/>
            <a:ext cx="5201264" cy="426631"/>
          </a:xfrm>
          <a:prstGeom prst="trapezoid">
            <a:avLst>
              <a:gd name="adj" fmla="val 63182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021FFA1-D03F-5EBF-92B4-317F0F531221}"/>
              </a:ext>
            </a:extLst>
          </p:cNvPr>
          <p:cNvSpPr txBox="1">
            <a:spLocks/>
          </p:cNvSpPr>
          <p:nvPr/>
        </p:nvSpPr>
        <p:spPr>
          <a:xfrm>
            <a:off x="643698" y="2306630"/>
            <a:ext cx="4568890" cy="540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/>
              <a:t>Structural stability + docking ability</a:t>
            </a:r>
            <a:endParaRPr lang="ko-KR" altLang="en-US" b="1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CD27EE5-2A98-9D8C-7CA6-A611E31B90FC}"/>
              </a:ext>
            </a:extLst>
          </p:cNvPr>
          <p:cNvGrpSpPr/>
          <p:nvPr/>
        </p:nvGrpSpPr>
        <p:grpSpPr>
          <a:xfrm>
            <a:off x="750298" y="2937411"/>
            <a:ext cx="4355690" cy="540774"/>
            <a:chOff x="1317523" y="2888225"/>
            <a:chExt cx="4355690" cy="540774"/>
          </a:xfrm>
        </p:grpSpPr>
        <p:sp>
          <p:nvSpPr>
            <p:cNvPr id="6" name="사다리꼴 5">
              <a:extLst>
                <a:ext uri="{FF2B5EF4-FFF2-40B4-BE49-F238E27FC236}">
                  <a16:creationId xmlns:a16="http://schemas.microsoft.com/office/drawing/2014/main" id="{7A3D38C1-1AD4-03FD-0E99-ACD374C5A4F2}"/>
                </a:ext>
              </a:extLst>
            </p:cNvPr>
            <p:cNvSpPr/>
            <p:nvPr/>
          </p:nvSpPr>
          <p:spPr>
            <a:xfrm rot="10800000">
              <a:off x="1317523" y="2888225"/>
              <a:ext cx="4355690" cy="540774"/>
            </a:xfrm>
            <a:prstGeom prst="trapezoid">
              <a:avLst>
                <a:gd name="adj" fmla="val 6318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D7FEC1-CC52-1F08-30EA-C4B6DC1CBB14}"/>
                </a:ext>
              </a:extLst>
            </p:cNvPr>
            <p:cNvSpPr txBox="1"/>
            <p:nvPr/>
          </p:nvSpPr>
          <p:spPr>
            <a:xfrm>
              <a:off x="1537131" y="2967335"/>
              <a:ext cx="39164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b="1" dirty="0" err="1"/>
                <a:t>Phamaceutical</a:t>
              </a:r>
              <a:r>
                <a:rPr lang="en-US" altLang="ko-KR" sz="2000" b="1" dirty="0"/>
                <a:t> screening </a:t>
              </a:r>
              <a:endParaRPr lang="ko-KR" altLang="en-US" sz="2000" b="1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7788D17-C608-84BF-D3B1-7443CF0676B4}"/>
              </a:ext>
            </a:extLst>
          </p:cNvPr>
          <p:cNvGrpSpPr/>
          <p:nvPr/>
        </p:nvGrpSpPr>
        <p:grpSpPr>
          <a:xfrm>
            <a:off x="969906" y="3724947"/>
            <a:ext cx="3916473" cy="540774"/>
            <a:chOff x="1537131" y="3577174"/>
            <a:chExt cx="3916474" cy="540774"/>
          </a:xfrm>
        </p:grpSpPr>
        <p:sp>
          <p:nvSpPr>
            <p:cNvPr id="7" name="사다리꼴 6">
              <a:extLst>
                <a:ext uri="{FF2B5EF4-FFF2-40B4-BE49-F238E27FC236}">
                  <a16:creationId xmlns:a16="http://schemas.microsoft.com/office/drawing/2014/main" id="{5FBE0B56-15E4-3F83-AE14-152EB10F084A}"/>
                </a:ext>
              </a:extLst>
            </p:cNvPr>
            <p:cNvSpPr/>
            <p:nvPr/>
          </p:nvSpPr>
          <p:spPr>
            <a:xfrm rot="10800000">
              <a:off x="1710814" y="3577174"/>
              <a:ext cx="3569110" cy="540774"/>
            </a:xfrm>
            <a:prstGeom prst="trapezoid">
              <a:avLst>
                <a:gd name="adj" fmla="val 6318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8635DD0-169A-59A6-D74F-4F343CC449C4}"/>
                </a:ext>
              </a:extLst>
            </p:cNvPr>
            <p:cNvSpPr txBox="1"/>
            <p:nvPr/>
          </p:nvSpPr>
          <p:spPr>
            <a:xfrm>
              <a:off x="1537131" y="3627029"/>
              <a:ext cx="39164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b="1" dirty="0"/>
                <a:t>Selectiveness screening</a:t>
              </a:r>
              <a:endParaRPr lang="ko-KR" altLang="en-US" sz="2000" b="1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F876508-FB82-0F27-D6AC-CDDF4BAE0E6B}"/>
              </a:ext>
            </a:extLst>
          </p:cNvPr>
          <p:cNvGrpSpPr/>
          <p:nvPr/>
        </p:nvGrpSpPr>
        <p:grpSpPr>
          <a:xfrm>
            <a:off x="969906" y="4473294"/>
            <a:ext cx="3916474" cy="540774"/>
            <a:chOff x="1537131" y="4315979"/>
            <a:chExt cx="3916474" cy="540774"/>
          </a:xfrm>
        </p:grpSpPr>
        <p:sp>
          <p:nvSpPr>
            <p:cNvPr id="8" name="사다리꼴 7">
              <a:extLst>
                <a:ext uri="{FF2B5EF4-FFF2-40B4-BE49-F238E27FC236}">
                  <a16:creationId xmlns:a16="http://schemas.microsoft.com/office/drawing/2014/main" id="{22F926D6-EE37-74A5-FA65-9D04DC52C7FA}"/>
                </a:ext>
              </a:extLst>
            </p:cNvPr>
            <p:cNvSpPr/>
            <p:nvPr/>
          </p:nvSpPr>
          <p:spPr>
            <a:xfrm rot="10800000">
              <a:off x="2113937" y="4315979"/>
              <a:ext cx="2762864" cy="540774"/>
            </a:xfrm>
            <a:prstGeom prst="trapezoid">
              <a:avLst>
                <a:gd name="adj" fmla="val 6318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114925-9A7C-22DF-B83A-00F921E031F1}"/>
                </a:ext>
              </a:extLst>
            </p:cNvPr>
            <p:cNvSpPr txBox="1"/>
            <p:nvPr/>
          </p:nvSpPr>
          <p:spPr>
            <a:xfrm>
              <a:off x="1537131" y="4386311"/>
              <a:ext cx="39164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b="1" dirty="0"/>
                <a:t>Comparison</a:t>
              </a:r>
              <a:endParaRPr lang="ko-KR" altLang="en-US" sz="2000" b="1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C047998-146C-B010-7602-CDABAD62B906}"/>
              </a:ext>
            </a:extLst>
          </p:cNvPr>
          <p:cNvSpPr txBox="1"/>
          <p:nvPr/>
        </p:nvSpPr>
        <p:spPr>
          <a:xfrm>
            <a:off x="696400" y="1614019"/>
            <a:ext cx="44634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/>
              <a:t>Structure data</a:t>
            </a:r>
            <a:endParaRPr lang="ko-KR" altLang="en-US" sz="28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2C41F-9BC7-B3A5-511B-1ED9B19A3FB1}"/>
              </a:ext>
            </a:extLst>
          </p:cNvPr>
          <p:cNvSpPr txBox="1">
            <a:spLocks/>
          </p:cNvSpPr>
          <p:nvPr/>
        </p:nvSpPr>
        <p:spPr>
          <a:xfrm>
            <a:off x="1071927" y="5876490"/>
            <a:ext cx="3814452" cy="1152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300" b="1" dirty="0"/>
              <a:t>Total: 15 survived</a:t>
            </a:r>
          </a:p>
          <a:p>
            <a:pPr marL="0" indent="0" algn="ctr">
              <a:buNone/>
            </a:pPr>
            <a:r>
              <a:rPr lang="en-US" altLang="ko-KR" sz="1900" b="1" dirty="0"/>
              <a:t>14 from method B, 1 from method C</a:t>
            </a:r>
            <a:endParaRPr lang="ko-KR" altLang="en-US" sz="19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E74054A-2471-9DC4-3FAB-47258151D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676" y="1225762"/>
            <a:ext cx="2326641" cy="2525311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A447067-C429-5B58-1D6A-3933237A59CF}"/>
              </a:ext>
            </a:extLst>
          </p:cNvPr>
          <p:cNvSpPr txBox="1">
            <a:spLocks/>
          </p:cNvSpPr>
          <p:nvPr/>
        </p:nvSpPr>
        <p:spPr>
          <a:xfrm>
            <a:off x="6316131" y="3737891"/>
            <a:ext cx="2228307" cy="463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600" b="1" dirty="0"/>
              <a:t>MethodC_66</a:t>
            </a:r>
            <a:endParaRPr lang="ko-KR" altLang="en-US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BAAB1F-9CA4-B0E1-6BA2-4C0AFDD48388}"/>
              </a:ext>
            </a:extLst>
          </p:cNvPr>
          <p:cNvSpPr txBox="1"/>
          <p:nvPr/>
        </p:nvSpPr>
        <p:spPr>
          <a:xfrm>
            <a:off x="9164191" y="3774542"/>
            <a:ext cx="1903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600" b="1" dirty="0"/>
              <a:t>MethodB_21</a:t>
            </a:r>
            <a:endParaRPr lang="ko-KR" altLang="en-US" sz="1600" b="1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BDA7405A-B87F-D092-9E41-10E4B967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654" y="4206428"/>
            <a:ext cx="1557941" cy="131861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AAD49DB-5A6F-66A4-7D85-5613F5FEE73E}"/>
              </a:ext>
            </a:extLst>
          </p:cNvPr>
          <p:cNvSpPr txBox="1"/>
          <p:nvPr/>
        </p:nvSpPr>
        <p:spPr>
          <a:xfrm>
            <a:off x="6339052" y="5561363"/>
            <a:ext cx="15035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MethodB_24 </a:t>
            </a:r>
            <a:endParaRPr lang="ko-KR" altLang="en-US" sz="16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77903BF3-A2BF-F2A8-B2D9-07289B48A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388" y="1135795"/>
            <a:ext cx="2655745" cy="263900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74DCF8E8-05EC-CB94-F8AD-17A67D374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488" y="4174912"/>
            <a:ext cx="1208922" cy="131861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8D10D3C-8069-68BB-4F9D-487C4F028489}"/>
              </a:ext>
            </a:extLst>
          </p:cNvPr>
          <p:cNvSpPr txBox="1"/>
          <p:nvPr/>
        </p:nvSpPr>
        <p:spPr>
          <a:xfrm>
            <a:off x="8130210" y="5555600"/>
            <a:ext cx="1652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600" b="1" dirty="0"/>
              <a:t>MethodB_19</a:t>
            </a:r>
            <a:endParaRPr lang="ko-KR" altLang="en-US" sz="1600" b="1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8D4BA81-9AEB-DFDC-9D62-0CF827A805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966" y="4264754"/>
            <a:ext cx="1414702" cy="122877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89320D3-03A2-050A-635F-B7DA97A2FE8C}"/>
              </a:ext>
            </a:extLst>
          </p:cNvPr>
          <p:cNvSpPr txBox="1"/>
          <p:nvPr/>
        </p:nvSpPr>
        <p:spPr>
          <a:xfrm>
            <a:off x="10124895" y="5549556"/>
            <a:ext cx="16448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1600" b="1" dirty="0"/>
              <a:t>MethodB_33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4A4991-587C-2FC4-3CBC-B72C5D2A98C9}"/>
              </a:ext>
            </a:extLst>
          </p:cNvPr>
          <p:cNvSpPr txBox="1"/>
          <p:nvPr/>
        </p:nvSpPr>
        <p:spPr>
          <a:xfrm>
            <a:off x="7781011" y="6120016"/>
            <a:ext cx="2351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Best 5 from the list</a:t>
            </a:r>
            <a:endParaRPr lang="ko-KR" altLang="en-US" sz="1600" dirty="0"/>
          </a:p>
        </p:txBody>
      </p:sp>
      <p:sp>
        <p:nvSpPr>
          <p:cNvPr id="4" name="왼쪽 중괄호 3">
            <a:extLst>
              <a:ext uri="{FF2B5EF4-FFF2-40B4-BE49-F238E27FC236}">
                <a16:creationId xmlns:a16="http://schemas.microsoft.com/office/drawing/2014/main" id="{7941AAA0-D300-7F14-36D0-D75D41C5D746}"/>
              </a:ext>
            </a:extLst>
          </p:cNvPr>
          <p:cNvSpPr/>
          <p:nvPr/>
        </p:nvSpPr>
        <p:spPr>
          <a:xfrm>
            <a:off x="5751032" y="1481721"/>
            <a:ext cx="510446" cy="453870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84AEB1-6060-2D7D-901B-8B68E78B01D9}"/>
              </a:ext>
            </a:extLst>
          </p:cNvPr>
          <p:cNvSpPr/>
          <p:nvPr/>
        </p:nvSpPr>
        <p:spPr>
          <a:xfrm>
            <a:off x="327511" y="1614018"/>
            <a:ext cx="5296064" cy="40705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MyPageNum">
            <a:extLst>
              <a:ext uri="{FF2B5EF4-FFF2-40B4-BE49-F238E27FC236}">
                <a16:creationId xmlns:a16="http://schemas.microsoft.com/office/drawing/2014/main" id="{8423C8E7-8390-1677-1D3D-3FF40A120F7F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8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323164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2471-B74A-05E8-AF36-0530AC59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3D772-BBBD-EEF7-2230-A3BB41EA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1098089" cy="1132258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Conclusion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027D2-A604-FCF7-8596-B5E3ACFAADCB}"/>
              </a:ext>
            </a:extLst>
          </p:cNvPr>
          <p:cNvSpPr txBox="1"/>
          <p:nvPr/>
        </p:nvSpPr>
        <p:spPr>
          <a:xfrm>
            <a:off x="612647" y="1383960"/>
            <a:ext cx="108173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Using method B (motif from Genzyme, stability from RFdiffusion3) works better than original version of those (in docking (best), stability (maintain certain criteria))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 err="1"/>
              <a:t>pLDDT</a:t>
            </a:r>
            <a:r>
              <a:rPr lang="en-US" altLang="ko-KR" sz="2400" b="1" dirty="0"/>
              <a:t> couldn’t be the all-round index for measuring protein quality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For check the result is real, wet-lab is essential in in-silico designation process</a:t>
            </a:r>
          </a:p>
        </p:txBody>
      </p:sp>
      <p:sp>
        <p:nvSpPr>
          <p:cNvPr id="4" name="MyPageNum">
            <a:extLst>
              <a:ext uri="{FF2B5EF4-FFF2-40B4-BE49-F238E27FC236}">
                <a16:creationId xmlns:a16="http://schemas.microsoft.com/office/drawing/2014/main" id="{04F71684-3DD5-E10D-49DC-8D7FA91AFC55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9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60362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E64D3-C448-F27D-17FC-021C5565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185756B9-FC21-CCB0-B22A-8F4CCC09BBE6}"/>
              </a:ext>
            </a:extLst>
          </p:cNvPr>
          <p:cNvSpPr txBox="1">
            <a:spLocks/>
          </p:cNvSpPr>
          <p:nvPr/>
        </p:nvSpPr>
        <p:spPr>
          <a:xfrm>
            <a:off x="612647" y="592696"/>
            <a:ext cx="11098089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3200" dirty="0"/>
              <a:t>Other interesting points?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D6767-A6BE-226A-F850-6F2D2CDD15FA}"/>
              </a:ext>
            </a:extLst>
          </p:cNvPr>
          <p:cNvSpPr txBox="1"/>
          <p:nvPr/>
        </p:nvSpPr>
        <p:spPr>
          <a:xfrm>
            <a:off x="612647" y="1724954"/>
            <a:ext cx="1042960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Is any index can represent the completeness of protein (enzyme) as </a:t>
            </a:r>
            <a:r>
              <a:rPr lang="en-US" altLang="ko-KR" sz="2400" b="1" dirty="0" err="1"/>
              <a:t>supertool</a:t>
            </a:r>
            <a:r>
              <a:rPr lang="en-US" altLang="ko-KR" sz="2400" b="1" dirty="0"/>
              <a:t>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Can it be applied to the complete De novo designed molecules?</a:t>
            </a:r>
          </a:p>
          <a:p>
            <a:pPr lvl="1"/>
            <a:endParaRPr lang="en-US" altLang="ko-KR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400" b="1" dirty="0"/>
              <a:t>Is any tools for enzyme releasing the product?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Calculating structure conformation after the reaction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Preparing the space for product to leaving the pocket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Intending steric hinderance/chemical repel after reaction</a:t>
            </a:r>
          </a:p>
        </p:txBody>
      </p:sp>
      <p:sp>
        <p:nvSpPr>
          <p:cNvPr id="7" name="MyPageNum">
            <a:extLst>
              <a:ext uri="{FF2B5EF4-FFF2-40B4-BE49-F238E27FC236}">
                <a16:creationId xmlns:a16="http://schemas.microsoft.com/office/drawing/2014/main" id="{D31B236E-4D5A-4EC4-EFA1-D58068168F57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10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77207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4F4E-B927-A6D3-C6EB-2D918223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82AF6-538C-C419-C9E9-BB3416DC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FC758-5F81-F639-B8E0-FBA052B6ACA5}"/>
              </a:ext>
            </a:extLst>
          </p:cNvPr>
          <p:cNvSpPr txBox="1"/>
          <p:nvPr/>
        </p:nvSpPr>
        <p:spPr>
          <a:xfrm>
            <a:off x="612648" y="1265679"/>
            <a:ext cx="1065357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 err="1"/>
              <a:t>Albert</a:t>
            </a:r>
            <a:r>
              <a:rPr lang="ko-KR" altLang="en-US" sz="900" dirty="0"/>
              <a:t>, </a:t>
            </a:r>
            <a:r>
              <a:rPr lang="ko-KR" altLang="en-US" sz="900" dirty="0" err="1"/>
              <a:t>B</a:t>
            </a:r>
            <a:r>
              <a:rPr lang="ko-KR" altLang="en-US" sz="900" dirty="0"/>
              <a:t>.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Yang</a:t>
            </a:r>
            <a:r>
              <a:rPr lang="ko-KR" altLang="en-US" sz="900" dirty="0"/>
              <a:t>, </a:t>
            </a:r>
            <a:r>
              <a:rPr lang="ko-KR" altLang="en-US" sz="900" dirty="0" err="1"/>
              <a:t>Y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Shao</a:t>
            </a:r>
            <a:r>
              <a:rPr lang="ko-KR" altLang="en-US" sz="900" dirty="0"/>
              <a:t>, </a:t>
            </a:r>
            <a:r>
              <a:rPr lang="ko-KR" altLang="en-US" sz="900" dirty="0" err="1"/>
              <a:t>X</a:t>
            </a:r>
            <a:r>
              <a:rPr lang="ko-KR" altLang="en-US" sz="900" dirty="0"/>
              <a:t>.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Singh</a:t>
            </a:r>
            <a:r>
              <a:rPr lang="ko-KR" altLang="en-US" sz="900" dirty="0"/>
              <a:t>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Smyth</a:t>
            </a:r>
            <a:r>
              <a:rPr lang="ko-KR" altLang="en-US" sz="900" dirty="0"/>
              <a:t>, K.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Sivak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Karchin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Karchin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 (2023). </a:t>
            </a:r>
            <a:r>
              <a:rPr lang="ko-KR" altLang="en-US" sz="900" dirty="0" err="1"/>
              <a:t>Deep</a:t>
            </a:r>
            <a:r>
              <a:rPr lang="ko-KR" altLang="en-US" sz="900" dirty="0"/>
              <a:t> </a:t>
            </a:r>
            <a:r>
              <a:rPr lang="ko-KR" altLang="en-US" sz="900" dirty="0" err="1"/>
              <a:t>neural</a:t>
            </a:r>
            <a:r>
              <a:rPr lang="ko-KR" altLang="en-US" sz="900" dirty="0"/>
              <a:t> </a:t>
            </a:r>
            <a:r>
              <a:rPr lang="ko-KR" altLang="en-US" sz="900" dirty="0" err="1"/>
              <a:t>networks</a:t>
            </a:r>
            <a:r>
              <a:rPr lang="ko-KR" altLang="en-US" sz="900" dirty="0"/>
              <a:t> </a:t>
            </a:r>
            <a:r>
              <a:rPr lang="ko-KR" altLang="en-US" sz="900" dirty="0" err="1"/>
              <a:t>predict</a:t>
            </a:r>
            <a:r>
              <a:rPr lang="ko-KR" altLang="en-US" sz="900" dirty="0"/>
              <a:t> </a:t>
            </a:r>
            <a:r>
              <a:rPr lang="ko-KR" altLang="en-US" sz="900" dirty="0" err="1"/>
              <a:t>class</a:t>
            </a:r>
            <a:r>
              <a:rPr lang="ko-KR" altLang="en-US" sz="900" dirty="0"/>
              <a:t> </a:t>
            </a:r>
            <a:r>
              <a:rPr lang="ko-KR" altLang="en-US" sz="900" dirty="0" err="1"/>
              <a:t>I</a:t>
            </a:r>
            <a:r>
              <a:rPr lang="ko-KR" altLang="en-US" sz="900" dirty="0"/>
              <a:t> </a:t>
            </a:r>
            <a:r>
              <a:rPr lang="ko-KR" altLang="en-US" sz="900" dirty="0" err="1"/>
              <a:t>major</a:t>
            </a:r>
            <a:r>
              <a:rPr lang="ko-KR" altLang="en-US" sz="900" dirty="0"/>
              <a:t> </a:t>
            </a:r>
            <a:r>
              <a:rPr lang="ko-KR" altLang="en-US" sz="900" dirty="0" err="1"/>
              <a:t>histocompatibility</a:t>
            </a:r>
            <a:r>
              <a:rPr lang="ko-KR" altLang="en-US" sz="900" dirty="0"/>
              <a:t> </a:t>
            </a:r>
            <a:r>
              <a:rPr lang="ko-KR" altLang="en-US" sz="900" dirty="0" err="1"/>
              <a:t>complex</a:t>
            </a:r>
            <a:r>
              <a:rPr lang="ko-KR" altLang="en-US" sz="900" dirty="0"/>
              <a:t> </a:t>
            </a:r>
            <a:r>
              <a:rPr lang="ko-KR" altLang="en-US" sz="900" dirty="0" err="1"/>
              <a:t>epitope</a:t>
            </a:r>
            <a:r>
              <a:rPr lang="ko-KR" altLang="en-US" sz="900" dirty="0"/>
              <a:t> </a:t>
            </a:r>
            <a:r>
              <a:rPr lang="ko-KR" altLang="en-US" sz="900" dirty="0" err="1"/>
              <a:t>presentation</a:t>
            </a:r>
            <a:r>
              <a:rPr lang="ko-KR" altLang="en-US" sz="900" dirty="0"/>
              <a:t> and </a:t>
            </a:r>
            <a:r>
              <a:rPr lang="ko-KR" altLang="en-US" sz="900" dirty="0" err="1"/>
              <a:t>transfer</a:t>
            </a:r>
            <a:r>
              <a:rPr lang="ko-KR" altLang="en-US" sz="900" dirty="0"/>
              <a:t> </a:t>
            </a:r>
            <a:r>
              <a:rPr lang="ko-KR" altLang="en-US" sz="900" dirty="0" err="1"/>
              <a:t>learn</a:t>
            </a:r>
            <a:r>
              <a:rPr lang="ko-KR" altLang="en-US" sz="900" dirty="0"/>
              <a:t> </a:t>
            </a:r>
            <a:r>
              <a:rPr lang="ko-KR" altLang="en-US" sz="900" dirty="0" err="1"/>
              <a:t>neoepitope</a:t>
            </a:r>
            <a:r>
              <a:rPr lang="ko-KR" altLang="en-US" sz="900" dirty="0"/>
              <a:t> </a:t>
            </a:r>
            <a:r>
              <a:rPr lang="ko-KR" altLang="en-US" sz="900" dirty="0" err="1"/>
              <a:t>immunogenicity</a:t>
            </a:r>
            <a:r>
              <a:rPr lang="ko-KR" altLang="en-US" sz="900" dirty="0"/>
              <a:t>. *</a:t>
            </a:r>
            <a:r>
              <a:rPr lang="ko-KR" altLang="en-US" sz="900" dirty="0" err="1"/>
              <a:t>Nature</a:t>
            </a:r>
            <a:r>
              <a:rPr lang="ko-KR" altLang="en-US" sz="900" dirty="0"/>
              <a:t> </a:t>
            </a:r>
            <a:r>
              <a:rPr lang="ko-KR" altLang="en-US" sz="900" dirty="0" err="1"/>
              <a:t>Machine</a:t>
            </a:r>
            <a:r>
              <a:rPr lang="ko-KR" altLang="en-US" sz="900" dirty="0"/>
              <a:t> </a:t>
            </a:r>
            <a:r>
              <a:rPr lang="ko-KR" altLang="en-US" sz="900" dirty="0" err="1"/>
              <a:t>Intelligence</a:t>
            </a:r>
            <a:r>
              <a:rPr lang="ko-KR" altLang="en-US" sz="900" dirty="0"/>
              <a:t>*, *5*(8), 861–872. https://doi.org/10.1038/s42256-023-00694-6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Butcher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Krishna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et</a:t>
            </a:r>
            <a:r>
              <a:rPr lang="ko-KR" altLang="en-US" sz="900" dirty="0"/>
              <a:t> </a:t>
            </a:r>
            <a:r>
              <a:rPr lang="ko-KR" altLang="en-US" sz="900" dirty="0" err="1"/>
              <a:t>al</a:t>
            </a:r>
            <a:r>
              <a:rPr lang="ko-KR" altLang="en-US" sz="900" dirty="0"/>
              <a:t>. (2025). </a:t>
            </a:r>
            <a:r>
              <a:rPr lang="ko-KR" altLang="en-US" sz="900" dirty="0" err="1"/>
              <a:t>De</a:t>
            </a:r>
            <a:r>
              <a:rPr lang="ko-KR" altLang="en-US" sz="900" dirty="0"/>
              <a:t> </a:t>
            </a:r>
            <a:r>
              <a:rPr lang="ko-KR" altLang="en-US" sz="900" dirty="0" err="1"/>
              <a:t>novo</a:t>
            </a:r>
            <a:r>
              <a:rPr lang="ko-KR" altLang="en-US" sz="900" dirty="0"/>
              <a:t> </a:t>
            </a:r>
            <a:r>
              <a:rPr lang="ko-KR" altLang="en-US" sz="900" dirty="0" err="1"/>
              <a:t>design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all-atom</a:t>
            </a:r>
            <a:r>
              <a:rPr lang="ko-KR" altLang="en-US" sz="900" dirty="0"/>
              <a:t> </a:t>
            </a:r>
            <a:r>
              <a:rPr lang="ko-KR" altLang="en-US" sz="900" dirty="0" err="1"/>
              <a:t>biomolecular</a:t>
            </a:r>
            <a:r>
              <a:rPr lang="ko-KR" altLang="en-US" sz="900" dirty="0"/>
              <a:t> </a:t>
            </a:r>
            <a:r>
              <a:rPr lang="ko-KR" altLang="en-US" sz="900" dirty="0" err="1"/>
              <a:t>interactions</a:t>
            </a:r>
            <a:r>
              <a:rPr lang="ko-KR" altLang="en-US" sz="900" dirty="0"/>
              <a:t> </a:t>
            </a:r>
            <a:r>
              <a:rPr lang="ko-KR" altLang="en-US" sz="900" dirty="0" err="1"/>
              <a:t>with</a:t>
            </a:r>
            <a:r>
              <a:rPr lang="ko-KR" altLang="en-US" sz="900" dirty="0"/>
              <a:t> RFdiffusion3. *</a:t>
            </a:r>
            <a:r>
              <a:rPr lang="ko-KR" altLang="en-US" sz="900" dirty="0" err="1"/>
              <a:t>bioRxiv</a:t>
            </a:r>
            <a:r>
              <a:rPr lang="ko-KR" altLang="en-US" sz="900" dirty="0"/>
              <a:t>*. https://doi.org/10.1101/2025.09.18.676967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Chen</a:t>
            </a:r>
            <a:r>
              <a:rPr lang="ko-KR" altLang="en-US" sz="900" dirty="0"/>
              <a:t>, </a:t>
            </a:r>
            <a:r>
              <a:rPr lang="ko-KR" altLang="en-US" sz="900" dirty="0" err="1"/>
              <a:t>V</a:t>
            </a:r>
            <a:r>
              <a:rPr lang="ko-KR" altLang="en-US" sz="900" dirty="0"/>
              <a:t>. </a:t>
            </a:r>
            <a:r>
              <a:rPr lang="ko-KR" altLang="en-US" sz="900" dirty="0" err="1"/>
              <a:t>B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Arendall</a:t>
            </a:r>
            <a:r>
              <a:rPr lang="ko-KR" altLang="en-US" sz="900" dirty="0"/>
              <a:t>, </a:t>
            </a:r>
            <a:r>
              <a:rPr lang="ko-KR" altLang="en-US" sz="900" dirty="0" err="1"/>
              <a:t>W</a:t>
            </a:r>
            <a:r>
              <a:rPr lang="ko-KR" altLang="en-US" sz="900" dirty="0"/>
              <a:t>. </a:t>
            </a:r>
            <a:r>
              <a:rPr lang="ko-KR" altLang="en-US" sz="900" dirty="0" err="1"/>
              <a:t>B</a:t>
            </a:r>
            <a:r>
              <a:rPr lang="ko-KR" altLang="en-US" sz="900" dirty="0"/>
              <a:t>., III, </a:t>
            </a:r>
            <a:r>
              <a:rPr lang="ko-KR" altLang="en-US" sz="900" dirty="0" err="1"/>
              <a:t>Headd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Keedy</a:t>
            </a:r>
            <a:r>
              <a:rPr lang="ko-KR" altLang="en-US" sz="900" dirty="0"/>
              <a:t>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Immormino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Kapral</a:t>
            </a:r>
            <a:r>
              <a:rPr lang="ko-KR" altLang="en-US" sz="900" dirty="0"/>
              <a:t>, </a:t>
            </a:r>
            <a:r>
              <a:rPr lang="ko-KR" altLang="en-US" sz="900" dirty="0" err="1"/>
              <a:t>G</a:t>
            </a:r>
            <a:r>
              <a:rPr lang="ko-KR" altLang="en-US" sz="900" dirty="0"/>
              <a:t>.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Murray</a:t>
            </a:r>
            <a:r>
              <a:rPr lang="ko-KR" altLang="en-US" sz="900" dirty="0"/>
              <a:t>, </a:t>
            </a:r>
            <a:r>
              <a:rPr lang="ko-KR" altLang="en-US" sz="900" dirty="0" err="1"/>
              <a:t>L</a:t>
            </a:r>
            <a:r>
              <a:rPr lang="ko-KR" altLang="en-US" sz="900" dirty="0"/>
              <a:t>. </a:t>
            </a:r>
            <a:r>
              <a:rPr lang="ko-KR" altLang="en-US" sz="900" dirty="0" err="1"/>
              <a:t>W</a:t>
            </a:r>
            <a:r>
              <a:rPr lang="ko-KR" altLang="en-US" sz="900" dirty="0"/>
              <a:t>., </a:t>
            </a:r>
            <a:r>
              <a:rPr lang="ko-KR" altLang="en-US" sz="900" dirty="0" err="1"/>
              <a:t>Richardson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Richardson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 C. (2010). </a:t>
            </a:r>
            <a:r>
              <a:rPr lang="ko-KR" altLang="en-US" sz="900" dirty="0" err="1"/>
              <a:t>MolProbity</a:t>
            </a:r>
            <a:r>
              <a:rPr lang="ko-KR" altLang="en-US" sz="900" dirty="0"/>
              <a:t>: All-</a:t>
            </a:r>
            <a:r>
              <a:rPr lang="ko-KR" altLang="en-US" sz="900" dirty="0" err="1"/>
              <a:t>atom</a:t>
            </a:r>
            <a:r>
              <a:rPr lang="ko-KR" altLang="en-US" sz="900" dirty="0"/>
              <a:t> </a:t>
            </a:r>
            <a:r>
              <a:rPr lang="ko-KR" altLang="en-US" sz="900" dirty="0" err="1"/>
              <a:t>structure</a:t>
            </a:r>
            <a:r>
              <a:rPr lang="ko-KR" altLang="en-US" sz="900" dirty="0"/>
              <a:t> </a:t>
            </a:r>
            <a:r>
              <a:rPr lang="ko-KR" altLang="en-US" sz="900" dirty="0" err="1"/>
              <a:t>validation</a:t>
            </a:r>
            <a:r>
              <a:rPr lang="ko-KR" altLang="en-US" sz="900" dirty="0"/>
              <a:t> </a:t>
            </a:r>
            <a:r>
              <a:rPr lang="ko-KR" altLang="en-US" sz="900" dirty="0" err="1"/>
              <a:t>for</a:t>
            </a:r>
            <a:r>
              <a:rPr lang="ko-KR" altLang="en-US" sz="900" dirty="0"/>
              <a:t> </a:t>
            </a:r>
            <a:r>
              <a:rPr lang="ko-KR" altLang="en-US" sz="900" dirty="0" err="1"/>
              <a:t>macromolecular</a:t>
            </a:r>
            <a:r>
              <a:rPr lang="ko-KR" altLang="en-US" sz="900" dirty="0"/>
              <a:t> </a:t>
            </a:r>
            <a:r>
              <a:rPr lang="ko-KR" altLang="en-US" sz="900" dirty="0" err="1"/>
              <a:t>crystallography</a:t>
            </a:r>
            <a:r>
              <a:rPr lang="ko-KR" altLang="en-US" sz="900" dirty="0"/>
              <a:t>. *</a:t>
            </a:r>
            <a:r>
              <a:rPr lang="ko-KR" altLang="en-US" sz="900" dirty="0" err="1"/>
              <a:t>Acta</a:t>
            </a:r>
            <a:r>
              <a:rPr lang="ko-KR" altLang="en-US" sz="900" dirty="0"/>
              <a:t> </a:t>
            </a:r>
            <a:r>
              <a:rPr lang="ko-KR" altLang="en-US" sz="900" dirty="0" err="1"/>
              <a:t>Crystallographica</a:t>
            </a:r>
            <a:r>
              <a:rPr lang="ko-KR" altLang="en-US" sz="900" dirty="0"/>
              <a:t> </a:t>
            </a:r>
            <a:r>
              <a:rPr lang="ko-KR" altLang="en-US" sz="900" dirty="0" err="1"/>
              <a:t>Section</a:t>
            </a:r>
            <a:r>
              <a:rPr lang="ko-KR" altLang="en-US" sz="900" dirty="0"/>
              <a:t> D: </a:t>
            </a:r>
            <a:r>
              <a:rPr lang="ko-KR" altLang="en-US" sz="900" dirty="0" err="1"/>
              <a:t>Biological</a:t>
            </a:r>
            <a:r>
              <a:rPr lang="ko-KR" altLang="en-US" sz="900" dirty="0"/>
              <a:t> </a:t>
            </a:r>
            <a:r>
              <a:rPr lang="ko-KR" altLang="en-US" sz="900" dirty="0" err="1"/>
              <a:t>Crystallography</a:t>
            </a:r>
            <a:r>
              <a:rPr lang="ko-KR" altLang="en-US" sz="900" dirty="0"/>
              <a:t>*, *66*(1), 12–21. https://doi.org/10.1107/S0907444909042073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Dauparas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Lee, </a:t>
            </a:r>
            <a:r>
              <a:rPr lang="ko-KR" altLang="en-US" sz="900" dirty="0" err="1"/>
              <a:t>G</a:t>
            </a:r>
            <a:r>
              <a:rPr lang="ko-KR" altLang="en-US" sz="900" dirty="0"/>
              <a:t>.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Pecoraro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L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Anishchenko</a:t>
            </a:r>
            <a:r>
              <a:rPr lang="ko-KR" altLang="en-US" sz="900" dirty="0"/>
              <a:t>, </a:t>
            </a:r>
            <a:r>
              <a:rPr lang="ko-KR" altLang="en-US" sz="900" dirty="0" err="1"/>
              <a:t>I</a:t>
            </a:r>
            <a:r>
              <a:rPr lang="ko-KR" altLang="en-US" sz="900" dirty="0"/>
              <a:t>., </a:t>
            </a:r>
            <a:r>
              <a:rPr lang="ko-KR" altLang="en-US" sz="900" dirty="0" err="1"/>
              <a:t>Glasscock</a:t>
            </a:r>
            <a:r>
              <a:rPr lang="ko-KR" altLang="en-US" sz="900" dirty="0"/>
              <a:t>, C., &amp; Baker,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 (2023). </a:t>
            </a:r>
            <a:r>
              <a:rPr lang="ko-KR" altLang="en-US" sz="900" dirty="0" err="1"/>
              <a:t>Atomic</a:t>
            </a:r>
            <a:r>
              <a:rPr lang="ko-KR" altLang="en-US" sz="900" dirty="0"/>
              <a:t> </a:t>
            </a:r>
            <a:r>
              <a:rPr lang="ko-KR" altLang="en-US" sz="900" dirty="0" err="1"/>
              <a:t>context-conditioned</a:t>
            </a:r>
            <a:r>
              <a:rPr lang="ko-KR" altLang="en-US" sz="900" dirty="0"/>
              <a:t> </a:t>
            </a:r>
            <a:r>
              <a:rPr lang="ko-KR" altLang="en-US" sz="900" dirty="0" err="1"/>
              <a:t>protein</a:t>
            </a:r>
            <a:r>
              <a:rPr lang="ko-KR" altLang="en-US" sz="900" dirty="0"/>
              <a:t> </a:t>
            </a:r>
            <a:r>
              <a:rPr lang="ko-KR" altLang="en-US" sz="900" dirty="0" err="1"/>
              <a:t>sequence</a:t>
            </a:r>
            <a:r>
              <a:rPr lang="ko-KR" altLang="en-US" sz="900" dirty="0"/>
              <a:t> </a:t>
            </a:r>
            <a:r>
              <a:rPr lang="ko-KR" altLang="en-US" sz="900" dirty="0" err="1"/>
              <a:t>design</a:t>
            </a:r>
            <a:r>
              <a:rPr lang="ko-KR" altLang="en-US" sz="900" dirty="0"/>
              <a:t> </a:t>
            </a:r>
            <a:r>
              <a:rPr lang="ko-KR" altLang="en-US" sz="900" dirty="0" err="1"/>
              <a:t>using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LigandMPNN</a:t>
            </a:r>
            <a:r>
              <a:rPr lang="ko-KR" altLang="en-US" sz="900" dirty="0"/>
              <a:t>. *</a:t>
            </a:r>
            <a:r>
              <a:rPr lang="ko-KR" altLang="en-US" sz="900" dirty="0" err="1"/>
              <a:t>bioRxiv</a:t>
            </a:r>
            <a:r>
              <a:rPr lang="ko-KR" altLang="en-US" sz="900" dirty="0"/>
              <a:t>*. https://doi.org/10.1101/2023.12.22.573103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Hayes</a:t>
            </a:r>
            <a:r>
              <a:rPr lang="ko-KR" altLang="en-US" sz="900" dirty="0"/>
              <a:t>, </a:t>
            </a:r>
            <a:r>
              <a:rPr lang="ko-KR" altLang="en-US" sz="900" dirty="0" err="1"/>
              <a:t>T</a:t>
            </a:r>
            <a:r>
              <a:rPr lang="ko-KR" altLang="en-US" sz="900" dirty="0"/>
              <a:t>., </a:t>
            </a:r>
            <a:r>
              <a:rPr lang="ko-KR" altLang="en-US" sz="900" dirty="0" err="1"/>
              <a:t>Rao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Akin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H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Sofroniew</a:t>
            </a:r>
            <a:r>
              <a:rPr lang="ko-KR" altLang="en-US" sz="900" dirty="0"/>
              <a:t>, </a:t>
            </a:r>
            <a:r>
              <a:rPr lang="ko-KR" altLang="en-US" sz="900" dirty="0" err="1"/>
              <a:t>N</a:t>
            </a:r>
            <a:r>
              <a:rPr lang="ko-KR" altLang="en-US" sz="900" dirty="0"/>
              <a:t>.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Oktay</a:t>
            </a:r>
            <a:r>
              <a:rPr lang="ko-KR" altLang="en-US" sz="900" dirty="0"/>
              <a:t>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., </a:t>
            </a:r>
            <a:r>
              <a:rPr lang="ko-KR" altLang="en-US" sz="900" dirty="0" err="1"/>
              <a:t>Lin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Z</a:t>
            </a:r>
            <a:r>
              <a:rPr lang="ko-KR" altLang="en-US" sz="900" dirty="0"/>
              <a:t>., </a:t>
            </a:r>
            <a:r>
              <a:rPr lang="ko-KR" altLang="en-US" sz="900" dirty="0" err="1"/>
              <a:t>Verkuil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Tran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V</a:t>
            </a:r>
            <a:r>
              <a:rPr lang="ko-KR" altLang="en-US" sz="900" dirty="0"/>
              <a:t>. </a:t>
            </a:r>
            <a:r>
              <a:rPr lang="ko-KR" altLang="en-US" sz="900" dirty="0" err="1"/>
              <a:t>Q</a:t>
            </a:r>
            <a:r>
              <a:rPr lang="ko-KR" altLang="en-US" sz="900" dirty="0"/>
              <a:t>., </a:t>
            </a:r>
            <a:r>
              <a:rPr lang="ko-KR" altLang="en-US" sz="900" dirty="0" err="1"/>
              <a:t>Deaton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Wiber</a:t>
            </a:r>
            <a:r>
              <a:rPr lang="ko-KR" altLang="en-US" sz="900" dirty="0"/>
              <a:t>,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Anand</a:t>
            </a:r>
            <a:r>
              <a:rPr lang="ko-KR" altLang="en-US" sz="900" dirty="0"/>
              <a:t>, </a:t>
            </a:r>
            <a:r>
              <a:rPr lang="ko-KR" altLang="en-US" sz="900" dirty="0" err="1"/>
              <a:t>N</a:t>
            </a:r>
            <a:r>
              <a:rPr lang="ko-KR" altLang="en-US" sz="900" dirty="0"/>
              <a:t>., </a:t>
            </a:r>
            <a:r>
              <a:rPr lang="ko-KR" altLang="en-US" sz="900" dirty="0" err="1"/>
              <a:t>Puhringer</a:t>
            </a:r>
            <a:r>
              <a:rPr lang="ko-KR" altLang="en-US" sz="900" dirty="0"/>
              <a:t>,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Patra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Liu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</a:t>
            </a:r>
            <a:r>
              <a:rPr lang="ko-KR" altLang="en-US" sz="900" dirty="0" err="1"/>
              <a:t>Canny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Rives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 (2024). </a:t>
            </a:r>
            <a:r>
              <a:rPr lang="ko-KR" altLang="en-US" sz="900" dirty="0" err="1"/>
              <a:t>Simulating</a:t>
            </a:r>
            <a:r>
              <a:rPr lang="ko-KR" altLang="en-US" sz="900" dirty="0"/>
              <a:t> 500 </a:t>
            </a:r>
            <a:r>
              <a:rPr lang="ko-KR" altLang="en-US" sz="900" dirty="0" err="1"/>
              <a:t>million</a:t>
            </a:r>
            <a:r>
              <a:rPr lang="ko-KR" altLang="en-US" sz="900" dirty="0"/>
              <a:t> </a:t>
            </a:r>
            <a:r>
              <a:rPr lang="ko-KR" altLang="en-US" sz="900" dirty="0" err="1"/>
              <a:t>years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evolution</a:t>
            </a:r>
            <a:r>
              <a:rPr lang="ko-KR" altLang="en-US" sz="900" dirty="0"/>
              <a:t> </a:t>
            </a:r>
            <a:r>
              <a:rPr lang="ko-KR" altLang="en-US" sz="900" dirty="0" err="1"/>
              <a:t>with</a:t>
            </a:r>
            <a:r>
              <a:rPr lang="ko-KR" altLang="en-US" sz="900" dirty="0"/>
              <a:t> </a:t>
            </a:r>
            <a:r>
              <a:rPr lang="ko-KR" altLang="en-US" sz="900" dirty="0" err="1"/>
              <a:t>a</a:t>
            </a:r>
            <a:r>
              <a:rPr lang="ko-KR" altLang="en-US" sz="900" dirty="0"/>
              <a:t> </a:t>
            </a:r>
            <a:r>
              <a:rPr lang="ko-KR" altLang="en-US" sz="900" dirty="0" err="1"/>
              <a:t>language</a:t>
            </a:r>
            <a:r>
              <a:rPr lang="ko-KR" altLang="en-US" sz="900" dirty="0"/>
              <a:t> </a:t>
            </a:r>
            <a:r>
              <a:rPr lang="ko-KR" altLang="en-US" sz="900" dirty="0" err="1"/>
              <a:t>model</a:t>
            </a:r>
            <a:r>
              <a:rPr lang="ko-KR" altLang="en-US" sz="900" dirty="0"/>
              <a:t>. *</a:t>
            </a:r>
            <a:r>
              <a:rPr lang="ko-KR" altLang="en-US" sz="900" dirty="0" err="1"/>
              <a:t>bioRxiv</a:t>
            </a:r>
            <a:r>
              <a:rPr lang="ko-KR" altLang="en-US" sz="900" dirty="0"/>
              <a:t>*. https://doi.org/10.1101/2024.07.01.600583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Lieberman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 </a:t>
            </a:r>
            <a:r>
              <a:rPr lang="ko-KR" altLang="en-US" sz="900" dirty="0" err="1"/>
              <a:t>L</a:t>
            </a:r>
            <a:r>
              <a:rPr lang="ko-KR" altLang="en-US" sz="900" dirty="0"/>
              <a:t>., </a:t>
            </a:r>
            <a:r>
              <a:rPr lang="ko-KR" altLang="en-US" sz="900" dirty="0" err="1"/>
              <a:t>Wustman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B</a:t>
            </a:r>
            <a:r>
              <a:rPr lang="ko-KR" altLang="en-US" sz="900" dirty="0"/>
              <a:t>.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Huertas</a:t>
            </a:r>
            <a:r>
              <a:rPr lang="ko-KR" altLang="en-US" sz="900" dirty="0"/>
              <a:t>, </a:t>
            </a:r>
            <a:r>
              <a:rPr lang="ko-KR" altLang="en-US" sz="900" dirty="0" err="1"/>
              <a:t>P</a:t>
            </a:r>
            <a:r>
              <a:rPr lang="ko-KR" altLang="en-US" sz="900" dirty="0"/>
              <a:t>., </a:t>
            </a:r>
            <a:r>
              <a:rPr lang="ko-KR" altLang="en-US" sz="900" dirty="0" err="1"/>
              <a:t>Powe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 C., </a:t>
            </a:r>
            <a:r>
              <a:rPr lang="ko-KR" altLang="en-US" sz="900" dirty="0" err="1"/>
              <a:t>Pine</a:t>
            </a:r>
            <a:r>
              <a:rPr lang="ko-KR" altLang="en-US" sz="900" dirty="0"/>
              <a:t>, C. </a:t>
            </a:r>
            <a:r>
              <a:rPr lang="ko-KR" altLang="en-US" sz="900" dirty="0" err="1"/>
              <a:t>W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Khanna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Schlossmacher</a:t>
            </a:r>
            <a:r>
              <a:rPr lang="ko-KR" altLang="en-US" sz="900" dirty="0"/>
              <a:t>, </a:t>
            </a:r>
            <a:r>
              <a:rPr lang="ko-KR" altLang="en-US" sz="900" dirty="0" err="1"/>
              <a:t>M</a:t>
            </a:r>
            <a:r>
              <a:rPr lang="ko-KR" altLang="en-US" sz="900" dirty="0"/>
              <a:t>. </a:t>
            </a:r>
            <a:r>
              <a:rPr lang="ko-KR" altLang="en-US" sz="900" dirty="0" err="1"/>
              <a:t>G</a:t>
            </a:r>
            <a:r>
              <a:rPr lang="ko-KR" altLang="en-US" sz="900" dirty="0"/>
              <a:t>., </a:t>
            </a:r>
            <a:r>
              <a:rPr lang="ko-KR" altLang="en-US" sz="900" dirty="0" err="1"/>
              <a:t>Bhattacharjee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Bhattacharjee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</a:t>
            </a:r>
            <a:r>
              <a:rPr lang="ko-KR" altLang="en-US" sz="900" dirty="0" err="1"/>
              <a:t>Bhattacharjee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</a:t>
            </a:r>
            <a:r>
              <a:rPr lang="ko-KR" altLang="en-US" sz="900" dirty="0" err="1"/>
              <a:t>Bhattacharjee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Bhattacharjee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 (2007). </a:t>
            </a:r>
            <a:r>
              <a:rPr lang="ko-KR" altLang="en-US" sz="900" dirty="0" err="1"/>
              <a:t>Structure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acid</a:t>
            </a:r>
            <a:r>
              <a:rPr lang="ko-KR" altLang="en-US" sz="900" dirty="0"/>
              <a:t> β-</a:t>
            </a:r>
            <a:r>
              <a:rPr lang="ko-KR" altLang="en-US" sz="900" dirty="0" err="1"/>
              <a:t>glucosidase</a:t>
            </a:r>
            <a:r>
              <a:rPr lang="ko-KR" altLang="en-US" sz="900" dirty="0"/>
              <a:t> </a:t>
            </a:r>
            <a:r>
              <a:rPr lang="ko-KR" altLang="en-US" sz="900" dirty="0" err="1"/>
              <a:t>with</a:t>
            </a:r>
            <a:r>
              <a:rPr lang="ko-KR" altLang="en-US" sz="900" dirty="0"/>
              <a:t> </a:t>
            </a:r>
            <a:r>
              <a:rPr lang="ko-KR" altLang="en-US" sz="900" dirty="0" err="1"/>
              <a:t>pharmacological</a:t>
            </a:r>
            <a:r>
              <a:rPr lang="ko-KR" altLang="en-US" sz="900" dirty="0"/>
              <a:t> </a:t>
            </a:r>
            <a:r>
              <a:rPr lang="ko-KR" altLang="en-US" sz="900" dirty="0" err="1"/>
              <a:t>chaperone</a:t>
            </a:r>
            <a:r>
              <a:rPr lang="ko-KR" altLang="en-US" sz="900" dirty="0"/>
              <a:t> </a:t>
            </a:r>
            <a:r>
              <a:rPr lang="ko-KR" altLang="en-US" sz="900" dirty="0" err="1"/>
              <a:t>provides</a:t>
            </a:r>
            <a:r>
              <a:rPr lang="ko-KR" altLang="en-US" sz="900" dirty="0"/>
              <a:t> </a:t>
            </a:r>
            <a:r>
              <a:rPr lang="ko-KR" altLang="en-US" sz="900" dirty="0" err="1"/>
              <a:t>insight</a:t>
            </a:r>
            <a:r>
              <a:rPr lang="ko-KR" altLang="en-US" sz="900" dirty="0"/>
              <a:t> </a:t>
            </a:r>
            <a:r>
              <a:rPr lang="ko-KR" altLang="en-US" sz="900" dirty="0" err="1"/>
              <a:t>into</a:t>
            </a:r>
            <a:r>
              <a:rPr lang="ko-KR" altLang="en-US" sz="900" dirty="0"/>
              <a:t> </a:t>
            </a:r>
            <a:r>
              <a:rPr lang="ko-KR" altLang="en-US" sz="900" dirty="0" err="1"/>
              <a:t>Gaucher</a:t>
            </a:r>
            <a:r>
              <a:rPr lang="ko-KR" altLang="en-US" sz="900" dirty="0"/>
              <a:t> </a:t>
            </a:r>
            <a:r>
              <a:rPr lang="ko-KR" altLang="en-US" sz="900" dirty="0" err="1"/>
              <a:t>disease</a:t>
            </a:r>
            <a:r>
              <a:rPr lang="ko-KR" altLang="en-US" sz="900" dirty="0"/>
              <a:t>. *</a:t>
            </a:r>
            <a:r>
              <a:rPr lang="ko-KR" altLang="en-US" sz="900" dirty="0" err="1"/>
              <a:t>Nature</a:t>
            </a:r>
            <a:r>
              <a:rPr lang="ko-KR" altLang="en-US" sz="900" dirty="0"/>
              <a:t> Chemical </a:t>
            </a:r>
            <a:r>
              <a:rPr lang="ko-KR" altLang="en-US" sz="900" dirty="0" err="1"/>
              <a:t>Biology</a:t>
            </a:r>
            <a:r>
              <a:rPr lang="ko-KR" altLang="en-US" sz="900" dirty="0"/>
              <a:t>*, *3*(2), 101–107. https://doi.org/10.1038/nchembio850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Lin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Z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Akin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H</a:t>
            </a:r>
            <a:r>
              <a:rPr lang="ko-KR" altLang="en-US" sz="900" dirty="0"/>
              <a:t>., </a:t>
            </a:r>
            <a:r>
              <a:rPr lang="ko-KR" altLang="en-US" sz="900" dirty="0" err="1"/>
              <a:t>Rao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Hie</a:t>
            </a:r>
            <a:r>
              <a:rPr lang="ko-KR" altLang="en-US" sz="900" dirty="0"/>
              <a:t>, </a:t>
            </a:r>
            <a:r>
              <a:rPr lang="ko-KR" altLang="en-US" sz="900" dirty="0" err="1"/>
              <a:t>B</a:t>
            </a:r>
            <a:r>
              <a:rPr lang="ko-KR" altLang="en-US" sz="900" dirty="0"/>
              <a:t>., </a:t>
            </a:r>
            <a:r>
              <a:rPr lang="ko-KR" altLang="en-US" sz="900" dirty="0" err="1"/>
              <a:t>Zhu</a:t>
            </a:r>
            <a:r>
              <a:rPr lang="ko-KR" altLang="en-US" sz="900" dirty="0"/>
              <a:t>, </a:t>
            </a:r>
            <a:r>
              <a:rPr lang="ko-KR" altLang="en-US" sz="900" dirty="0" err="1"/>
              <a:t>Z</a:t>
            </a:r>
            <a:r>
              <a:rPr lang="ko-KR" altLang="en-US" sz="900" dirty="0"/>
              <a:t>., </a:t>
            </a:r>
            <a:r>
              <a:rPr lang="ko-KR" altLang="en-US" sz="900" dirty="0" err="1"/>
              <a:t>Lu</a:t>
            </a:r>
            <a:r>
              <a:rPr lang="ko-KR" altLang="en-US" sz="900" dirty="0"/>
              <a:t>, </a:t>
            </a:r>
            <a:r>
              <a:rPr lang="ko-KR" altLang="en-US" sz="900" dirty="0" err="1"/>
              <a:t>W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Smetanin</a:t>
            </a:r>
            <a:r>
              <a:rPr lang="ko-KR" altLang="en-US" sz="900" dirty="0"/>
              <a:t>, </a:t>
            </a:r>
            <a:r>
              <a:rPr lang="ko-KR" altLang="en-US" sz="900" dirty="0" err="1"/>
              <a:t>N</a:t>
            </a:r>
            <a:r>
              <a:rPr lang="ko-KR" altLang="en-US" sz="900" dirty="0"/>
              <a:t>., </a:t>
            </a:r>
            <a:r>
              <a:rPr lang="ko-KR" altLang="en-US" sz="900" dirty="0" err="1"/>
              <a:t>Verkuil</a:t>
            </a:r>
            <a:r>
              <a:rPr lang="ko-KR" altLang="en-US" sz="900" dirty="0"/>
              <a:t>, </a:t>
            </a:r>
            <a:r>
              <a:rPr lang="ko-KR" altLang="en-US" sz="900" dirty="0" err="1"/>
              <a:t>R</a:t>
            </a:r>
            <a:r>
              <a:rPr lang="ko-KR" altLang="en-US" sz="900" dirty="0"/>
              <a:t>., </a:t>
            </a:r>
            <a:r>
              <a:rPr lang="ko-KR" altLang="en-US" sz="900" dirty="0" err="1"/>
              <a:t>Kabeli</a:t>
            </a:r>
            <a:r>
              <a:rPr lang="ko-KR" altLang="en-US" sz="900" dirty="0"/>
              <a:t>, </a:t>
            </a:r>
            <a:r>
              <a:rPr lang="ko-KR" altLang="en-US" sz="900" dirty="0" err="1"/>
              <a:t>O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Shmueli</a:t>
            </a:r>
            <a:r>
              <a:rPr lang="ko-KR" altLang="en-US" sz="900" dirty="0"/>
              <a:t>, </a:t>
            </a:r>
            <a:r>
              <a:rPr lang="ko-KR" altLang="en-US" sz="900" dirty="0" err="1"/>
              <a:t>Y</a:t>
            </a:r>
            <a:r>
              <a:rPr lang="ko-KR" altLang="en-US" sz="900" dirty="0"/>
              <a:t>., </a:t>
            </a:r>
            <a:r>
              <a:rPr lang="ko-KR" altLang="en-US" sz="900" dirty="0" err="1"/>
              <a:t>dos</a:t>
            </a:r>
            <a:r>
              <a:rPr lang="ko-KR" altLang="en-US" sz="900" dirty="0"/>
              <a:t> </a:t>
            </a:r>
            <a:r>
              <a:rPr lang="ko-KR" altLang="en-US" sz="900" dirty="0" err="1"/>
              <a:t>Santos</a:t>
            </a:r>
            <a:r>
              <a:rPr lang="ko-KR" altLang="en-US" sz="900" dirty="0"/>
              <a:t> </a:t>
            </a:r>
            <a:r>
              <a:rPr lang="ko-KR" altLang="en-US" sz="900" dirty="0" err="1"/>
              <a:t>Costa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Fazel-Zarandi</a:t>
            </a:r>
            <a:r>
              <a:rPr lang="ko-KR" altLang="en-US" sz="900" dirty="0"/>
              <a:t>,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Sercu</a:t>
            </a:r>
            <a:r>
              <a:rPr lang="ko-KR" altLang="en-US" sz="900" dirty="0"/>
              <a:t>, </a:t>
            </a:r>
            <a:r>
              <a:rPr lang="ko-KR" altLang="en-US" sz="900" dirty="0" err="1"/>
              <a:t>T</a:t>
            </a:r>
            <a:r>
              <a:rPr lang="ko-KR" altLang="en-US" sz="900" dirty="0"/>
              <a:t>., </a:t>
            </a:r>
            <a:r>
              <a:rPr lang="ko-KR" altLang="en-US" sz="900" dirty="0" err="1"/>
              <a:t>Candido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Rives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 (2023). </a:t>
            </a:r>
            <a:r>
              <a:rPr lang="ko-KR" altLang="en-US" sz="900" dirty="0" err="1"/>
              <a:t>Evolutionary-scale</a:t>
            </a:r>
            <a:r>
              <a:rPr lang="ko-KR" altLang="en-US" sz="900" dirty="0"/>
              <a:t> </a:t>
            </a:r>
            <a:r>
              <a:rPr lang="ko-KR" altLang="en-US" sz="900" dirty="0" err="1"/>
              <a:t>prediction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atomic-level</a:t>
            </a:r>
            <a:r>
              <a:rPr lang="ko-KR" altLang="en-US" sz="900" dirty="0"/>
              <a:t> </a:t>
            </a:r>
            <a:r>
              <a:rPr lang="ko-KR" altLang="en-US" sz="900" dirty="0" err="1"/>
              <a:t>protein</a:t>
            </a:r>
            <a:r>
              <a:rPr lang="ko-KR" altLang="en-US" sz="900" dirty="0"/>
              <a:t> </a:t>
            </a:r>
            <a:r>
              <a:rPr lang="ko-KR" altLang="en-US" sz="900" dirty="0" err="1"/>
              <a:t>structure</a:t>
            </a:r>
            <a:r>
              <a:rPr lang="ko-KR" altLang="en-US" sz="900" dirty="0"/>
              <a:t> </a:t>
            </a:r>
            <a:r>
              <a:rPr lang="ko-KR" altLang="en-US" sz="900" dirty="0" err="1"/>
              <a:t>with</a:t>
            </a:r>
            <a:r>
              <a:rPr lang="ko-KR" altLang="en-US" sz="900" dirty="0"/>
              <a:t> </a:t>
            </a:r>
            <a:r>
              <a:rPr lang="ko-KR" altLang="en-US" sz="900" dirty="0" err="1"/>
              <a:t>a</a:t>
            </a:r>
            <a:r>
              <a:rPr lang="ko-KR" altLang="en-US" sz="900" dirty="0"/>
              <a:t> </a:t>
            </a:r>
            <a:r>
              <a:rPr lang="ko-KR" altLang="en-US" sz="900" dirty="0" err="1"/>
              <a:t>language</a:t>
            </a:r>
            <a:r>
              <a:rPr lang="ko-KR" altLang="en-US" sz="900" dirty="0"/>
              <a:t> </a:t>
            </a:r>
            <a:r>
              <a:rPr lang="ko-KR" altLang="en-US" sz="900" dirty="0" err="1"/>
              <a:t>model</a:t>
            </a:r>
            <a:r>
              <a:rPr lang="ko-KR" altLang="en-US" sz="900" dirty="0"/>
              <a:t>. *</a:t>
            </a:r>
            <a:r>
              <a:rPr lang="ko-KR" altLang="en-US" sz="900" dirty="0" err="1"/>
              <a:t>Science</a:t>
            </a:r>
            <a:r>
              <a:rPr lang="ko-KR" altLang="en-US" sz="900" dirty="0"/>
              <a:t>*, *379*(6637), 1123–1130. </a:t>
            </a:r>
            <a:r>
              <a:rPr lang="ko-KR" altLang="en-US" sz="900" dirty="0">
                <a:hlinkClick r:id="rId2"/>
              </a:rPr>
              <a:t>https://doi.org/10.1126/science.ade2574</a:t>
            </a:r>
            <a:endParaRPr lang="en-US" altLang="ko-KR" sz="900" dirty="0"/>
          </a:p>
          <a:p>
            <a:endParaRPr lang="en-US" altLang="ko-KR" sz="900" dirty="0"/>
          </a:p>
          <a:p>
            <a:r>
              <a:rPr lang="nl-BE" altLang="ko-KR" sz="900" dirty="0"/>
              <a:t>Liou, B., Haffey, W. D., Greis, K. D., &amp; Grabowski, G. A. (2014, October 24). </a:t>
            </a:r>
            <a:r>
              <a:rPr lang="nl-BE" altLang="ko-KR" sz="900" i="1" dirty="0"/>
              <a:t>The limp-2/scarb2 binding motif on acid </a:t>
            </a:r>
            <a:r>
              <a:rPr lang="el-GR" altLang="ko-KR" sz="900" i="1" dirty="0"/>
              <a:t>β-</a:t>
            </a:r>
            <a:r>
              <a:rPr lang="nl-BE" altLang="ko-KR" sz="900" i="1" dirty="0"/>
              <a:t>glucosidase: Basic and applied implications for Gaucher disease and associated neurodegenerative diseases</a:t>
            </a:r>
            <a:r>
              <a:rPr lang="nl-BE" altLang="ko-KR" sz="900" dirty="0"/>
              <a:t>. The Journal of biological chemistry. https://pmc.ncbi.nlm.nih.gov/articles/PMC4208013/ </a:t>
            </a:r>
            <a:endParaRPr lang="ko-KR" altLang="en-US" sz="900" dirty="0"/>
          </a:p>
          <a:p>
            <a:endParaRPr lang="ko-KR" altLang="en-US" sz="900" dirty="0"/>
          </a:p>
          <a:p>
            <a:r>
              <a:rPr lang="ko-KR" altLang="en-US" sz="900" dirty="0" err="1"/>
              <a:t>Lovell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 C., </a:t>
            </a:r>
            <a:r>
              <a:rPr lang="ko-KR" altLang="en-US" sz="900" dirty="0" err="1"/>
              <a:t>Davis</a:t>
            </a:r>
            <a:r>
              <a:rPr lang="ko-KR" altLang="en-US" sz="900" dirty="0"/>
              <a:t>, </a:t>
            </a:r>
            <a:r>
              <a:rPr lang="ko-KR" altLang="en-US" sz="900" dirty="0" err="1"/>
              <a:t>I</a:t>
            </a:r>
            <a:r>
              <a:rPr lang="ko-KR" altLang="en-US" sz="900" dirty="0"/>
              <a:t>. </a:t>
            </a:r>
            <a:r>
              <a:rPr lang="ko-KR" altLang="en-US" sz="900" dirty="0" err="1"/>
              <a:t>W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Arendall</a:t>
            </a:r>
            <a:r>
              <a:rPr lang="ko-KR" altLang="en-US" sz="900" dirty="0"/>
              <a:t>, </a:t>
            </a:r>
            <a:r>
              <a:rPr lang="ko-KR" altLang="en-US" sz="900" dirty="0" err="1"/>
              <a:t>W</a:t>
            </a:r>
            <a:r>
              <a:rPr lang="ko-KR" altLang="en-US" sz="900" dirty="0"/>
              <a:t>. </a:t>
            </a:r>
            <a:r>
              <a:rPr lang="ko-KR" altLang="en-US" sz="900" dirty="0" err="1"/>
              <a:t>B</a:t>
            </a:r>
            <a:r>
              <a:rPr lang="ko-KR" altLang="en-US" sz="900" dirty="0"/>
              <a:t>., III, </a:t>
            </a:r>
            <a:r>
              <a:rPr lang="ko-KR" altLang="en-US" sz="900" dirty="0" err="1"/>
              <a:t>de</a:t>
            </a:r>
            <a:r>
              <a:rPr lang="ko-KR" altLang="en-US" sz="900" dirty="0"/>
              <a:t> </a:t>
            </a:r>
            <a:r>
              <a:rPr lang="ko-KR" altLang="en-US" sz="900" dirty="0" err="1"/>
              <a:t>Bakker</a:t>
            </a:r>
            <a:r>
              <a:rPr lang="ko-KR" altLang="en-US" sz="900" dirty="0"/>
              <a:t>, </a:t>
            </a:r>
            <a:r>
              <a:rPr lang="ko-KR" altLang="en-US" sz="900" dirty="0" err="1"/>
              <a:t>P</a:t>
            </a:r>
            <a:r>
              <a:rPr lang="ko-KR" altLang="en-US" sz="900" dirty="0"/>
              <a:t>. </a:t>
            </a:r>
            <a:r>
              <a:rPr lang="ko-KR" altLang="en-US" sz="900" dirty="0" err="1"/>
              <a:t>I</a:t>
            </a:r>
            <a:r>
              <a:rPr lang="ko-KR" altLang="en-US" sz="900" dirty="0"/>
              <a:t>. </a:t>
            </a:r>
            <a:r>
              <a:rPr lang="ko-KR" altLang="en-US" sz="900" dirty="0" err="1"/>
              <a:t>W</a:t>
            </a:r>
            <a:r>
              <a:rPr lang="ko-KR" altLang="en-US" sz="900" dirty="0"/>
              <a:t>., Word,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 </a:t>
            </a:r>
            <a:r>
              <a:rPr lang="ko-KR" altLang="en-US" sz="900" dirty="0" err="1"/>
              <a:t>M</a:t>
            </a:r>
            <a:r>
              <a:rPr lang="ko-KR" altLang="en-US" sz="900" dirty="0"/>
              <a:t>., </a:t>
            </a:r>
            <a:r>
              <a:rPr lang="ko-KR" altLang="en-US" sz="900" dirty="0" err="1"/>
              <a:t>Prisant</a:t>
            </a:r>
            <a:r>
              <a:rPr lang="ko-KR" altLang="en-US" sz="900" dirty="0"/>
              <a:t>, </a:t>
            </a:r>
            <a:r>
              <a:rPr lang="ko-KR" altLang="en-US" sz="900" dirty="0" err="1"/>
              <a:t>M</a:t>
            </a:r>
            <a:r>
              <a:rPr lang="ko-KR" altLang="en-US" sz="900" dirty="0"/>
              <a:t>. </a:t>
            </a:r>
            <a:r>
              <a:rPr lang="ko-KR" altLang="en-US" sz="900" dirty="0" err="1"/>
              <a:t>G</a:t>
            </a:r>
            <a:r>
              <a:rPr lang="ko-KR" altLang="en-US" sz="900" dirty="0"/>
              <a:t>., </a:t>
            </a:r>
            <a:r>
              <a:rPr lang="ko-KR" altLang="en-US" sz="900" dirty="0" err="1"/>
              <a:t>Richardson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J</a:t>
            </a:r>
            <a:r>
              <a:rPr lang="ko-KR" altLang="en-US" sz="900" dirty="0"/>
              <a:t>.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Richardson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D</a:t>
            </a:r>
            <a:r>
              <a:rPr lang="ko-KR" altLang="en-US" sz="900" dirty="0"/>
              <a:t>. C. (2003). </a:t>
            </a:r>
            <a:r>
              <a:rPr lang="ko-KR" altLang="en-US" sz="900" dirty="0" err="1"/>
              <a:t>Structure</a:t>
            </a:r>
            <a:r>
              <a:rPr lang="ko-KR" altLang="en-US" sz="900" dirty="0"/>
              <a:t> </a:t>
            </a:r>
            <a:r>
              <a:rPr lang="ko-KR" altLang="en-US" sz="900" dirty="0" err="1"/>
              <a:t>validation</a:t>
            </a:r>
            <a:r>
              <a:rPr lang="ko-KR" altLang="en-US" sz="900" dirty="0"/>
              <a:t> </a:t>
            </a:r>
            <a:r>
              <a:rPr lang="ko-KR" altLang="en-US" sz="900" dirty="0" err="1"/>
              <a:t>by</a:t>
            </a:r>
            <a:r>
              <a:rPr lang="ko-KR" altLang="en-US" sz="900" dirty="0"/>
              <a:t> Cα </a:t>
            </a:r>
            <a:r>
              <a:rPr lang="ko-KR" altLang="en-US" sz="900" dirty="0" err="1"/>
              <a:t>geometry</a:t>
            </a:r>
            <a:r>
              <a:rPr lang="ko-KR" altLang="en-US" sz="900" dirty="0"/>
              <a:t>: </a:t>
            </a:r>
            <a:r>
              <a:rPr lang="ko-KR" altLang="en-US" sz="900" dirty="0" err="1"/>
              <a:t>φ,ψ</a:t>
            </a:r>
            <a:r>
              <a:rPr lang="ko-KR" altLang="en-US" sz="900" dirty="0"/>
              <a:t> and Cβ </a:t>
            </a:r>
            <a:r>
              <a:rPr lang="ko-KR" altLang="en-US" sz="900" dirty="0" err="1"/>
              <a:t>deviation</a:t>
            </a:r>
            <a:r>
              <a:rPr lang="ko-KR" altLang="en-US" sz="900" dirty="0"/>
              <a:t>. *</a:t>
            </a:r>
            <a:r>
              <a:rPr lang="ko-KR" altLang="en-US" sz="900" dirty="0" err="1"/>
              <a:t>Proteins</a:t>
            </a:r>
            <a:r>
              <a:rPr lang="ko-KR" altLang="en-US" sz="900" dirty="0"/>
              <a:t>: </a:t>
            </a:r>
            <a:r>
              <a:rPr lang="ko-KR" altLang="en-US" sz="900" dirty="0" err="1"/>
              <a:t>Structure</a:t>
            </a:r>
            <a:r>
              <a:rPr lang="ko-KR" altLang="en-US" sz="900" dirty="0"/>
              <a:t>, </a:t>
            </a:r>
            <a:r>
              <a:rPr lang="ko-KR" altLang="en-US" sz="900" dirty="0" err="1"/>
              <a:t>Function</a:t>
            </a:r>
            <a:r>
              <a:rPr lang="ko-KR" altLang="en-US" sz="900" dirty="0"/>
              <a:t>, and </a:t>
            </a:r>
            <a:r>
              <a:rPr lang="ko-KR" altLang="en-US" sz="900" dirty="0" err="1"/>
              <a:t>Bioinformatics</a:t>
            </a:r>
            <a:r>
              <a:rPr lang="ko-KR" altLang="en-US" sz="900" dirty="0"/>
              <a:t>*, *50*(3), 437–450. https://doi.org/10.1002/prot.10286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Pudžiuvelytė</a:t>
            </a:r>
            <a:r>
              <a:rPr lang="ko-KR" altLang="en-US" sz="900" dirty="0"/>
              <a:t>, </a:t>
            </a:r>
            <a:r>
              <a:rPr lang="ko-KR" altLang="en-US" sz="900" dirty="0" err="1"/>
              <a:t>I</a:t>
            </a:r>
            <a:r>
              <a:rPr lang="ko-KR" altLang="en-US" sz="900" dirty="0"/>
              <a:t>., </a:t>
            </a:r>
            <a:r>
              <a:rPr lang="ko-KR" altLang="en-US" sz="900" dirty="0" err="1"/>
              <a:t>Olechnovič</a:t>
            </a:r>
            <a:r>
              <a:rPr lang="ko-KR" altLang="en-US" sz="900" dirty="0"/>
              <a:t>, K., </a:t>
            </a:r>
            <a:r>
              <a:rPr lang="ko-KR" altLang="en-US" sz="900" dirty="0" err="1"/>
              <a:t>Godber</a:t>
            </a:r>
            <a:r>
              <a:rPr lang="ko-KR" altLang="en-US" sz="900" dirty="0"/>
              <a:t>, C., </a:t>
            </a:r>
            <a:r>
              <a:rPr lang="ko-KR" altLang="en-US" sz="900" dirty="0" err="1"/>
              <a:t>Olechnovič</a:t>
            </a:r>
            <a:r>
              <a:rPr lang="ko-KR" altLang="en-US" sz="900" dirty="0"/>
              <a:t>, K., &amp; </a:t>
            </a:r>
            <a:r>
              <a:rPr lang="ko-KR" altLang="en-US" sz="900" dirty="0" err="1"/>
              <a:t>Venclovas</a:t>
            </a:r>
            <a:r>
              <a:rPr lang="ko-KR" altLang="en-US" sz="900" dirty="0"/>
              <a:t>, </a:t>
            </a:r>
            <a:r>
              <a:rPr lang="ko-KR" altLang="en-US" sz="900" dirty="0" err="1"/>
              <a:t>Č</a:t>
            </a:r>
            <a:r>
              <a:rPr lang="ko-KR" altLang="en-US" sz="900" dirty="0"/>
              <a:t>. (2024). </a:t>
            </a:r>
            <a:r>
              <a:rPr lang="ko-KR" altLang="en-US" sz="900" dirty="0" err="1"/>
              <a:t>TemStaPro</a:t>
            </a:r>
            <a:r>
              <a:rPr lang="ko-KR" altLang="en-US" sz="900" dirty="0"/>
              <a:t>: </a:t>
            </a:r>
            <a:r>
              <a:rPr lang="ko-KR" altLang="en-US" sz="900" dirty="0" err="1"/>
              <a:t>Protein</a:t>
            </a:r>
            <a:r>
              <a:rPr lang="ko-KR" altLang="en-US" sz="900" dirty="0"/>
              <a:t> </a:t>
            </a:r>
            <a:r>
              <a:rPr lang="ko-KR" altLang="en-US" sz="900" dirty="0" err="1"/>
              <a:t>thermostability</a:t>
            </a:r>
            <a:r>
              <a:rPr lang="ko-KR" altLang="en-US" sz="900" dirty="0"/>
              <a:t> </a:t>
            </a:r>
            <a:r>
              <a:rPr lang="ko-KR" altLang="en-US" sz="900" dirty="0" err="1"/>
              <a:t>prediction</a:t>
            </a:r>
            <a:r>
              <a:rPr lang="ko-KR" altLang="en-US" sz="900" dirty="0"/>
              <a:t> </a:t>
            </a:r>
            <a:r>
              <a:rPr lang="ko-KR" altLang="en-US" sz="900" dirty="0" err="1"/>
              <a:t>using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sequence</a:t>
            </a:r>
            <a:r>
              <a:rPr lang="ko-KR" altLang="en-US" sz="900" dirty="0"/>
              <a:t> </a:t>
            </a:r>
            <a:r>
              <a:rPr lang="ko-KR" altLang="en-US" sz="900" dirty="0" err="1"/>
              <a:t>representations</a:t>
            </a:r>
            <a:r>
              <a:rPr lang="ko-KR" altLang="en-US" sz="900" dirty="0"/>
              <a:t> </a:t>
            </a:r>
            <a:r>
              <a:rPr lang="ko-KR" altLang="en-US" sz="900" dirty="0" err="1"/>
              <a:t>from</a:t>
            </a:r>
            <a:r>
              <a:rPr lang="ko-KR" altLang="en-US" sz="900" dirty="0"/>
              <a:t> </a:t>
            </a:r>
            <a:r>
              <a:rPr lang="ko-KR" altLang="en-US" sz="900" dirty="0" err="1"/>
              <a:t>protein</a:t>
            </a:r>
            <a:r>
              <a:rPr lang="ko-KR" altLang="en-US" sz="900" dirty="0"/>
              <a:t> </a:t>
            </a:r>
            <a:r>
              <a:rPr lang="ko-KR" altLang="en-US" sz="900" dirty="0" err="1"/>
              <a:t>language</a:t>
            </a:r>
            <a:r>
              <a:rPr lang="ko-KR" altLang="en-US" sz="900" dirty="0"/>
              <a:t> </a:t>
            </a:r>
            <a:r>
              <a:rPr lang="ko-KR" altLang="en-US" sz="900" dirty="0" err="1"/>
              <a:t>models</a:t>
            </a:r>
            <a:r>
              <a:rPr lang="ko-KR" altLang="en-US" sz="900" dirty="0"/>
              <a:t>. *</a:t>
            </a:r>
            <a:r>
              <a:rPr lang="ko-KR" altLang="en-US" sz="900" dirty="0" err="1"/>
              <a:t>Bioinformatics</a:t>
            </a:r>
            <a:r>
              <a:rPr lang="ko-KR" altLang="en-US" sz="900" dirty="0"/>
              <a:t>*, *40*(4), btae157. https://doi.org/10.1093/bioinformatics/btae157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Ramachandran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G</a:t>
            </a:r>
            <a:r>
              <a:rPr lang="ko-KR" altLang="en-US" sz="900" dirty="0"/>
              <a:t>. </a:t>
            </a:r>
            <a:r>
              <a:rPr lang="ko-KR" altLang="en-US" sz="900" dirty="0" err="1"/>
              <a:t>N</a:t>
            </a:r>
            <a:r>
              <a:rPr lang="ko-KR" altLang="en-US" sz="900" dirty="0"/>
              <a:t>., </a:t>
            </a:r>
            <a:r>
              <a:rPr lang="ko-KR" altLang="en-US" sz="900" dirty="0" err="1"/>
              <a:t>Ramakrishnan</a:t>
            </a:r>
            <a:r>
              <a:rPr lang="ko-KR" altLang="en-US" sz="900" dirty="0"/>
              <a:t>, C., &amp; </a:t>
            </a:r>
            <a:r>
              <a:rPr lang="ko-KR" altLang="en-US" sz="900" dirty="0" err="1"/>
              <a:t>Sasisekharan</a:t>
            </a:r>
            <a:r>
              <a:rPr lang="ko-KR" altLang="en-US" sz="900" dirty="0"/>
              <a:t>, </a:t>
            </a:r>
            <a:r>
              <a:rPr lang="ko-KR" altLang="en-US" sz="900" dirty="0" err="1"/>
              <a:t>V</a:t>
            </a:r>
            <a:r>
              <a:rPr lang="ko-KR" altLang="en-US" sz="900" dirty="0"/>
              <a:t>. (1963). </a:t>
            </a:r>
            <a:r>
              <a:rPr lang="ko-KR" altLang="en-US" sz="900" dirty="0" err="1"/>
              <a:t>Stereochemistry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polypeptide</a:t>
            </a:r>
            <a:r>
              <a:rPr lang="ko-KR" altLang="en-US" sz="900" dirty="0"/>
              <a:t> </a:t>
            </a:r>
            <a:r>
              <a:rPr lang="ko-KR" altLang="en-US" sz="900" dirty="0" err="1"/>
              <a:t>chain</a:t>
            </a:r>
            <a:r>
              <a:rPr lang="ko-KR" altLang="en-US" sz="900" dirty="0"/>
              <a:t> </a:t>
            </a:r>
            <a:r>
              <a:rPr lang="ko-KR" altLang="en-US" sz="900" dirty="0" err="1"/>
              <a:t>configurations</a:t>
            </a:r>
            <a:r>
              <a:rPr lang="ko-KR" altLang="en-US" sz="900" dirty="0"/>
              <a:t>. *</a:t>
            </a:r>
            <a:r>
              <a:rPr lang="ko-KR" altLang="en-US" sz="900" dirty="0" err="1"/>
              <a:t>Journal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Molecular</a:t>
            </a:r>
            <a:r>
              <a:rPr lang="ko-KR" altLang="en-US" sz="900" dirty="0"/>
              <a:t> </a:t>
            </a:r>
            <a:r>
              <a:rPr lang="ko-KR" altLang="en-US" sz="900" dirty="0" err="1"/>
              <a:t>Biology</a:t>
            </a:r>
            <a:r>
              <a:rPr lang="ko-KR" altLang="en-US" sz="900" dirty="0"/>
              <a:t>*, *7*(1), 95–99. https://doi.org/10.1016/S0022-2836(63)80023-6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Rathore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</a:t>
            </a:r>
            <a:r>
              <a:rPr lang="ko-KR" altLang="en-US" sz="900" dirty="0" err="1"/>
              <a:t>Arora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., </a:t>
            </a:r>
            <a:r>
              <a:rPr lang="ko-KR" altLang="en-US" sz="900" dirty="0" err="1"/>
              <a:t>Srivastava</a:t>
            </a:r>
            <a:r>
              <a:rPr lang="ko-KR" altLang="en-US" sz="900" dirty="0"/>
              <a:t>, </a:t>
            </a:r>
            <a:r>
              <a:rPr lang="ko-KR" altLang="en-US" sz="900" dirty="0" err="1"/>
              <a:t>S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Raghava</a:t>
            </a:r>
            <a:r>
              <a:rPr lang="ko-KR" altLang="en-US" sz="900" dirty="0"/>
              <a:t>, </a:t>
            </a:r>
            <a:r>
              <a:rPr lang="ko-KR" altLang="en-US" sz="900" dirty="0" err="1"/>
              <a:t>G</a:t>
            </a:r>
            <a:r>
              <a:rPr lang="ko-KR" altLang="en-US" sz="900" dirty="0"/>
              <a:t>. </a:t>
            </a:r>
            <a:r>
              <a:rPr lang="ko-KR" altLang="en-US" sz="900" dirty="0" err="1"/>
              <a:t>P</a:t>
            </a:r>
            <a:r>
              <a:rPr lang="ko-KR" altLang="en-US" sz="900" dirty="0"/>
              <a:t>. </a:t>
            </a:r>
            <a:r>
              <a:rPr lang="ko-KR" altLang="en-US" sz="900" dirty="0" err="1"/>
              <a:t>S</a:t>
            </a:r>
            <a:r>
              <a:rPr lang="ko-KR" altLang="en-US" sz="900" dirty="0"/>
              <a:t>. (2024). </a:t>
            </a:r>
            <a:r>
              <a:rPr lang="ko-KR" altLang="en-US" sz="900" dirty="0" err="1"/>
              <a:t>ToxinPred</a:t>
            </a:r>
            <a:r>
              <a:rPr lang="ko-KR" altLang="en-US" sz="900" dirty="0"/>
              <a:t> 3.0: </a:t>
            </a:r>
            <a:r>
              <a:rPr lang="ko-KR" altLang="en-US" sz="900" dirty="0" err="1"/>
              <a:t>An</a:t>
            </a:r>
            <a:r>
              <a:rPr lang="ko-KR" altLang="en-US" sz="900" dirty="0"/>
              <a:t> </a:t>
            </a:r>
            <a:r>
              <a:rPr lang="ko-KR" altLang="en-US" sz="900" dirty="0" err="1"/>
              <a:t>improved</a:t>
            </a:r>
            <a:r>
              <a:rPr lang="ko-KR" altLang="en-US" sz="900" dirty="0"/>
              <a:t> </a:t>
            </a:r>
            <a:r>
              <a:rPr lang="ko-KR" altLang="en-US" sz="900" dirty="0" err="1"/>
              <a:t>method</a:t>
            </a:r>
            <a:r>
              <a:rPr lang="ko-KR" altLang="en-US" sz="900" dirty="0"/>
              <a:t> </a:t>
            </a:r>
            <a:r>
              <a:rPr lang="ko-KR" altLang="en-US" sz="900" dirty="0" err="1"/>
              <a:t>for</a:t>
            </a:r>
            <a:r>
              <a:rPr lang="ko-KR" altLang="en-US" sz="900" dirty="0"/>
              <a:t> </a:t>
            </a:r>
            <a:r>
              <a:rPr lang="ko-KR" altLang="en-US" sz="900" dirty="0" err="1"/>
              <a:t>predicting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the</a:t>
            </a:r>
            <a:r>
              <a:rPr lang="ko-KR" altLang="en-US" sz="900" dirty="0"/>
              <a:t> </a:t>
            </a:r>
            <a:r>
              <a:rPr lang="ko-KR" altLang="en-US" sz="900" dirty="0" err="1"/>
              <a:t>toxicity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peptides</a:t>
            </a:r>
            <a:r>
              <a:rPr lang="ko-KR" altLang="en-US" sz="900" dirty="0"/>
              <a:t>. *</a:t>
            </a:r>
            <a:r>
              <a:rPr lang="ko-KR" altLang="en-US" sz="900" dirty="0" err="1"/>
              <a:t>Computers</a:t>
            </a:r>
            <a:r>
              <a:rPr lang="ko-KR" altLang="en-US" sz="900" dirty="0"/>
              <a:t> </a:t>
            </a:r>
            <a:r>
              <a:rPr lang="ko-KR" altLang="en-US" sz="900" dirty="0" err="1"/>
              <a:t>in</a:t>
            </a:r>
            <a:r>
              <a:rPr lang="ko-KR" altLang="en-US" sz="900" dirty="0"/>
              <a:t> </a:t>
            </a:r>
            <a:r>
              <a:rPr lang="ko-KR" altLang="en-US" sz="900" dirty="0" err="1"/>
              <a:t>Biology</a:t>
            </a:r>
            <a:r>
              <a:rPr lang="ko-KR" altLang="en-US" sz="900" dirty="0"/>
              <a:t> and </a:t>
            </a:r>
            <a:r>
              <a:rPr lang="ko-KR" altLang="en-US" sz="900" dirty="0" err="1"/>
              <a:t>Medicine</a:t>
            </a:r>
            <a:r>
              <a:rPr lang="ko-KR" altLang="en-US" sz="900" dirty="0"/>
              <a:t>*, *179*, 108926. https://doi.org/10.1016/j.compbiomed.2024.108926</a:t>
            </a:r>
          </a:p>
          <a:p>
            <a:endParaRPr lang="ko-KR" altLang="en-US" sz="900" dirty="0"/>
          </a:p>
          <a:p>
            <a:r>
              <a:rPr lang="ko-KR" altLang="en-US" sz="900" dirty="0" err="1"/>
              <a:t>Trott</a:t>
            </a:r>
            <a:r>
              <a:rPr lang="ko-KR" altLang="en-US" sz="900" dirty="0"/>
              <a:t>, </a:t>
            </a:r>
            <a:r>
              <a:rPr lang="ko-KR" altLang="en-US" sz="900" dirty="0" err="1"/>
              <a:t>O</a:t>
            </a:r>
            <a:r>
              <a:rPr lang="ko-KR" altLang="en-US" sz="900" dirty="0"/>
              <a:t>., &amp; </a:t>
            </a:r>
            <a:r>
              <a:rPr lang="ko-KR" altLang="en-US" sz="900" dirty="0" err="1"/>
              <a:t>Olson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A</a:t>
            </a:r>
            <a:r>
              <a:rPr lang="ko-KR" altLang="en-US" sz="900" dirty="0"/>
              <a:t>. </a:t>
            </a:r>
            <a:r>
              <a:rPr lang="ko-KR" altLang="en-US" sz="900" dirty="0" err="1"/>
              <a:t>J</a:t>
            </a:r>
            <a:r>
              <a:rPr lang="ko-KR" altLang="en-US" sz="900" dirty="0"/>
              <a:t>. (2010). </a:t>
            </a:r>
            <a:r>
              <a:rPr lang="ko-KR" altLang="en-US" sz="900" dirty="0" err="1"/>
              <a:t>AutoDock</a:t>
            </a:r>
            <a:r>
              <a:rPr lang="ko-KR" altLang="en-US" sz="900" dirty="0"/>
              <a:t> </a:t>
            </a:r>
            <a:r>
              <a:rPr lang="ko-KR" altLang="en-US" sz="900" dirty="0" err="1"/>
              <a:t>Vina</a:t>
            </a:r>
            <a:r>
              <a:rPr lang="ko-KR" altLang="en-US" sz="900" dirty="0"/>
              <a:t>: </a:t>
            </a:r>
            <a:r>
              <a:rPr lang="ko-KR" altLang="en-US" sz="900" dirty="0" err="1"/>
              <a:t>Improving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the</a:t>
            </a:r>
            <a:r>
              <a:rPr lang="ko-KR" altLang="en-US" sz="900" dirty="0"/>
              <a:t> </a:t>
            </a:r>
            <a:r>
              <a:rPr lang="ko-KR" altLang="en-US" sz="900" dirty="0" err="1"/>
              <a:t>speed</a:t>
            </a:r>
            <a:r>
              <a:rPr lang="ko-KR" altLang="en-US" sz="900" dirty="0"/>
              <a:t> and </a:t>
            </a:r>
            <a:r>
              <a:rPr lang="ko-KR" altLang="en-US" sz="900" dirty="0" err="1"/>
              <a:t>accuracy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docking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with</a:t>
            </a:r>
            <a:r>
              <a:rPr lang="ko-KR" altLang="en-US" sz="900" dirty="0"/>
              <a:t> </a:t>
            </a:r>
            <a:r>
              <a:rPr lang="ko-KR" altLang="en-US" sz="900" dirty="0" err="1"/>
              <a:t>a</a:t>
            </a:r>
            <a:r>
              <a:rPr lang="ko-KR" altLang="en-US" sz="900" dirty="0"/>
              <a:t> </a:t>
            </a:r>
            <a:r>
              <a:rPr lang="ko-KR" altLang="en-US" sz="900" dirty="0" err="1"/>
              <a:t>new</a:t>
            </a:r>
            <a:r>
              <a:rPr lang="ko-KR" altLang="en-US" sz="900" dirty="0"/>
              <a:t> </a:t>
            </a:r>
            <a:r>
              <a:rPr lang="ko-KR" altLang="en-US" sz="900" dirty="0" err="1"/>
              <a:t>scoring</a:t>
            </a:r>
            <a:r>
              <a:rPr lang="ko-KR" altLang="en-US" sz="900" dirty="0"/>
              <a:t> </a:t>
            </a:r>
            <a:r>
              <a:rPr lang="ko-KR" altLang="en-US" sz="900" dirty="0" err="1"/>
              <a:t>function</a:t>
            </a:r>
            <a:r>
              <a:rPr lang="ko-KR" altLang="en-US" sz="900" dirty="0"/>
              <a:t>, </a:t>
            </a:r>
            <a:r>
              <a:rPr lang="ko-KR" altLang="en-US" sz="900" dirty="0" err="1"/>
              <a:t>efficient</a:t>
            </a:r>
            <a:r>
              <a:rPr lang="ko-KR" altLang="en-US" sz="900" dirty="0"/>
              <a:t> </a:t>
            </a:r>
            <a:r>
              <a:rPr lang="ko-KR" altLang="en-US" sz="900" dirty="0" err="1"/>
              <a:t>optimization</a:t>
            </a:r>
            <a:r>
              <a:rPr lang="ko-KR" altLang="en-US" sz="900" dirty="0"/>
              <a:t>, and </a:t>
            </a:r>
            <a:r>
              <a:rPr lang="ko-KR" altLang="en-US" sz="900" dirty="0" err="1"/>
              <a:t>multithreading</a:t>
            </a:r>
            <a:r>
              <a:rPr lang="ko-KR" altLang="en-US" sz="900" dirty="0"/>
              <a:t>. *</a:t>
            </a:r>
            <a:r>
              <a:rPr lang="ko-KR" altLang="en-US" sz="900" dirty="0" err="1"/>
              <a:t>Journal</a:t>
            </a:r>
            <a:r>
              <a:rPr lang="ko-KR" altLang="en-US" sz="900" dirty="0"/>
              <a:t> of </a:t>
            </a:r>
            <a:r>
              <a:rPr lang="ko-KR" altLang="en-US" sz="900" dirty="0" err="1"/>
              <a:t>Computational</a:t>
            </a:r>
            <a:r>
              <a:rPr lang="ko-KR" altLang="en-US" sz="900" dirty="0"/>
              <a:t> </a:t>
            </a:r>
            <a:r>
              <a:rPr lang="ko-KR" altLang="en-US" sz="900" dirty="0" err="1"/>
              <a:t>Chemistry</a:t>
            </a:r>
            <a:r>
              <a:rPr lang="ko-KR" altLang="en-US" sz="900" dirty="0"/>
              <a:t>*, *31*(2), 455–461. https://doi.org/10.1002/jcc.21334</a:t>
            </a:r>
          </a:p>
        </p:txBody>
      </p:sp>
      <p:sp>
        <p:nvSpPr>
          <p:cNvPr id="5" name="MyPageNum">
            <a:extLst>
              <a:ext uri="{FF2B5EF4-FFF2-40B4-BE49-F238E27FC236}">
                <a16:creationId xmlns:a16="http://schemas.microsoft.com/office/drawing/2014/main" id="{E353CE8C-31AE-39B1-B43E-342CF7750307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11 / 12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62393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7926-0660-068D-186C-EDB8B267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D13FCE72-F97C-C134-49AF-23BB3D9F8153}"/>
              </a:ext>
            </a:extLst>
          </p:cNvPr>
          <p:cNvSpPr txBox="1">
            <a:spLocks/>
          </p:cNvSpPr>
          <p:nvPr/>
        </p:nvSpPr>
        <p:spPr>
          <a:xfrm>
            <a:off x="2341880" y="1607574"/>
            <a:ext cx="7508240" cy="20601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altLang="ko-KR" sz="5400" dirty="0"/>
              <a:t>Thank you for your listening</a:t>
            </a:r>
          </a:p>
        </p:txBody>
      </p:sp>
      <p:pic>
        <p:nvPicPr>
          <p:cNvPr id="5" name="그림 4" descr="로고, 새, 폰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AAF80D-1307-444C-7A8F-779191308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70" y="5688868"/>
            <a:ext cx="1768346" cy="1169132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D5D73F9-98F8-3DEF-4837-31FB721952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5758444"/>
            <a:ext cx="1774457" cy="11831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ACBD96-63B7-D243-8C87-8153846D8CB0}"/>
              </a:ext>
            </a:extLst>
          </p:cNvPr>
          <p:cNvSpPr txBox="1"/>
          <p:nvPr/>
        </p:nvSpPr>
        <p:spPr>
          <a:xfrm>
            <a:off x="2438400" y="4230017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b="1" dirty="0"/>
              <a:t>Feel free to ask questions!</a:t>
            </a:r>
            <a:endParaRPr lang="ko-KR" altLang="en-US" sz="4000" b="1" dirty="0"/>
          </a:p>
        </p:txBody>
      </p:sp>
      <p:sp>
        <p:nvSpPr>
          <p:cNvPr id="3" name="MyPageNum">
            <a:extLst>
              <a:ext uri="{FF2B5EF4-FFF2-40B4-BE49-F238E27FC236}">
                <a16:creationId xmlns:a16="http://schemas.microsoft.com/office/drawing/2014/main" id="{DCC40088-3D9B-BAEF-C34B-AB1379BDEEFF}"/>
              </a:ext>
            </a:extLst>
          </p:cNvPr>
          <p:cNvSpPr txBox="1"/>
          <p:nvPr/>
        </p:nvSpPr>
        <p:spPr>
          <a:xfrm>
            <a:off x="10287000" y="6350000"/>
            <a:ext cx="114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400"/>
              <a:t>12 / 12</a:t>
            </a:r>
            <a:endParaRPr lang="ko-KR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D6FB3-C7CD-8E80-65CA-9A65BBE62FFE}"/>
              </a:ext>
            </a:extLst>
          </p:cNvPr>
          <p:cNvSpPr txBox="1"/>
          <p:nvPr/>
        </p:nvSpPr>
        <p:spPr>
          <a:xfrm>
            <a:off x="3865179" y="6026833"/>
            <a:ext cx="3978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Presenter: Kwon, Jihun</a:t>
            </a:r>
          </a:p>
          <a:p>
            <a:r>
              <a:rPr lang="en-US" altLang="ko-KR" b="1" dirty="0"/>
              <a:t>Contact: Jihun.kwon@ghent.ac.kr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0209506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6772</TotalTime>
  <Words>1510</Words>
  <Application>Microsoft Office PowerPoint</Application>
  <PresentationFormat>와이드스크린</PresentationFormat>
  <Paragraphs>125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Batang</vt:lpstr>
      <vt:lpstr>Arial</vt:lpstr>
      <vt:lpstr>Neue Haas Grotesk Text Pro</vt:lpstr>
      <vt:lpstr>VanillaVTI</vt:lpstr>
      <vt:lpstr>Computational design of GCase:  Alternatives and screening</vt:lpstr>
      <vt:lpstr>What and Why - GCase</vt:lpstr>
      <vt:lpstr>Overview of pipeline – De novo design</vt:lpstr>
      <vt:lpstr>Overview of pipeline - screening</vt:lpstr>
      <vt:lpstr>Result 1 – Does structural stability improved? </vt:lpstr>
      <vt:lpstr>Result 1 – Does structural stability improve? </vt:lpstr>
      <vt:lpstr>Result 2 – Does docking result improved? </vt:lpstr>
      <vt:lpstr>Result 3: what is the sample for wet-lab test?</vt:lpstr>
      <vt:lpstr>Conclusion</vt:lpstr>
      <vt:lpstr>PowerPoint 프레젠테이션</vt:lpstr>
      <vt:lpstr>Reference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71841</dc:creator>
  <cp:lastModifiedBy>Subin Hyun</cp:lastModifiedBy>
  <cp:revision>37</cp:revision>
  <dcterms:created xsi:type="dcterms:W3CDTF">2026-04-22T12:51:37Z</dcterms:created>
  <dcterms:modified xsi:type="dcterms:W3CDTF">2026-06-25T14:58:07Z</dcterms:modified>
</cp:coreProperties>
</file>