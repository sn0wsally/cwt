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80" r:id="rId8"/>
    <p:sldId id="259" r:id="rId9"/>
    <p:sldId id="274" r:id="rId10"/>
    <p:sldId id="273" r:id="rId11"/>
    <p:sldId id="260" r:id="rId12"/>
    <p:sldId id="281" r:id="rId13"/>
    <p:sldId id="269" r:id="rId14"/>
    <p:sldId id="272" r:id="rId15"/>
  </p:sldIdLst>
  <p:sldSz cx="18288000" cy="10287000"/>
  <p:notesSz cx="6858000" cy="9144000"/>
  <p:embeddedFontLst>
    <p:embeddedFont>
      <p:font typeface="Nunito" pitchFamily="2" charset="0"/>
      <p:regular r:id="rId17"/>
      <p:bold r:id="rId18"/>
      <p:italic r:id="rId19"/>
      <p:boldItalic r:id="rId20"/>
    </p:embeddedFont>
    <p:embeddedFont>
      <p:font typeface="Nunito Bold" charset="0"/>
      <p:bold r:id="rId21"/>
    </p:embeddedFont>
    <p:embeddedFont>
      <p:font typeface="맑은 고딕" panose="020B0503020000020004" pitchFamily="34" charset="-127"/>
      <p:regular r:id="rId22"/>
      <p:bold r:id="rId23"/>
    </p:embeddedFont>
    <p:embeddedFont>
      <p:font typeface="맑은 고딕" panose="020B0503020000020004" pitchFamily="34" charset="-12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CC4CAF-ADB4-1247-A82A-55F9E22BA0FF}" name="Dokyeong Kim" initials="DK" userId="S::dokyeong.kim@ghent.ac.kr::727a5127-dafd-4a25-b27f-6740190bb34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0"/>
    <a:srgbClr val="D2DBD3"/>
    <a:srgbClr val="F4EDE2"/>
    <a:srgbClr val="0434A0"/>
    <a:srgbClr val="797979"/>
    <a:srgbClr val="81A2B8"/>
    <a:srgbClr val="005088"/>
    <a:srgbClr val="0025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F53D7-9B75-4851-B865-342C777EFA24}" v="117" dt="2026-06-21T11:41:06.999"/>
    <p1510:client id="{4DB446E7-17A3-FB61-9BC7-1558B8655FE1}" v="15" dt="2026-06-21T21:26:30.759"/>
    <p1510:client id="{5CC472EF-8602-ED62-AE4D-BBFBFED41505}" v="117" dt="2026-06-21T12:10:04.162"/>
    <p1510:client id="{81330184-550D-4990-9480-1C86EBB01078}" v="73" dt="2026-06-21T22:42:04.233"/>
    <p1510:client id="{8DCFC2F9-4317-E10D-64A0-90AA475BD631}" v="689" dt="2026-06-21T05:57:28.840"/>
    <p1510:client id="{A84E121D-E23E-4416-B88D-FCD1C1BCAF3B}" v="2691" dt="2026-06-21T14:47:30.547"/>
    <p1510:client id="{B78CCD2B-4A2B-BA32-A5B1-A0950E0E1F3C}" v="1556" dt="2026-06-21T14:51:10.448"/>
    <p1510:client id="{E37F727D-8610-843E-D9F7-6DCDF313017D}" v="228" dt="2026-06-21T08:15:01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1753" autoAdjust="0"/>
  </p:normalViewPr>
  <p:slideViewPr>
    <p:cSldViewPr snapToGrid="0">
      <p:cViewPr varScale="1">
        <p:scale>
          <a:sx n="28" d="100"/>
          <a:sy n="28" d="100"/>
        </p:scale>
        <p:origin x="193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'[Chart in Microsoft PowerPoint]Sheet1'!$B$1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PowerPoint]Sheet1'!$A$2:$A$6</c:f>
              <c:strCache>
                <c:ptCount val="5"/>
                <c:pt idx="0">
                  <c:v>ConvNN</c:v>
                </c:pt>
                <c:pt idx="1">
                  <c:v>LSTM</c:v>
                </c:pt>
                <c:pt idx="2">
                  <c:v>FCNN</c:v>
                </c:pt>
                <c:pt idx="3">
                  <c:v>SVM</c:v>
                </c:pt>
                <c:pt idx="4">
                  <c:v>BepiPred-2.0</c:v>
                </c:pt>
              </c:strCache>
            </c:strRef>
          </c:cat>
          <c:val>
            <c:numRef>
              <c:f>'[Chart in Microsoft PowerPoint]Sheet1'!$B$2:$B$6</c:f>
              <c:numCache>
                <c:formatCode>General</c:formatCode>
                <c:ptCount val="5"/>
                <c:pt idx="0">
                  <c:v>0.93400000000000005</c:v>
                </c:pt>
                <c:pt idx="1">
                  <c:v>0.88300000000000001</c:v>
                </c:pt>
                <c:pt idx="2">
                  <c:v>0.81399999999999995</c:v>
                </c:pt>
                <c:pt idx="3">
                  <c:v>0.60099999999999998</c:v>
                </c:pt>
                <c:pt idx="4">
                  <c:v>0.50600000000000001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45-4A82-8CA7-A9463E05DB3E}"/>
            </c:ext>
          </c:extLst>
        </c:ser>
        <c:ser>
          <c:idx val="1"/>
          <c:order val="1"/>
          <c:tx>
            <c:strRef>
              <c:f>'[Chart in Microsoft PowerPoint]Sheet1'!$C$1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PowerPoint]Sheet1'!$A$2:$A$6</c:f>
              <c:strCache>
                <c:ptCount val="5"/>
                <c:pt idx="0">
                  <c:v>ConvNN</c:v>
                </c:pt>
                <c:pt idx="1">
                  <c:v>LSTM</c:v>
                </c:pt>
                <c:pt idx="2">
                  <c:v>FCNN</c:v>
                </c:pt>
                <c:pt idx="3">
                  <c:v>SVM</c:v>
                </c:pt>
                <c:pt idx="4">
                  <c:v>BepiPred-2.0</c:v>
                </c:pt>
              </c:strCache>
            </c:strRef>
          </c:cat>
          <c:val>
            <c:numRef>
              <c:f>'[Chart in Microsoft PowerPoint]Sheet1'!$C$2:$C$6</c:f>
              <c:numCache>
                <c:formatCode>General</c:formatCode>
                <c:ptCount val="5"/>
                <c:pt idx="0">
                  <c:v>0.88900000000000001</c:v>
                </c:pt>
                <c:pt idx="1">
                  <c:v>0.85</c:v>
                </c:pt>
                <c:pt idx="2">
                  <c:v>0.74099999999999999</c:v>
                </c:pt>
                <c:pt idx="3">
                  <c:v>0.72199999999999998</c:v>
                </c:pt>
                <c:pt idx="4">
                  <c:v>0.59899999999999998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45-4A82-8CA7-A9463E05DB3E}"/>
            </c:ext>
          </c:extLst>
        </c:ser>
        <c:ser>
          <c:idx val="2"/>
          <c:order val="2"/>
          <c:tx>
            <c:strRef>
              <c:f>'[Chart in Microsoft PowerPoint]Sheet1'!$D$1</c:f>
              <c:strCache>
                <c:ptCount val="1"/>
                <c:pt idx="0">
                  <c:v>F-measure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PowerPoint]Sheet1'!$A$2:$A$6</c:f>
              <c:strCache>
                <c:ptCount val="5"/>
                <c:pt idx="0">
                  <c:v>ConvNN</c:v>
                </c:pt>
                <c:pt idx="1">
                  <c:v>LSTM</c:v>
                </c:pt>
                <c:pt idx="2">
                  <c:v>FCNN</c:v>
                </c:pt>
                <c:pt idx="3">
                  <c:v>SVM</c:v>
                </c:pt>
                <c:pt idx="4">
                  <c:v>BepiPred-2.0</c:v>
                </c:pt>
              </c:strCache>
            </c:strRef>
          </c:cat>
          <c:val>
            <c:numRef>
              <c:f>'[Chart in Microsoft PowerPoint]Sheet1'!$D$2:$D$6</c:f>
              <c:numCache>
                <c:formatCode>General</c:formatCode>
                <c:ptCount val="5"/>
                <c:pt idx="0">
                  <c:v>0.871</c:v>
                </c:pt>
                <c:pt idx="1">
                  <c:v>0.83899999999999997</c:v>
                </c:pt>
                <c:pt idx="2">
                  <c:v>0.77800000000000002</c:v>
                </c:pt>
                <c:pt idx="3">
                  <c:v>0.67400000000000004</c:v>
                </c:pt>
                <c:pt idx="4">
                  <c:v>0.57899999999999996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45-4A82-8CA7-A9463E05DB3E}"/>
            </c:ext>
          </c:extLst>
        </c:ser>
        <c:ser>
          <c:idx val="3"/>
          <c:order val="3"/>
          <c:tx>
            <c:strRef>
              <c:f>'[Chart in Microsoft PowerPoint]Sheet1'!$E$1</c:f>
              <c:strCache>
                <c:ptCount val="1"/>
                <c:pt idx="0">
                  <c:v>MCC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'[Chart in Microsoft PowerPoint]Sheet1'!$A$2:$A$6</c:f>
              <c:strCache>
                <c:ptCount val="5"/>
                <c:pt idx="0">
                  <c:v>ConvNN</c:v>
                </c:pt>
                <c:pt idx="1">
                  <c:v>LSTM</c:v>
                </c:pt>
                <c:pt idx="2">
                  <c:v>FCNN</c:v>
                </c:pt>
                <c:pt idx="3">
                  <c:v>SVM</c:v>
                </c:pt>
                <c:pt idx="4">
                  <c:v>BepiPred-2.0</c:v>
                </c:pt>
              </c:strCache>
            </c:strRef>
          </c:cat>
          <c:val>
            <c:numRef>
              <c:f>'[Chart in Microsoft PowerPoint]Sheet1'!$E$2:$E$6</c:f>
              <c:numCache>
                <c:formatCode>General</c:formatCode>
                <c:ptCount val="5"/>
                <c:pt idx="0">
                  <c:v>0.74299999999999999</c:v>
                </c:pt>
                <c:pt idx="1">
                  <c:v>0.68</c:v>
                </c:pt>
                <c:pt idx="2">
                  <c:v>0.57399999999999995</c:v>
                </c:pt>
                <c:pt idx="3">
                  <c:v>0.35</c:v>
                </c:pt>
                <c:pt idx="4">
                  <c:v>0.16400000000000001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145-4A82-8CA7-A9463E05DB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61136336"/>
        <c:axId val="1361135376"/>
      </c:barChart>
      <c:catAx>
        <c:axId val="136113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61135376"/>
        <c:crosses val="autoZero"/>
        <c:auto val="1"/>
        <c:lblAlgn val="ctr"/>
        <c:lblOffset val="100"/>
        <c:noMultiLvlLbl val="0"/>
      </c:catAx>
      <c:valAx>
        <c:axId val="1361135376"/>
        <c:scaling>
          <c:orientation val="minMax"/>
          <c:max val="0.94000000000000006"/>
          <c:min val="0.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61136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459442980510876"/>
          <c:y val="0.89011922881490657"/>
          <c:w val="0.69081114038978253"/>
          <c:h val="8.91880322881211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65369-4115-4DEF-BD5C-2CC0B7933A9A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79C6F-6C35-460F-A68A-5A4719463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147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825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28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57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176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958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51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115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900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707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179C6F-6C35-460F-A68A-5A471946379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657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mpbiolchem.2023.107874" TargetMode="External"/><Relationship Id="rId2" Type="http://schemas.openxmlformats.org/officeDocument/2006/relationships/hyperlink" Target="https://www.abcam.com/en-us/technical-resources/guides/antibody-basics/antibody-basic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doi.org/10.1093/bioinformatics/btag006" TargetMode="External"/><Relationship Id="rId4" Type="http://schemas.openxmlformats.org/officeDocument/2006/relationships/hyperlink" Target="https://doi.org/10.1371/journal.pcbi.1014195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371600" y="1943100"/>
            <a:ext cx="15201900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B-CELL EPITOPE IDENTIFICATION USING </a:t>
            </a:r>
          </a:p>
          <a:p>
            <a:pPr algn="l"/>
            <a:r>
              <a:rPr lang="en-US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DEEP LEARNING MODELS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9033417"/>
            <a:ext cx="6427452" cy="1131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600" dirty="0">
                <a:solidFill>
                  <a:srgbClr val="797979"/>
                </a:solidFill>
                <a:latin typeface="+mj-lt"/>
                <a:ea typeface="Nunito"/>
                <a:cs typeface="Nunito"/>
                <a:sym typeface="Nunito"/>
              </a:rPr>
              <a:t>Jiyun Lee                         (02316434)</a:t>
            </a:r>
          </a:p>
          <a:p>
            <a:pPr algn="l">
              <a:lnSpc>
                <a:spcPts val="4540"/>
              </a:lnSpc>
            </a:pPr>
            <a:r>
              <a:rPr lang="en-US" sz="3600" dirty="0" err="1">
                <a:solidFill>
                  <a:srgbClr val="797979"/>
                </a:solidFill>
                <a:latin typeface="+mj-lt"/>
                <a:ea typeface="Nunito"/>
                <a:cs typeface="Nunito"/>
                <a:sym typeface="Nunito"/>
              </a:rPr>
              <a:t>Dokyeong</a:t>
            </a:r>
            <a:r>
              <a:rPr lang="en-US" sz="3600" dirty="0">
                <a:solidFill>
                  <a:srgbClr val="797979"/>
                </a:solidFill>
                <a:latin typeface="+mj-lt"/>
                <a:ea typeface="Nunito"/>
                <a:cs typeface="Nunito"/>
                <a:sym typeface="Nunito"/>
              </a:rPr>
              <a:t> Kim               (02503182)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7B7783A0-21D2-8B98-C5C0-475B9D48F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894E7F-C93A-B153-2E2B-80C90710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3FF53-9EF6-8CE6-A1C8-C4B080FA954F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1/11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3E5A9-6ABF-A85A-5819-0E8097454913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7708" y="1157592"/>
            <a:ext cx="10422463" cy="120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CONTENTS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D684976-13A3-8E12-24FB-96B8D1A49F53}"/>
              </a:ext>
            </a:extLst>
          </p:cNvPr>
          <p:cNvCxnSpPr/>
          <p:nvPr/>
        </p:nvCxnSpPr>
        <p:spPr>
          <a:xfrm>
            <a:off x="1315598" y="5985178"/>
            <a:ext cx="14630400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4A067755-20E0-EB79-43CF-06C2A91F2E99}"/>
              </a:ext>
            </a:extLst>
          </p:cNvPr>
          <p:cNvSpPr/>
          <p:nvPr/>
        </p:nvSpPr>
        <p:spPr>
          <a:xfrm>
            <a:off x="2400300" y="5669434"/>
            <a:ext cx="685800" cy="631487"/>
          </a:xfrm>
          <a:prstGeom prst="ellipse">
            <a:avLst/>
          </a:prstGeom>
          <a:solidFill>
            <a:srgbClr val="F4EDE2"/>
          </a:solid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48" descr="image.png">
            <a:extLst>
              <a:ext uri="{FF2B5EF4-FFF2-40B4-BE49-F238E27FC236}">
                <a16:creationId xmlns:a16="http://schemas.microsoft.com/office/drawing/2014/main" id="{89982AB8-B3B0-AF2E-EE9D-35D9795D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585405B7-878E-3D61-79DA-66AC6BFA08FA}"/>
              </a:ext>
            </a:extLst>
          </p:cNvPr>
          <p:cNvSpPr/>
          <p:nvPr/>
        </p:nvSpPr>
        <p:spPr>
          <a:xfrm>
            <a:off x="6213308" y="5699513"/>
            <a:ext cx="685800" cy="631487"/>
          </a:xfrm>
          <a:prstGeom prst="ellipse">
            <a:avLst/>
          </a:prstGeom>
          <a:solidFill>
            <a:srgbClr val="F4EDE2"/>
          </a:solid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3438139-981A-395B-86CB-179D15A4224A}"/>
              </a:ext>
            </a:extLst>
          </p:cNvPr>
          <p:cNvSpPr/>
          <p:nvPr/>
        </p:nvSpPr>
        <p:spPr>
          <a:xfrm>
            <a:off x="10076566" y="5729592"/>
            <a:ext cx="685800" cy="631487"/>
          </a:xfrm>
          <a:prstGeom prst="ellipse">
            <a:avLst/>
          </a:prstGeom>
          <a:solidFill>
            <a:srgbClr val="F4EDE2"/>
          </a:solid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CAD129E-50E1-0772-8EFA-36B5690EECB2}"/>
              </a:ext>
            </a:extLst>
          </p:cNvPr>
          <p:cNvSpPr/>
          <p:nvPr/>
        </p:nvSpPr>
        <p:spPr>
          <a:xfrm>
            <a:off x="14100126" y="5669434"/>
            <a:ext cx="685800" cy="631487"/>
          </a:xfrm>
          <a:prstGeom prst="ellipse">
            <a:avLst/>
          </a:prstGeom>
          <a:solidFill>
            <a:srgbClr val="F4EDE2"/>
          </a:solidFill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AB1784-40E3-9BAA-A16E-358C3E215480}"/>
              </a:ext>
            </a:extLst>
          </p:cNvPr>
          <p:cNvSpPr txBox="1"/>
          <p:nvPr/>
        </p:nvSpPr>
        <p:spPr>
          <a:xfrm>
            <a:off x="1385514" y="6330523"/>
            <a:ext cx="28956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b="1">
                <a:solidFill>
                  <a:srgbClr val="81A2B8"/>
                </a:solidFill>
              </a:rPr>
              <a:t>Step 01</a:t>
            </a:r>
          </a:p>
          <a:p>
            <a:pPr algn="ctr"/>
            <a:r>
              <a:rPr lang="en-US" altLang="ko-KR" sz="4000" b="1">
                <a:solidFill>
                  <a:srgbClr val="003050"/>
                </a:solidFill>
              </a:rPr>
              <a:t>Introduction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E8830E-1071-7E01-2AC7-F33A6CD09830}"/>
              </a:ext>
            </a:extLst>
          </p:cNvPr>
          <p:cNvSpPr txBox="1"/>
          <p:nvPr/>
        </p:nvSpPr>
        <p:spPr>
          <a:xfrm>
            <a:off x="8966411" y="6541553"/>
            <a:ext cx="28956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b="1">
                <a:solidFill>
                  <a:srgbClr val="81A2B8"/>
                </a:solidFill>
              </a:rPr>
              <a:t>Step 03</a:t>
            </a:r>
          </a:p>
          <a:p>
            <a:pPr algn="ctr"/>
            <a:r>
              <a:rPr lang="en-US" altLang="ko-KR" sz="4000" b="1">
                <a:solidFill>
                  <a:srgbClr val="003050"/>
                </a:solidFill>
              </a:rPr>
              <a:t>Limitation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8F5EE3-0D1E-0811-EB3D-BAF3683D2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FF256-0397-A964-0893-5D4830A35D99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>
                <a:solidFill>
                  <a:srgbClr val="003050"/>
                </a:solidFill>
                <a:ea typeface="맑은 고딕"/>
                <a:cs typeface="Calibri"/>
              </a:rPr>
              <a:t>2</a:t>
            </a:r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/11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8DA36-8D4A-9240-5C09-5E996B5DDA02}"/>
              </a:ext>
            </a:extLst>
          </p:cNvPr>
          <p:cNvSpPr txBox="1"/>
          <p:nvPr/>
        </p:nvSpPr>
        <p:spPr>
          <a:xfrm>
            <a:off x="1504575" y="7304697"/>
            <a:ext cx="43090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rPr>
              <a:t>Biological</a:t>
            </a:r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rPr>
              <a:t> </a:t>
            </a: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rPr>
              <a:t>Background</a:t>
            </a:r>
            <a:endParaRPr lang="ko-KR" sz="3000" dirty="0">
              <a:solidFill>
                <a:schemeClr val="bg1">
                  <a:lumMod val="49000"/>
                </a:schemeClr>
              </a:solidFill>
              <a:latin typeface="+mj-lt"/>
            </a:endParaRPr>
          </a:p>
          <a:p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rPr>
              <a:t>2. </a:t>
            </a: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rPr>
              <a:t>Types</a:t>
            </a:r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rPr>
              <a:t> of </a:t>
            </a: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rPr>
              <a:t>EPitope</a:t>
            </a:r>
            <a:endParaRPr lang="ko-KR" altLang="en-US" sz="3000" dirty="0">
              <a:solidFill>
                <a:schemeClr val="bg1">
                  <a:lumMod val="49000"/>
                </a:schemeClr>
              </a:solidFill>
              <a:latin typeface="+mj-lt"/>
              <a:ea typeface="맑은 고딕"/>
              <a:cs typeface="Calibri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D0EDD77-62FD-4020-7F09-759C5941F7C4}"/>
              </a:ext>
            </a:extLst>
          </p:cNvPr>
          <p:cNvGrpSpPr/>
          <p:nvPr/>
        </p:nvGrpSpPr>
        <p:grpSpPr>
          <a:xfrm>
            <a:off x="4719160" y="3517483"/>
            <a:ext cx="5357406" cy="2027264"/>
            <a:chOff x="4773589" y="4457700"/>
            <a:chExt cx="5357406" cy="202726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ADCFD30-8755-C3B3-8C43-24074F88FBDD}"/>
                </a:ext>
              </a:extLst>
            </p:cNvPr>
            <p:cNvSpPr txBox="1"/>
            <p:nvPr/>
          </p:nvSpPr>
          <p:spPr>
            <a:xfrm>
              <a:off x="4773589" y="4457700"/>
              <a:ext cx="3567918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500" b="1" dirty="0">
                  <a:solidFill>
                    <a:srgbClr val="81A2B8"/>
                  </a:solidFill>
                </a:rPr>
                <a:t>Step 02</a:t>
              </a:r>
            </a:p>
            <a:p>
              <a:pPr algn="ctr"/>
              <a:r>
                <a:rPr lang="en-US" altLang="ko-KR" sz="4000" b="1" dirty="0">
                  <a:solidFill>
                    <a:srgbClr val="003050"/>
                  </a:solidFill>
                </a:rPr>
                <a:t>Discussion</a:t>
              </a:r>
            </a:p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B7FAF26-82E8-79D6-D3A7-F72E219AC735}"/>
                </a:ext>
              </a:extLst>
            </p:cNvPr>
            <p:cNvSpPr txBox="1"/>
            <p:nvPr/>
          </p:nvSpPr>
          <p:spPr>
            <a:xfrm>
              <a:off x="5414916" y="5469301"/>
              <a:ext cx="4716079" cy="10156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AutoNum type="arabicPeriod"/>
              </a:pPr>
              <a:r>
                <a:rPr lang="ko-KR" altLang="en-US" sz="3000" dirty="0" err="1">
                  <a:solidFill>
                    <a:schemeClr val="bg1">
                      <a:lumMod val="49000"/>
                    </a:schemeClr>
                  </a:solidFill>
                  <a:latin typeface="+mj-lt"/>
                  <a:ea typeface="맑은 고딕"/>
                  <a:cs typeface="Calibri"/>
                </a:rPr>
                <a:t>Feature</a:t>
              </a:r>
              <a:r>
                <a:rPr lang="ko-KR" altLang="en-US" sz="3000" dirty="0">
                  <a:solidFill>
                    <a:schemeClr val="bg1">
                      <a:lumMod val="49000"/>
                    </a:schemeClr>
                  </a:solidFill>
                  <a:latin typeface="+mj-lt"/>
                  <a:ea typeface="맑은 고딕"/>
                  <a:cs typeface="Calibri"/>
                </a:rPr>
                <a:t> </a:t>
              </a:r>
              <a:r>
                <a:rPr lang="ko-KR" altLang="en-US" sz="3000" dirty="0" err="1">
                  <a:solidFill>
                    <a:schemeClr val="bg1">
                      <a:lumMod val="49000"/>
                    </a:schemeClr>
                  </a:solidFill>
                  <a:latin typeface="+mj-lt"/>
                  <a:ea typeface="맑은 고딕"/>
                  <a:cs typeface="Calibri"/>
                </a:rPr>
                <a:t>Encoding</a:t>
              </a:r>
              <a:r>
                <a:rPr lang="ko-KR" altLang="en-US" sz="3000" dirty="0">
                  <a:solidFill>
                    <a:schemeClr val="bg1">
                      <a:lumMod val="49000"/>
                    </a:schemeClr>
                  </a:solidFill>
                  <a:latin typeface="+mj-lt"/>
                  <a:ea typeface="맑은 고딕"/>
                  <a:cs typeface="Calibri"/>
                </a:rPr>
                <a:t>: PACVF</a:t>
              </a:r>
              <a:endParaRPr lang="ko-KR" sz="3000" dirty="0">
                <a:solidFill>
                  <a:schemeClr val="bg1">
                    <a:lumMod val="49000"/>
                  </a:schemeClr>
                </a:solidFill>
                <a:latin typeface="+mj-lt"/>
              </a:endParaRPr>
            </a:p>
            <a:p>
              <a:r>
                <a:rPr lang="ko-KR" altLang="en-US" sz="3000" dirty="0">
                  <a:solidFill>
                    <a:schemeClr val="bg1">
                      <a:lumMod val="49000"/>
                    </a:schemeClr>
                  </a:solidFill>
                  <a:latin typeface="+mj-lt"/>
                  <a:ea typeface="맑은 고딕"/>
                  <a:cs typeface="Calibri"/>
                </a:rPr>
                <a:t>2.  </a:t>
              </a:r>
              <a:r>
                <a:rPr lang="ko-KR" altLang="en-US" sz="3000" dirty="0" err="1">
                  <a:solidFill>
                    <a:schemeClr val="bg1">
                      <a:lumMod val="49000"/>
                    </a:schemeClr>
                  </a:solidFill>
                  <a:latin typeface="+mj-lt"/>
                  <a:ea typeface="맑은 고딕"/>
                  <a:cs typeface="Calibri"/>
                </a:rPr>
                <a:t>ConvNN</a:t>
              </a:r>
              <a:endParaRPr lang="ko-KR" altLang="en-US" sz="3000" dirty="0">
                <a:solidFill>
                  <a:schemeClr val="bg1">
                    <a:lumMod val="49000"/>
                  </a:schemeClr>
                </a:solidFill>
                <a:latin typeface="+mj-lt"/>
                <a:ea typeface="맑은 고딕"/>
                <a:cs typeface="Calibri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B1B2997-9BF9-7313-D235-B747F14EAFD1}"/>
              </a:ext>
            </a:extLst>
          </p:cNvPr>
          <p:cNvGrpSpPr/>
          <p:nvPr/>
        </p:nvGrpSpPr>
        <p:grpSpPr>
          <a:xfrm>
            <a:off x="13107372" y="3013842"/>
            <a:ext cx="3333443" cy="2527799"/>
            <a:chOff x="12989972" y="2400300"/>
            <a:chExt cx="3333443" cy="2527799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A1E229E-7EFB-C3AD-FEE8-AEC75E0FEA64}"/>
                </a:ext>
              </a:extLst>
            </p:cNvPr>
            <p:cNvSpPr txBox="1"/>
            <p:nvPr/>
          </p:nvSpPr>
          <p:spPr>
            <a:xfrm>
              <a:off x="12989972" y="2400300"/>
              <a:ext cx="2895600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500" b="1" dirty="0">
                  <a:solidFill>
                    <a:srgbClr val="81A2B8"/>
                  </a:solidFill>
                </a:rPr>
                <a:t>Step 04</a:t>
              </a:r>
            </a:p>
            <a:p>
              <a:pPr algn="ctr"/>
              <a:r>
                <a:rPr lang="en-US" altLang="ko-KR" sz="4000" b="1" dirty="0">
                  <a:solidFill>
                    <a:srgbClr val="003050"/>
                  </a:solidFill>
                </a:rPr>
                <a:t>Innovation</a:t>
              </a:r>
            </a:p>
            <a:p>
              <a:pPr algn="ctr"/>
              <a:endParaRPr lang="en-US" altLang="ko-KR" sz="3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9A2FA1-E923-6184-F53F-B72AA5B6D043}"/>
                </a:ext>
              </a:extLst>
            </p:cNvPr>
            <p:cNvSpPr txBox="1"/>
            <p:nvPr/>
          </p:nvSpPr>
          <p:spPr>
            <a:xfrm>
              <a:off x="13255362" y="3450771"/>
              <a:ext cx="3068053" cy="14773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 rtl="0"/>
              <a:r>
                <a:rPr lang="en-US" altLang="ko-KR" sz="3000" dirty="0">
                  <a:solidFill>
                    <a:srgbClr val="7F7F7F"/>
                  </a:solidFill>
                  <a:latin typeface="Calibri"/>
                  <a:ea typeface="Malgun Gothic"/>
                  <a:cs typeface="맑은 고딕"/>
                </a:rPr>
                <a:t>1. </a:t>
              </a:r>
              <a:r>
                <a:rPr lang="en-US" altLang="ko-KR" sz="3000" dirty="0" err="1">
                  <a:solidFill>
                    <a:srgbClr val="7F7F7F"/>
                  </a:solidFill>
                  <a:latin typeface="Calibri"/>
                  <a:ea typeface="Malgun Gothic"/>
                  <a:cs typeface="맑은 고딕"/>
                </a:rPr>
                <a:t>GraphBepi</a:t>
              </a:r>
              <a:endParaRPr lang="ko-KR" sz="3000" b="0" i="0" dirty="0">
                <a:solidFill>
                  <a:srgbClr val="7F7F7F"/>
                </a:solidFill>
                <a:latin typeface="Calibri"/>
                <a:ea typeface="Malgun Gothic"/>
                <a:cs typeface="맑은 고딕"/>
              </a:endParaRPr>
            </a:p>
            <a:p>
              <a:r>
                <a:rPr lang="en-US" altLang="ko-KR" sz="3000" dirty="0">
                  <a:solidFill>
                    <a:srgbClr val="7F7F7F"/>
                  </a:solidFill>
                  <a:ea typeface="Malgun Gothic"/>
                </a:rPr>
                <a:t>2. </a:t>
              </a:r>
              <a:r>
                <a:rPr lang="en-US" altLang="ko-KR" sz="3000" dirty="0" err="1">
                  <a:solidFill>
                    <a:srgbClr val="7F7F7F"/>
                  </a:solidFill>
                  <a:ea typeface="Malgun Gothic"/>
                </a:rPr>
                <a:t>MsgaBpred</a:t>
              </a:r>
              <a:endParaRPr lang="en-US" altLang="ko-KR" sz="3000" dirty="0">
                <a:solidFill>
                  <a:srgbClr val="7F7F7F"/>
                </a:solidFill>
                <a:ea typeface="Malgun Gothic"/>
                <a:cs typeface="Calibri"/>
              </a:endParaRPr>
            </a:p>
            <a:p>
              <a:r>
                <a:rPr lang="en-US" altLang="ko-KR" sz="3000" dirty="0">
                  <a:solidFill>
                    <a:srgbClr val="7F7F7F"/>
                  </a:solidFill>
                  <a:ea typeface="Malgun Gothic"/>
                  <a:cs typeface="Calibri"/>
                </a:rPr>
                <a:t>3. </a:t>
              </a:r>
              <a:r>
                <a:rPr lang="en-US" altLang="ko-KR" sz="3000" dirty="0" err="1">
                  <a:solidFill>
                    <a:srgbClr val="7F7F7F"/>
                  </a:solidFill>
                  <a:ea typeface="Malgun Gothic"/>
                  <a:cs typeface="Calibri"/>
                </a:rPr>
                <a:t>RoBep</a:t>
              </a:r>
              <a:endParaRPr lang="en-US" altLang="ko-KR" sz="3000" dirty="0">
                <a:solidFill>
                  <a:srgbClr val="7F7F7F"/>
                </a:solidFill>
                <a:ea typeface="Malgun Gothic"/>
                <a:cs typeface="Calibri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3DEC8CF-C3FE-B44F-2D41-2610E1CF5A02}"/>
              </a:ext>
            </a:extLst>
          </p:cNvPr>
          <p:cNvSpPr txBox="1"/>
          <p:nvPr/>
        </p:nvSpPr>
        <p:spPr>
          <a:xfrm>
            <a:off x="9299747" y="7627256"/>
            <a:ext cx="571505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Linear</a:t>
            </a:r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 </a:t>
            </a: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vs</a:t>
            </a:r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 </a:t>
            </a: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Static</a:t>
            </a:r>
            <a:endParaRPr lang="ko-KR" sz="3000" dirty="0">
              <a:solidFill>
                <a:schemeClr val="bg1">
                  <a:lumMod val="49000"/>
                </a:schemeClr>
              </a:solidFill>
            </a:endParaRPr>
          </a:p>
          <a:p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2</a:t>
            </a:r>
            <a:r>
              <a:rPr lang="en-US" altLang="ko-KR" sz="3000" dirty="0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.</a:t>
            </a:r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 </a:t>
            </a:r>
            <a:r>
              <a:rPr lang="ko-KR" sz="3000" dirty="0" err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Feature-engineering</a:t>
            </a:r>
            <a:r>
              <a:rPr lang="en-US" altLang="ko-KR" sz="3000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ko-KR" sz="3000" dirty="0" err="1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dependence</a:t>
            </a:r>
            <a:endParaRPr lang="ko-KR" sz="300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3. </a:t>
            </a: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Biological</a:t>
            </a:r>
            <a:r>
              <a:rPr lang="ko-KR" altLang="en-US" sz="3000" dirty="0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 </a:t>
            </a:r>
            <a:r>
              <a:rPr lang="ko-KR" altLang="en-US" sz="3000" dirty="0" err="1">
                <a:solidFill>
                  <a:schemeClr val="bg1">
                    <a:lumMod val="49000"/>
                  </a:schemeClr>
                </a:solidFill>
                <a:ea typeface="맑은 고딕"/>
                <a:cs typeface="Calibri"/>
              </a:rPr>
              <a:t>Interpretability</a:t>
            </a:r>
            <a:endParaRPr lang="ko-KR" altLang="en-US" sz="3000" dirty="0">
              <a:solidFill>
                <a:schemeClr val="bg1">
                  <a:lumMod val="49000"/>
                </a:schemeClr>
              </a:solidFill>
              <a:ea typeface="맑은 고딕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1E041-995B-643A-9F09-E003D00A6117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028700" y="2419350"/>
            <a:ext cx="8973635" cy="6133587"/>
          </a:xfrm>
          <a:custGeom>
            <a:avLst/>
            <a:gdLst/>
            <a:ahLst/>
            <a:cxnLst/>
            <a:rect l="l" t="t" r="r" b="b"/>
            <a:pathLst>
              <a:path w="7563585" h="4166382">
                <a:moveTo>
                  <a:pt x="0" y="0"/>
                </a:moveTo>
                <a:lnTo>
                  <a:pt x="7563585" y="0"/>
                </a:lnTo>
                <a:lnTo>
                  <a:pt x="7563585" y="4166382"/>
                </a:lnTo>
                <a:lnTo>
                  <a:pt x="0" y="4166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algn="ctr"/>
            <a:endParaRPr lang="ko-KR" altLang="en-US"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D1FF36C7-245E-0BB4-1E62-9C1AEF8FA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D2047190-D7B7-7F76-A0C8-3810FB0DD908}"/>
              </a:ext>
            </a:extLst>
          </p:cNvPr>
          <p:cNvSpPr txBox="1"/>
          <p:nvPr/>
        </p:nvSpPr>
        <p:spPr>
          <a:xfrm>
            <a:off x="1028700" y="920929"/>
            <a:ext cx="12496800" cy="1204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Biological 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AFAF1-3622-4AE2-1A6E-448F672B89E1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3/11</a:t>
            </a:r>
          </a:p>
        </p:txBody>
      </p:sp>
      <p:sp>
        <p:nvSpPr>
          <p:cNvPr id="8" name="Rectangle: Rounded Corners 13">
            <a:extLst>
              <a:ext uri="{FF2B5EF4-FFF2-40B4-BE49-F238E27FC236}">
                <a16:creationId xmlns:a16="http://schemas.microsoft.com/office/drawing/2014/main" id="{86C95DFA-DCA3-B991-13EF-2D52694C18AE}"/>
              </a:ext>
            </a:extLst>
          </p:cNvPr>
          <p:cNvSpPr/>
          <p:nvPr/>
        </p:nvSpPr>
        <p:spPr>
          <a:xfrm>
            <a:off x="10291923" y="2148273"/>
            <a:ext cx="5958273" cy="63990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4000" b="1" dirty="0">
                <a:solidFill>
                  <a:srgbClr val="003050"/>
                </a:solidFill>
                <a:ea typeface="Calibri"/>
              </a:rPr>
              <a:t>B-Cell Epitope </a:t>
            </a:r>
            <a:endParaRPr lang="ko-KR" altLang="en-US" sz="4000" b="1" dirty="0">
              <a:solidFill>
                <a:srgbClr val="000000"/>
              </a:solidFill>
              <a:ea typeface="맑은 고딕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3200" dirty="0">
              <a:solidFill>
                <a:srgbClr val="003050"/>
              </a:solidFill>
              <a:ea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3200" dirty="0">
                <a:solidFill>
                  <a:srgbClr val="003050"/>
                </a:solidFill>
                <a:ea typeface="Calibri"/>
              </a:rPr>
              <a:t>Target: Specific amino acid region on the antigen surface </a:t>
            </a:r>
            <a:endParaRPr lang="ko-KR" altLang="en-US" sz="3200" dirty="0">
              <a:solidFill>
                <a:srgbClr val="000000"/>
              </a:solidFill>
              <a:ea typeface="맑은 고딕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3200" dirty="0">
                <a:solidFill>
                  <a:srgbClr val="003050"/>
                </a:solidFill>
                <a:ea typeface="Calibri"/>
              </a:rPr>
              <a:t>Mechanism: Selectively recognized and bound </a:t>
            </a:r>
            <a:endParaRPr lang="en-US" sz="32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3200" dirty="0">
                <a:solidFill>
                  <a:srgbClr val="003050"/>
                </a:solidFill>
                <a:ea typeface="Calibri"/>
              </a:rPr>
              <a:t>Interact with: Antibodies or B-cell receptors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0EC0A6-946F-540E-211D-9D3411BEE6D4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237D5B-FAD6-8353-EF21-8EF45111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AEE70DA3-7DD1-223F-1E06-ADE4E0F5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E51C84FD-B0D3-BF23-151A-79F9394F646F}"/>
              </a:ext>
            </a:extLst>
          </p:cNvPr>
          <p:cNvSpPr txBox="1"/>
          <p:nvPr/>
        </p:nvSpPr>
        <p:spPr>
          <a:xfrm>
            <a:off x="1028700" y="920929"/>
            <a:ext cx="12496800" cy="1204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Types of Epitope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5D9BF-52A9-29EE-7073-B563AC73F018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4/11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7329EDB-20A4-2C83-FA00-3F381CD6F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91" y="2576804"/>
            <a:ext cx="14741834" cy="72360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115CB5-EF96-044D-61E8-CD7BD5918AE4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10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56129" y="710783"/>
            <a:ext cx="15868833" cy="2222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US" altLang="ko-KR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Feature Encoding : PACVF</a:t>
            </a:r>
          </a:p>
          <a:p>
            <a:pPr>
              <a:lnSpc>
                <a:spcPts val="8974"/>
              </a:lnSpc>
            </a:pPr>
            <a:r>
              <a:rPr lang="en-US" sz="5600">
                <a:solidFill>
                  <a:srgbClr val="797979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(Position and Amino acid Composition Variant Feature)</a:t>
            </a:r>
            <a:r>
              <a:rPr lang="en-US" sz="5700">
                <a:solidFill>
                  <a:srgbClr val="797979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4B22A46B-38C4-F8E5-70EB-E605AFD24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pic>
        <p:nvPicPr>
          <p:cNvPr id="14" name="Picture 13" descr="Generated figure">
            <a:extLst>
              <a:ext uri="{FF2B5EF4-FFF2-40B4-BE49-F238E27FC236}">
                <a16:creationId xmlns:a16="http://schemas.microsoft.com/office/drawing/2014/main" id="{797E8C38-B810-41DF-C488-8BD616789F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18" b="2590"/>
          <a:stretch>
            <a:fillRect/>
          </a:stretch>
        </p:blipFill>
        <p:spPr>
          <a:xfrm>
            <a:off x="797245" y="3171735"/>
            <a:ext cx="15679271" cy="7010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A82878-0160-B378-AEB4-F296A94274E1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5/11</a:t>
            </a:r>
          </a:p>
        </p:txBody>
      </p:sp>
      <p:pic>
        <p:nvPicPr>
          <p:cNvPr id="2" name="Picture 1" descr="Generated figure">
            <a:extLst>
              <a:ext uri="{FF2B5EF4-FFF2-40B4-BE49-F238E27FC236}">
                <a16:creationId xmlns:a16="http://schemas.microsoft.com/office/drawing/2014/main" id="{7399957E-3C5F-E356-50EA-1F476F225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2" t="22175" r="78736" b="58166"/>
          <a:stretch>
            <a:fillRect/>
          </a:stretch>
        </p:blipFill>
        <p:spPr>
          <a:xfrm>
            <a:off x="856129" y="4082445"/>
            <a:ext cx="3213100" cy="1511300"/>
          </a:xfrm>
          <a:prstGeom prst="rect">
            <a:avLst/>
          </a:prstGeom>
        </p:spPr>
      </p:pic>
      <p:pic>
        <p:nvPicPr>
          <p:cNvPr id="3" name="Picture 2" descr="Generated figure">
            <a:extLst>
              <a:ext uri="{FF2B5EF4-FFF2-40B4-BE49-F238E27FC236}">
                <a16:creationId xmlns:a16="http://schemas.microsoft.com/office/drawing/2014/main" id="{2A4B06F3-1B52-8F12-AF0F-35772C32A3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40" t="6218" r="63046" b="50401"/>
          <a:stretch>
            <a:fillRect/>
          </a:stretch>
        </p:blipFill>
        <p:spPr>
          <a:xfrm>
            <a:off x="4279900" y="3307202"/>
            <a:ext cx="2463800" cy="3334898"/>
          </a:xfrm>
          <a:prstGeom prst="rect">
            <a:avLst/>
          </a:prstGeom>
        </p:spPr>
      </p:pic>
      <p:pic>
        <p:nvPicPr>
          <p:cNvPr id="5" name="Picture 4" descr="Generated figure">
            <a:extLst>
              <a:ext uri="{FF2B5EF4-FFF2-40B4-BE49-F238E27FC236}">
                <a16:creationId xmlns:a16="http://schemas.microsoft.com/office/drawing/2014/main" id="{74331194-5E95-A5D5-CCF2-EB976CF574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601" t="15071" r="38261" b="53210"/>
          <a:stretch>
            <a:fillRect/>
          </a:stretch>
        </p:blipFill>
        <p:spPr>
          <a:xfrm>
            <a:off x="6705600" y="3834795"/>
            <a:ext cx="3784600" cy="2438400"/>
          </a:xfrm>
          <a:prstGeom prst="rect">
            <a:avLst/>
          </a:prstGeom>
        </p:spPr>
      </p:pic>
      <p:pic>
        <p:nvPicPr>
          <p:cNvPr id="8" name="Picture 7" descr="Generated figure">
            <a:extLst>
              <a:ext uri="{FF2B5EF4-FFF2-40B4-BE49-F238E27FC236}">
                <a16:creationId xmlns:a16="http://schemas.microsoft.com/office/drawing/2014/main" id="{7526B48E-9B8F-A9E4-B199-D29EE584AC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578" t="14906" r="26354" b="53376"/>
          <a:stretch>
            <a:fillRect/>
          </a:stretch>
        </p:blipFill>
        <p:spPr>
          <a:xfrm>
            <a:off x="10462284" y="3834795"/>
            <a:ext cx="1892300" cy="2438400"/>
          </a:xfrm>
          <a:prstGeom prst="rect">
            <a:avLst/>
          </a:prstGeom>
        </p:spPr>
      </p:pic>
      <p:pic>
        <p:nvPicPr>
          <p:cNvPr id="9" name="Picture 8" descr="Generated figure">
            <a:extLst>
              <a:ext uri="{FF2B5EF4-FFF2-40B4-BE49-F238E27FC236}">
                <a16:creationId xmlns:a16="http://schemas.microsoft.com/office/drawing/2014/main" id="{1EB5C91F-63FB-194E-5E84-836E730C9E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322" t="15071" r="2540" b="53210"/>
          <a:stretch>
            <a:fillRect/>
          </a:stretch>
        </p:blipFill>
        <p:spPr>
          <a:xfrm>
            <a:off x="12354584" y="3834795"/>
            <a:ext cx="3784600" cy="2438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C90E285-25DF-53AB-7846-7099F328C25D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82CC1-A059-F99B-30E0-951903EA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79B767A-0DA7-9762-39A2-2F00678D2553}"/>
              </a:ext>
            </a:extLst>
          </p:cNvPr>
          <p:cNvSpPr txBox="1"/>
          <p:nvPr/>
        </p:nvSpPr>
        <p:spPr>
          <a:xfrm>
            <a:off x="838200" y="876300"/>
            <a:ext cx="16012886" cy="2209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US" altLang="ko-KR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Results</a:t>
            </a:r>
          </a:p>
          <a:p>
            <a:pPr>
              <a:lnSpc>
                <a:spcPts val="8974"/>
              </a:lnSpc>
            </a:pPr>
            <a:r>
              <a:rPr lang="en-US" sz="5600">
                <a:solidFill>
                  <a:srgbClr val="797979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BF6050E-C39F-ED19-4A27-B2D550A2E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9FE95E-E81A-1220-6BE2-16969921B8A5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6/11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53854FD3-026D-EF22-9EC1-6D743B527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2619408"/>
              </p:ext>
            </p:extLst>
          </p:nvPr>
        </p:nvGraphicFramePr>
        <p:xfrm>
          <a:off x="516639" y="2014644"/>
          <a:ext cx="7624429" cy="4985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7C596C6-9D57-9BF9-B063-ED15ED7D5CEB}"/>
              </a:ext>
            </a:extLst>
          </p:cNvPr>
          <p:cNvSpPr txBox="1"/>
          <p:nvPr/>
        </p:nvSpPr>
        <p:spPr>
          <a:xfrm>
            <a:off x="516639" y="7000204"/>
            <a:ext cx="1446163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4000" dirty="0" err="1">
                <a:solidFill>
                  <a:srgbClr val="003050"/>
                </a:solidFill>
              </a:rPr>
              <a:t>ConvNN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showed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the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strongest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candidate-screening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performance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by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ranking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likely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pBCEs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higher</a:t>
            </a:r>
            <a:r>
              <a:rPr lang="ko-KR" altLang="ko-KR" sz="4000" dirty="0">
                <a:solidFill>
                  <a:srgbClr val="003050"/>
                </a:solidFill>
              </a:rPr>
              <a:t>, </a:t>
            </a:r>
            <a:r>
              <a:rPr lang="ko-KR" altLang="ko-KR" sz="4000" dirty="0" err="1">
                <a:solidFill>
                  <a:srgbClr val="003050"/>
                </a:solidFill>
              </a:rPr>
              <a:t>filtering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out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nBCEs</a:t>
            </a:r>
            <a:r>
              <a:rPr lang="ko-KR" altLang="ko-KR" sz="4000" dirty="0">
                <a:solidFill>
                  <a:srgbClr val="003050"/>
                </a:solidFill>
              </a:rPr>
              <a:t>, and </a:t>
            </a:r>
            <a:r>
              <a:rPr lang="ko-KR" altLang="ko-KR" sz="4000" dirty="0" err="1">
                <a:solidFill>
                  <a:srgbClr val="003050"/>
                </a:solidFill>
              </a:rPr>
              <a:t>maintaining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balanced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classification</a:t>
            </a:r>
            <a:r>
              <a:rPr lang="ko-KR" altLang="ko-KR" sz="4000" dirty="0">
                <a:solidFill>
                  <a:srgbClr val="003050"/>
                </a:solidFill>
              </a:rPr>
              <a:t>.</a:t>
            </a:r>
            <a:endParaRPr lang="ko-KR" altLang="ko-KR" sz="4000" dirty="0">
              <a:solidFill>
                <a:srgbClr val="003050"/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E1DA0E-2939-1D39-053E-037577FE9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507496"/>
              </p:ext>
            </p:extLst>
          </p:nvPr>
        </p:nvGraphicFramePr>
        <p:xfrm>
          <a:off x="8350370" y="2014644"/>
          <a:ext cx="8375961" cy="4899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201">
                  <a:extLst>
                    <a:ext uri="{9D8B030D-6E8A-4147-A177-3AD203B41FA5}">
                      <a16:colId xmlns:a16="http://schemas.microsoft.com/office/drawing/2014/main" val="3437107991"/>
                    </a:ext>
                  </a:extLst>
                </a:gridCol>
                <a:gridCol w="1402728">
                  <a:extLst>
                    <a:ext uri="{9D8B030D-6E8A-4147-A177-3AD203B41FA5}">
                      <a16:colId xmlns:a16="http://schemas.microsoft.com/office/drawing/2014/main" val="1542184656"/>
                    </a:ext>
                  </a:extLst>
                </a:gridCol>
                <a:gridCol w="1856092">
                  <a:extLst>
                    <a:ext uri="{9D8B030D-6E8A-4147-A177-3AD203B41FA5}">
                      <a16:colId xmlns:a16="http://schemas.microsoft.com/office/drawing/2014/main" val="1083969623"/>
                    </a:ext>
                  </a:extLst>
                </a:gridCol>
                <a:gridCol w="1853245">
                  <a:extLst>
                    <a:ext uri="{9D8B030D-6E8A-4147-A177-3AD203B41FA5}">
                      <a16:colId xmlns:a16="http://schemas.microsoft.com/office/drawing/2014/main" val="2401567406"/>
                    </a:ext>
                  </a:extLst>
                </a:gridCol>
                <a:gridCol w="1151695">
                  <a:extLst>
                    <a:ext uri="{9D8B030D-6E8A-4147-A177-3AD203B41FA5}">
                      <a16:colId xmlns:a16="http://schemas.microsoft.com/office/drawing/2014/main" val="2066917173"/>
                    </a:ext>
                  </a:extLst>
                </a:gridCol>
              </a:tblGrid>
              <a:tr h="778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>
                          <a:solidFill>
                            <a:srgbClr val="003050"/>
                          </a:solidFill>
                          <a:latin typeface="+mj-lt"/>
                        </a:rPr>
                        <a:t>Model</a:t>
                      </a:r>
                      <a:endParaRPr lang="ko-KR" altLang="en-US" sz="300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B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 err="1">
                          <a:solidFill>
                            <a:srgbClr val="003050"/>
                          </a:solidFill>
                          <a:latin typeface="+mj-lt"/>
                        </a:rPr>
                        <a:t>mAP</a:t>
                      </a:r>
                      <a:endParaRPr lang="en-US" altLang="ko-KR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B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Specificity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B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F-measure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BD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MCC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552154"/>
                  </a:ext>
                </a:extLst>
              </a:tr>
              <a:tr h="778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1" dirty="0" err="1">
                          <a:solidFill>
                            <a:srgbClr val="003050"/>
                          </a:solidFill>
                          <a:latin typeface="+mj-lt"/>
                        </a:rPr>
                        <a:t>ConvNN</a:t>
                      </a:r>
                      <a:endParaRPr lang="ko-KR" altLang="en-US" sz="3000" b="1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1" dirty="0">
                          <a:solidFill>
                            <a:srgbClr val="003050"/>
                          </a:solidFill>
                          <a:latin typeface="+mj-lt"/>
                        </a:rPr>
                        <a:t>0.934</a:t>
                      </a:r>
                      <a:endParaRPr lang="ko-KR" altLang="en-US" sz="3000" b="1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1" dirty="0">
                          <a:solidFill>
                            <a:srgbClr val="003050"/>
                          </a:solidFill>
                          <a:latin typeface="+mj-lt"/>
                        </a:rPr>
                        <a:t>0.889</a:t>
                      </a:r>
                      <a:endParaRPr lang="ko-KR" altLang="en-US" sz="3000" b="1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1" dirty="0">
                          <a:solidFill>
                            <a:srgbClr val="003050"/>
                          </a:solidFill>
                          <a:latin typeface="+mj-lt"/>
                        </a:rPr>
                        <a:t>0.871</a:t>
                      </a:r>
                      <a:endParaRPr lang="ko-KR" altLang="en-US" sz="3000" b="1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b="1" dirty="0">
                          <a:solidFill>
                            <a:srgbClr val="003050"/>
                          </a:solidFill>
                          <a:latin typeface="+mj-lt"/>
                        </a:rPr>
                        <a:t>0.743</a:t>
                      </a:r>
                      <a:endParaRPr lang="ko-KR" altLang="en-US" sz="3000" b="1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62893"/>
                  </a:ext>
                </a:extLst>
              </a:tr>
              <a:tr h="778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LSTM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0.883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0.850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0.839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3000" kern="1200" dirty="0">
                          <a:solidFill>
                            <a:srgbClr val="003050"/>
                          </a:solidFill>
                          <a:latin typeface="+mn-lt"/>
                          <a:ea typeface="+mn-ea"/>
                          <a:cs typeface="+mn-cs"/>
                        </a:rPr>
                        <a:t>0.680</a:t>
                      </a:r>
                      <a:endParaRPr lang="ko-KR" altLang="en-US" sz="3000" kern="1200" dirty="0">
                        <a:solidFill>
                          <a:srgbClr val="003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98282"/>
                  </a:ext>
                </a:extLst>
              </a:tr>
              <a:tr h="778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FCNN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>
                          <a:solidFill>
                            <a:srgbClr val="003050"/>
                          </a:solidFill>
                          <a:latin typeface="+mj-lt"/>
                        </a:rPr>
                        <a:t>0.814</a:t>
                      </a:r>
                      <a:endParaRPr lang="ko-KR" altLang="en-US" sz="300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0.741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0.778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0.574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717502"/>
                  </a:ext>
                </a:extLst>
              </a:tr>
              <a:tr h="778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SVM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0.601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0.722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0.350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0.674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254017"/>
                  </a:ext>
                </a:extLst>
              </a:tr>
              <a:tr h="778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BepiPred-2.0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>
                          <a:solidFill>
                            <a:srgbClr val="003050"/>
                          </a:solidFill>
                          <a:latin typeface="+mj-lt"/>
                        </a:rPr>
                        <a:t>0.506</a:t>
                      </a:r>
                      <a:endParaRPr lang="ko-KR" altLang="en-US" sz="300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>
                          <a:solidFill>
                            <a:srgbClr val="003050"/>
                          </a:solidFill>
                          <a:latin typeface="+mj-lt"/>
                        </a:rPr>
                        <a:t>0.599</a:t>
                      </a:r>
                      <a:endParaRPr lang="ko-KR" altLang="en-US" sz="300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0.579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000" dirty="0">
                          <a:solidFill>
                            <a:srgbClr val="003050"/>
                          </a:solidFill>
                          <a:latin typeface="+mj-lt"/>
                        </a:rPr>
                        <a:t>0.164</a:t>
                      </a:r>
                      <a:endParaRPr lang="ko-KR" altLang="en-US" sz="3000" dirty="0">
                        <a:solidFill>
                          <a:srgbClr val="003050"/>
                        </a:solidFill>
                        <a:latin typeface="+mj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ED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63608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AB987A-C9A1-5D09-600B-8BFFC2164EA6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191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02337E-E881-8E35-6F51-D47CDCF42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8E290477-4317-4A14-E8CD-FA72E0A80E74}"/>
              </a:ext>
            </a:extLst>
          </p:cNvPr>
          <p:cNvSpPr txBox="1"/>
          <p:nvPr/>
        </p:nvSpPr>
        <p:spPr>
          <a:xfrm>
            <a:off x="1025457" y="876300"/>
            <a:ext cx="17259300" cy="220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US" altLang="ko-KR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Why </a:t>
            </a:r>
            <a:r>
              <a:rPr lang="en-US" altLang="ko-KR" sz="10000" b="1" err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ConvNN</a:t>
            </a:r>
            <a:r>
              <a:rPr lang="en-US" altLang="ko-KR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 </a:t>
            </a:r>
            <a:r>
              <a:rPr lang="en-US" altLang="ko-KR" sz="10000" b="1" err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Perfomed</a:t>
            </a:r>
            <a:r>
              <a:rPr lang="en-US" altLang="ko-KR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 best</a:t>
            </a:r>
          </a:p>
          <a:p>
            <a:pPr>
              <a:lnSpc>
                <a:spcPts val="8974"/>
              </a:lnSpc>
            </a:pPr>
            <a:r>
              <a:rPr lang="en-US" sz="5600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(</a:t>
            </a:r>
            <a:r>
              <a:rPr lang="ko-KR" altLang="ko-KR" sz="5600" err="1">
                <a:solidFill>
                  <a:srgbClr val="003050"/>
                </a:solidFill>
                <a:latin typeface="+mj-lt"/>
              </a:rPr>
              <a:t>Convolutional</a:t>
            </a:r>
            <a:r>
              <a:rPr lang="ko-KR" altLang="ko-KR" sz="5600">
                <a:solidFill>
                  <a:srgbClr val="003050"/>
                </a:solidFill>
                <a:latin typeface="+mj-lt"/>
              </a:rPr>
              <a:t> </a:t>
            </a:r>
            <a:r>
              <a:rPr lang="ko-KR" altLang="ko-KR" sz="5600" err="1">
                <a:solidFill>
                  <a:srgbClr val="003050"/>
                </a:solidFill>
                <a:latin typeface="+mj-lt"/>
              </a:rPr>
              <a:t>Neural</a:t>
            </a:r>
            <a:r>
              <a:rPr lang="ko-KR" altLang="ko-KR" sz="5600">
                <a:solidFill>
                  <a:srgbClr val="003050"/>
                </a:solidFill>
                <a:latin typeface="+mj-lt"/>
              </a:rPr>
              <a:t> Network</a:t>
            </a:r>
            <a:r>
              <a:rPr lang="en-US" altLang="ko-KR" sz="5600">
                <a:solidFill>
                  <a:srgbClr val="003050"/>
                </a:solidFill>
                <a:latin typeface="+mj-lt"/>
              </a:rPr>
              <a:t>)</a:t>
            </a:r>
            <a:r>
              <a:rPr lang="en-US" sz="5600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 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FD25784C-A6B8-5BCF-2D8C-7B7FD9F61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7FAFE2-1895-9F07-B6A9-F7E17E5435FA}"/>
              </a:ext>
            </a:extLst>
          </p:cNvPr>
          <p:cNvSpPr txBox="1"/>
          <p:nvPr/>
        </p:nvSpPr>
        <p:spPr>
          <a:xfrm>
            <a:off x="1025457" y="7201314"/>
            <a:ext cx="14948810" cy="24006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4522"/>
              </a:lnSpc>
            </a:pPr>
            <a:r>
              <a:rPr lang="ko-KR" altLang="ko-KR" sz="4000" dirty="0" err="1">
                <a:solidFill>
                  <a:srgbClr val="003050"/>
                </a:solidFill>
              </a:rPr>
              <a:t>ConvNN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performed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better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because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linear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epitopes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contain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short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local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patterns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that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convolution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filters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can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detect</a:t>
            </a:r>
            <a:r>
              <a:rPr lang="ko-KR" altLang="ko-KR" sz="4000" dirty="0">
                <a:solidFill>
                  <a:srgbClr val="003050"/>
                </a:solidFill>
              </a:rPr>
              <a:t>,</a:t>
            </a:r>
            <a:endParaRPr lang="en-US" altLang="ko-KR" sz="4000" dirty="0">
              <a:solidFill>
                <a:srgbClr val="003050"/>
              </a:solidFill>
            </a:endParaRPr>
          </a:p>
          <a:p>
            <a:pPr>
              <a:lnSpc>
                <a:spcPts val="4522"/>
              </a:lnSpc>
            </a:pPr>
            <a:r>
              <a:rPr lang="ko-KR" altLang="ko-KR" sz="4000" dirty="0" err="1">
                <a:solidFill>
                  <a:srgbClr val="003050"/>
                </a:solidFill>
              </a:rPr>
              <a:t>while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LSTM’s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advantage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in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learning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raw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sequence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dependency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is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limited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after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sequences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are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converted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into</a:t>
            </a:r>
            <a:r>
              <a:rPr lang="ko-KR" altLang="ko-KR" sz="4000" dirty="0">
                <a:solidFill>
                  <a:srgbClr val="003050"/>
                </a:solidFill>
              </a:rPr>
              <a:t> </a:t>
            </a:r>
            <a:r>
              <a:rPr lang="ko-KR" altLang="ko-KR" sz="4000" dirty="0" err="1">
                <a:solidFill>
                  <a:srgbClr val="003050"/>
                </a:solidFill>
              </a:rPr>
              <a:t>fixed-size</a:t>
            </a:r>
            <a:r>
              <a:rPr lang="ko-KR" altLang="ko-KR" sz="4000" dirty="0">
                <a:solidFill>
                  <a:srgbClr val="003050"/>
                </a:solidFill>
              </a:rPr>
              <a:t> PACVF </a:t>
            </a:r>
            <a:r>
              <a:rPr lang="ko-KR" altLang="ko-KR" sz="4000" dirty="0" err="1">
                <a:solidFill>
                  <a:srgbClr val="003050"/>
                </a:solidFill>
              </a:rPr>
              <a:t>vectors</a:t>
            </a:r>
            <a:r>
              <a:rPr lang="ko-KR" altLang="ko-KR" sz="4000" dirty="0">
                <a:solidFill>
                  <a:srgbClr val="003050"/>
                </a:solidFill>
              </a:rPr>
              <a:t>.</a:t>
            </a:r>
            <a:endParaRPr lang="en-US" altLang="ko-KR" sz="4000" dirty="0">
              <a:solidFill>
                <a:srgbClr val="003050"/>
              </a:solidFill>
              <a:ea typeface="맑은 고딕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51516-AA8F-B03A-EEAF-CD8176457A62}"/>
              </a:ext>
            </a:extLst>
          </p:cNvPr>
          <p:cNvSpPr txBox="1"/>
          <p:nvPr/>
        </p:nvSpPr>
        <p:spPr>
          <a:xfrm>
            <a:off x="15974267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7/11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3BCC69-48FB-6BB1-93BB-26762C0686EB}"/>
              </a:ext>
            </a:extLst>
          </p:cNvPr>
          <p:cNvSpPr/>
          <p:nvPr/>
        </p:nvSpPr>
        <p:spPr>
          <a:xfrm>
            <a:off x="1025457" y="3883116"/>
            <a:ext cx="4003743" cy="2238551"/>
          </a:xfrm>
          <a:prstGeom prst="roundRect">
            <a:avLst/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>
                <a:solidFill>
                  <a:srgbClr val="003050"/>
                </a:solidFill>
              </a:rPr>
              <a:t>Feature Engineering</a:t>
            </a:r>
          </a:p>
          <a:p>
            <a:pPr algn="ctr"/>
            <a:r>
              <a:rPr lang="en-US" altLang="ko-KR" sz="4000" b="1">
                <a:solidFill>
                  <a:srgbClr val="003050"/>
                </a:solidFill>
              </a:rPr>
              <a:t>(PACVF)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A2AE8F-F07F-BCB1-62F1-23786DF40D2A}"/>
              </a:ext>
            </a:extLst>
          </p:cNvPr>
          <p:cNvSpPr/>
          <p:nvPr/>
        </p:nvSpPr>
        <p:spPr>
          <a:xfrm>
            <a:off x="6404453" y="3883116"/>
            <a:ext cx="4003743" cy="2238551"/>
          </a:xfrm>
          <a:prstGeom prst="roundRect">
            <a:avLst/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err="1">
                <a:solidFill>
                  <a:srgbClr val="003050"/>
                </a:solidFill>
              </a:rPr>
              <a:t>ConvNN</a:t>
            </a:r>
            <a:endParaRPr lang="en-US" altLang="ko-KR" sz="4000" b="1">
              <a:solidFill>
                <a:srgbClr val="00305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724F56-4480-E49E-4D95-C4E7B396D678}"/>
              </a:ext>
            </a:extLst>
          </p:cNvPr>
          <p:cNvSpPr/>
          <p:nvPr/>
        </p:nvSpPr>
        <p:spPr>
          <a:xfrm>
            <a:off x="11783449" y="3883116"/>
            <a:ext cx="4003743" cy="2238551"/>
          </a:xfrm>
          <a:prstGeom prst="roundRect">
            <a:avLst/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err="1">
                <a:solidFill>
                  <a:srgbClr val="003050"/>
                </a:solidFill>
              </a:rPr>
              <a:t>pBCE</a:t>
            </a:r>
            <a:r>
              <a:rPr lang="en-US" altLang="ko-KR" sz="4000" b="1">
                <a:solidFill>
                  <a:srgbClr val="003050"/>
                </a:solidFill>
              </a:rPr>
              <a:t>/</a:t>
            </a:r>
            <a:r>
              <a:rPr lang="en-US" altLang="ko-KR" sz="4000" b="1" err="1">
                <a:solidFill>
                  <a:srgbClr val="003050"/>
                </a:solidFill>
              </a:rPr>
              <a:t>nBCE</a:t>
            </a:r>
            <a:endParaRPr lang="en-US" altLang="ko-KR" sz="4000" b="1">
              <a:solidFill>
                <a:srgbClr val="003050"/>
              </a:solidFill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CC3BF6B-5283-81C4-96BC-B7CBD56AC1FB}"/>
              </a:ext>
            </a:extLst>
          </p:cNvPr>
          <p:cNvSpPr/>
          <p:nvPr/>
        </p:nvSpPr>
        <p:spPr>
          <a:xfrm>
            <a:off x="5172999" y="4639761"/>
            <a:ext cx="1087655" cy="899228"/>
          </a:xfrm>
          <a:prstGeom prst="rightArrow">
            <a:avLst>
              <a:gd name="adj1" fmla="val 37155"/>
              <a:gd name="adj2" fmla="val 50000"/>
            </a:avLst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4042CD4-7DBD-9FDE-2BB8-C54673AECF9D}"/>
              </a:ext>
            </a:extLst>
          </p:cNvPr>
          <p:cNvSpPr/>
          <p:nvPr/>
        </p:nvSpPr>
        <p:spPr>
          <a:xfrm>
            <a:off x="10551995" y="4639761"/>
            <a:ext cx="1087655" cy="899228"/>
          </a:xfrm>
          <a:prstGeom prst="rightArrow">
            <a:avLst>
              <a:gd name="adj1" fmla="val 37155"/>
              <a:gd name="adj2" fmla="val 50000"/>
            </a:avLst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F9BB64-BF16-E2F7-0205-E5AD87B7B1DE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070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857250"/>
            <a:ext cx="8359435" cy="120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100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LIMITATIONS</a:t>
            </a:r>
          </a:p>
        </p:txBody>
      </p:sp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52009800-7CBE-67EE-F15E-5F997D4EC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2EA270C9-090F-698D-5DA4-8E6E49C5552A}"/>
              </a:ext>
            </a:extLst>
          </p:cNvPr>
          <p:cNvSpPr txBox="1"/>
          <p:nvPr/>
        </p:nvSpPr>
        <p:spPr>
          <a:xfrm>
            <a:off x="1028700" y="2837505"/>
            <a:ext cx="8572500" cy="1277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300" b="1" dirty="0">
                <a:solidFill>
                  <a:srgbClr val="003050"/>
                </a:solidFill>
                <a:ea typeface="+mn-lt"/>
                <a:cs typeface="+mn-lt"/>
                <a:sym typeface="Nunito Bold"/>
              </a:rPr>
              <a:t>1. Linear &amp; Static Sequence Views</a:t>
            </a:r>
            <a:endParaRPr lang="ko-KR" altLang="en-US" sz="4300" dirty="0">
              <a:solidFill>
                <a:srgbClr val="00305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sz="4000" dirty="0" err="1">
                <a:solidFill>
                  <a:srgbClr val="003050"/>
                </a:solidFill>
                <a:ea typeface="+mn-lt"/>
                <a:cs typeface="+mn-lt"/>
              </a:rPr>
              <a:t>Missing</a:t>
            </a:r>
            <a:r>
              <a:rPr lang="ko-KR" sz="4000" dirty="0">
                <a:solidFill>
                  <a:srgbClr val="003050"/>
                </a:solidFill>
                <a:ea typeface="+mn-lt"/>
                <a:cs typeface="+mn-lt"/>
              </a:rPr>
              <a:t> 3D </a:t>
            </a:r>
            <a:r>
              <a:rPr lang="ko-KR" sz="4000" dirty="0" err="1">
                <a:solidFill>
                  <a:srgbClr val="003050"/>
                </a:solidFill>
                <a:ea typeface="+mn-lt"/>
                <a:cs typeface="+mn-lt"/>
              </a:rPr>
              <a:t>spatial</a:t>
            </a:r>
            <a:r>
              <a:rPr lang="ko-KR" sz="4000" dirty="0">
                <a:solidFill>
                  <a:srgbClr val="003050"/>
                </a:solidFill>
                <a:ea typeface="+mn-lt"/>
                <a:cs typeface="+mn-lt"/>
              </a:rPr>
              <a:t> </a:t>
            </a:r>
            <a:r>
              <a:rPr lang="ko-KR" sz="4000" dirty="0" err="1">
                <a:solidFill>
                  <a:srgbClr val="003050"/>
                </a:solidFill>
                <a:ea typeface="+mn-lt"/>
                <a:cs typeface="+mn-lt"/>
              </a:rPr>
              <a:t>information</a:t>
            </a:r>
            <a:endParaRPr lang="ko-KR" altLang="en-US" sz="4000" dirty="0">
              <a:solidFill>
                <a:srgbClr val="003050"/>
              </a:solidFill>
              <a:ea typeface="+mn-lt"/>
              <a:cs typeface="+mn-lt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BE1FD5D7-140E-2FBD-C2D0-BFBB9566BB12}"/>
              </a:ext>
            </a:extLst>
          </p:cNvPr>
          <p:cNvSpPr txBox="1"/>
          <p:nvPr/>
        </p:nvSpPr>
        <p:spPr>
          <a:xfrm>
            <a:off x="1028700" y="4890857"/>
            <a:ext cx="13640221" cy="1854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300" b="1" dirty="0">
                <a:solidFill>
                  <a:srgbClr val="003050"/>
                </a:solidFill>
                <a:ea typeface="+mn-lt"/>
                <a:cs typeface="+mn-lt"/>
                <a:sym typeface="Nunito Bold"/>
              </a:rPr>
              <a:t>2. Feature Engineering Dependence</a:t>
            </a:r>
            <a:endParaRPr lang="ko-KR" altLang="en-US" sz="4300" dirty="0">
              <a:solidFill>
                <a:srgbClr val="003050"/>
              </a:solidFill>
              <a:ea typeface="맑은 고딕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solidFill>
                  <a:srgbClr val="003050"/>
                </a:solidFill>
                <a:ea typeface="+mn-lt"/>
                <a:cs typeface="+mn-lt"/>
                <a:sym typeface="Nunito Bold"/>
              </a:rPr>
              <a:t>Limited automatic representation learning</a:t>
            </a:r>
            <a:endParaRPr lang="en-US" sz="4000" dirty="0">
              <a:solidFill>
                <a:srgbClr val="003050"/>
              </a:solidFill>
              <a:ea typeface="Calibri"/>
              <a:cs typeface="Calibri"/>
            </a:endParaRPr>
          </a:p>
          <a:p>
            <a:pPr>
              <a:lnSpc>
                <a:spcPts val="4522"/>
              </a:lnSpc>
            </a:pPr>
            <a:endParaRPr lang="en-US" sz="4000" b="1" dirty="0">
              <a:solidFill>
                <a:srgbClr val="003050"/>
              </a:solidFill>
              <a:ea typeface="Calibri"/>
              <a:cs typeface="Calibri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01282A52-7AC4-963C-8352-5970A59717C3}"/>
              </a:ext>
            </a:extLst>
          </p:cNvPr>
          <p:cNvSpPr txBox="1"/>
          <p:nvPr/>
        </p:nvSpPr>
        <p:spPr>
          <a:xfrm>
            <a:off x="1046804" y="7111511"/>
            <a:ext cx="13640221" cy="1892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300" b="1" dirty="0">
                <a:solidFill>
                  <a:srgbClr val="003050"/>
                </a:solidFill>
                <a:ea typeface="+mn-lt"/>
                <a:cs typeface="+mn-lt"/>
                <a:sym typeface="Nunito Bold"/>
              </a:rPr>
              <a:t>3. </a:t>
            </a:r>
            <a:r>
              <a:rPr lang="en-US" sz="4300" b="1" dirty="0">
                <a:solidFill>
                  <a:srgbClr val="003050"/>
                </a:solidFill>
                <a:sym typeface="Nunito Bold"/>
              </a:rPr>
              <a:t>Limited Biological Realism</a:t>
            </a:r>
            <a:endParaRPr lang="en-US" altLang="ko-KR" sz="4300" b="1" dirty="0">
              <a:solidFill>
                <a:srgbClr val="003050"/>
              </a:solidFill>
              <a:ea typeface="맑은 고딕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4000" dirty="0">
                <a:solidFill>
                  <a:srgbClr val="003050"/>
                </a:solidFill>
                <a:ea typeface="+mn-lt"/>
                <a:cs typeface="+mn-lt"/>
                <a:sym typeface="Nunito Bold"/>
              </a:rPr>
              <a:t>Ignores dynamic antigen–antibody interactions</a:t>
            </a:r>
            <a:endParaRPr lang="en-US" sz="4000" dirty="0">
              <a:solidFill>
                <a:srgbClr val="003050"/>
              </a:solidFill>
              <a:ea typeface="+mn-lt"/>
              <a:cs typeface="+mn-lt"/>
            </a:endParaRPr>
          </a:p>
          <a:p>
            <a:endParaRPr lang="en-US" sz="4000" b="1" dirty="0">
              <a:solidFill>
                <a:srgbClr val="003050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71BB5-7AF9-53AB-C194-55C94F7C5559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8/11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015F6A-9456-5DE5-27B4-DC4996A41588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A1888-A0A1-E469-1045-F386B42F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C9A0C994-2FCB-B5BC-8F78-CC7447652E1B}"/>
              </a:ext>
            </a:extLst>
          </p:cNvPr>
          <p:cNvSpPr txBox="1"/>
          <p:nvPr/>
        </p:nvSpPr>
        <p:spPr>
          <a:xfrm>
            <a:off x="1061126" y="926294"/>
            <a:ext cx="13850218" cy="1204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74"/>
              </a:lnSpc>
            </a:pPr>
            <a:r>
              <a:rPr lang="en-US" sz="10000" b="1">
                <a:solidFill>
                  <a:srgbClr val="003050"/>
                </a:solidFill>
                <a:latin typeface="Calibri"/>
                <a:sym typeface="Agrandir Wide Bold"/>
              </a:rPr>
              <a:t>Innovation</a:t>
            </a:r>
            <a:endParaRPr lang="en-US" sz="10000" b="1">
              <a:solidFill>
                <a:srgbClr val="003050"/>
              </a:solidFill>
              <a:ea typeface="Calibri"/>
              <a:cs typeface="Calibri"/>
            </a:endParaRP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F3DE6E2E-8470-D72F-DAD7-C7F576DCD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02866B-F6F7-98E6-9EAF-2581972EA68A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9/11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7E4F687-0196-338B-6237-27C9D8580A1A}"/>
              </a:ext>
            </a:extLst>
          </p:cNvPr>
          <p:cNvSpPr/>
          <p:nvPr/>
        </p:nvSpPr>
        <p:spPr>
          <a:xfrm>
            <a:off x="1027665" y="2558265"/>
            <a:ext cx="4761852" cy="6140635"/>
          </a:xfrm>
          <a:prstGeom prst="roundRect">
            <a:avLst/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4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GraphBepi</a:t>
            </a:r>
            <a:endParaRPr lang="en-US" altLang="ko-KR" sz="4000" b="1" dirty="0">
              <a:solidFill>
                <a:srgbClr val="003050"/>
              </a:solidFill>
              <a:latin typeface="Calibri"/>
              <a:ea typeface="Calibri"/>
              <a:cs typeface="Calibri"/>
            </a:endParaRPr>
          </a:p>
          <a:p>
            <a:endParaRPr lang="en-US" altLang="ko-KR" sz="2800" dirty="0">
              <a:solidFill>
                <a:srgbClr val="003050"/>
              </a:solidFill>
              <a:latin typeface="Calibri"/>
              <a:ea typeface="Calibri"/>
              <a:cs typeface="Calibri"/>
            </a:endParaRPr>
          </a:p>
          <a:p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AlphaFold2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+EGNN</a:t>
            </a:r>
            <a:endParaRPr lang="ko-KR" altLang="en-US" sz="3300" dirty="0">
              <a:solidFill>
                <a:srgbClr val="000000"/>
              </a:solidFill>
              <a:latin typeface="Calibri"/>
              <a:ea typeface="Malgun Gothic"/>
              <a:cs typeface="Calibri"/>
            </a:endParaRPr>
          </a:p>
          <a:p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ESM-2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altLang="ko-KR" sz="33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BiLSTM</a:t>
            </a:r>
            <a:endParaRPr lang="en-US" sz="3300" dirty="0">
              <a:latin typeface="Calibri"/>
              <a:ea typeface="Calibri"/>
              <a:cs typeface="Calibri"/>
            </a:endParaRPr>
          </a:p>
          <a:p>
            <a:endParaRPr lang="en-US" altLang="ko-KR" sz="3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Linear/Static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View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➔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3D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Spatial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</a:t>
            </a:r>
          </a:p>
          <a:p>
            <a:pPr marL="342900" indent="-342900">
              <a:buFont typeface="Arial"/>
              <a:buChar char="•"/>
            </a:pPr>
            <a:endParaRPr lang="en-US" altLang="ko-KR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altLang="ko-KR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altLang="ko-KR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A083D03-6C3D-78C8-6C51-A0F3B92858F4}"/>
              </a:ext>
            </a:extLst>
          </p:cNvPr>
          <p:cNvSpPr/>
          <p:nvPr/>
        </p:nvSpPr>
        <p:spPr>
          <a:xfrm>
            <a:off x="6290535" y="2552141"/>
            <a:ext cx="4761852" cy="6140634"/>
          </a:xfrm>
          <a:prstGeom prst="roundRect">
            <a:avLst/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40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MsgaBpred</a:t>
            </a:r>
            <a:endParaRPr lang="ko-KR" sz="4000" b="1" dirty="0">
              <a:solidFill>
                <a:srgbClr val="003050"/>
              </a:solidFill>
              <a:latin typeface="Calibri"/>
              <a:ea typeface="Malgun Gothic"/>
              <a:cs typeface="Calibri"/>
            </a:endParaRPr>
          </a:p>
          <a:p>
            <a:endParaRPr lang="en-US" altLang="ko-KR" sz="2800" dirty="0">
              <a:solidFill>
                <a:srgbClr val="003050"/>
              </a:solidFill>
              <a:latin typeface="Calibri"/>
              <a:ea typeface="Calibri"/>
              <a:cs typeface="Calibri"/>
            </a:endParaRPr>
          </a:p>
          <a:p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AlphaFold3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ESM-C,</a:t>
            </a:r>
          </a:p>
          <a:p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Multi-Scale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Distance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Scanning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GCN</a:t>
            </a:r>
            <a:endParaRPr lang="en-US" sz="33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altLang="ko-KR" sz="33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Linear/Static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Views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➔ </a:t>
            </a:r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Dynamic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3D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Interaction,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Feature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Blurring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➔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Multi-Scale</a:t>
            </a:r>
            <a:r>
              <a:rPr lang="ko-KR" altLang="en-US" sz="3300" dirty="0">
                <a:solidFill>
                  <a:srgbClr val="000000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altLang="ko-KR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Precision</a:t>
            </a:r>
            <a:endParaRPr lang="en-US" sz="33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54E1411-D21B-4150-CA88-AB45D6FA3D57}"/>
              </a:ext>
            </a:extLst>
          </p:cNvPr>
          <p:cNvSpPr/>
          <p:nvPr/>
        </p:nvSpPr>
        <p:spPr>
          <a:xfrm>
            <a:off x="11553405" y="2552141"/>
            <a:ext cx="4761852" cy="6142589"/>
          </a:xfrm>
          <a:prstGeom prst="roundRect">
            <a:avLst/>
          </a:prstGeom>
          <a:solidFill>
            <a:srgbClr val="D2DBD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4000" b="1" dirty="0" err="1">
                <a:solidFill>
                  <a:srgbClr val="000000"/>
                </a:solidFill>
                <a:latin typeface="Malgun Gothic"/>
                <a:ea typeface="Malgun Gothic"/>
                <a:cs typeface="Calibri"/>
              </a:rPr>
              <a:t>RoBep</a:t>
            </a:r>
            <a:endParaRPr lang="ko-KR" sz="4000" b="1" dirty="0">
              <a:solidFill>
                <a:srgbClr val="003050"/>
              </a:solidFill>
              <a:latin typeface="Calibri"/>
              <a:ea typeface="Malgun Gothic"/>
              <a:cs typeface="Calibri"/>
            </a:endParaRPr>
          </a:p>
          <a:p>
            <a:endParaRPr lang="en-US" altLang="ko-KR" sz="2800" dirty="0">
              <a:solidFill>
                <a:srgbClr val="003050"/>
              </a:solidFill>
              <a:latin typeface="Calibri"/>
              <a:ea typeface="Calibri"/>
              <a:cs typeface="Calibri"/>
            </a:endParaRPr>
          </a:p>
          <a:p>
            <a:r>
              <a:rPr lang="en-US" sz="33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ESM-C + GNN </a:t>
            </a:r>
            <a:endParaRPr lang="en-US" sz="33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altLang="ko-KR" sz="3300" dirty="0">
              <a:solidFill>
                <a:srgbClr val="00305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Linear/Static</a:t>
            </a:r>
            <a:r>
              <a:rPr lang="ko-KR" sz="3300" dirty="0">
                <a:solidFill>
                  <a:schemeClr val="tx1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Views</a:t>
            </a:r>
            <a:r>
              <a:rPr lang="ko-KR" sz="3300" dirty="0">
                <a:solidFill>
                  <a:schemeClr val="tx1"/>
                </a:solidFill>
                <a:latin typeface="Calibri"/>
                <a:ea typeface="Malgun Gothic"/>
                <a:cs typeface="Calibri"/>
              </a:rPr>
              <a:t> ➔ </a:t>
            </a: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Dynamic</a:t>
            </a:r>
            <a:r>
              <a:rPr lang="ko-KR" sz="3300" dirty="0">
                <a:solidFill>
                  <a:schemeClr val="tx1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3D</a:t>
            </a:r>
            <a:r>
              <a:rPr lang="ko-KR" sz="3300" dirty="0">
                <a:solidFill>
                  <a:schemeClr val="tx1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Interaction</a:t>
            </a:r>
            <a:endParaRPr lang="ko-KR" altLang="en-US" sz="33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MSA</a:t>
            </a:r>
            <a:r>
              <a:rPr lang="ko-KR" sz="3300" dirty="0">
                <a:solidFill>
                  <a:schemeClr val="tx1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Bottleneck</a:t>
            </a:r>
            <a:r>
              <a:rPr lang="ko-KR" sz="3300" dirty="0">
                <a:solidFill>
                  <a:schemeClr val="tx1"/>
                </a:solidFill>
                <a:latin typeface="Calibri"/>
                <a:ea typeface="Malgun Gothic"/>
                <a:cs typeface="Calibri"/>
              </a:rPr>
              <a:t> ➔ </a:t>
            </a: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Computational</a:t>
            </a:r>
            <a:r>
              <a:rPr lang="ko-KR" sz="3300" dirty="0">
                <a:solidFill>
                  <a:schemeClr val="tx1"/>
                </a:solidFill>
                <a:latin typeface="Calibri"/>
                <a:ea typeface="Malgun Gothic"/>
                <a:cs typeface="Calibri"/>
              </a:rPr>
              <a:t> </a:t>
            </a:r>
            <a:r>
              <a:rPr lang="en-US" sz="33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Efficiency</a:t>
            </a:r>
          </a:p>
          <a:p>
            <a:pPr marL="342900" indent="-342900">
              <a:buFont typeface="Arial"/>
              <a:buChar char="•"/>
            </a:pPr>
            <a:endParaRPr lang="en-US" altLang="ko-KR" sz="28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2FC7B4-C16D-30B6-FD36-9D6BE2892F0A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77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685168"/>
            <a:ext cx="8891934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8800" b="1">
                <a:solidFill>
                  <a:srgbClr val="003050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0841" y="2403727"/>
            <a:ext cx="13770401" cy="2833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1200" dirty="0">
                <a:latin typeface="+mj-lt"/>
                <a:ea typeface="Calibri"/>
                <a:cs typeface="Calibri"/>
              </a:rPr>
              <a:t>Abcam. (2024). </a:t>
            </a:r>
            <a:r>
              <a:rPr lang="en-US" sz="1200" i="1" dirty="0">
                <a:latin typeface="+mj-lt"/>
                <a:ea typeface="Calibri"/>
                <a:cs typeface="Calibri"/>
              </a:rPr>
              <a:t>Antibody basics</a:t>
            </a:r>
            <a:r>
              <a:rPr lang="en-US" sz="1200" dirty="0">
                <a:latin typeface="+mj-lt"/>
                <a:ea typeface="Calibri"/>
                <a:cs typeface="Calibri"/>
              </a:rPr>
              <a:t>. Abcam.com. </a:t>
            </a:r>
            <a:r>
              <a:rPr lang="en-US" sz="1200" dirty="0">
                <a:latin typeface="+mj-lt"/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https://www.abcam.com/en-us/technical-resources/guides/antibody-basics/antibody-basics</a:t>
            </a:r>
            <a:endParaRPr lang="ko-KR" altLang="en-US" sz="1200" dirty="0">
              <a:ea typeface="맑은 고딕"/>
              <a:cs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200" dirty="0">
                <a:latin typeface="+mj-lt"/>
                <a:ea typeface="Calibri"/>
                <a:cs typeface="Calibri"/>
              </a:rPr>
              <a:t>‌</a:t>
            </a:r>
            <a:endParaRPr lang="en-US" sz="1200" dirty="0">
              <a:ea typeface="Calibri"/>
              <a:cs typeface="Calibri"/>
            </a:endParaRPr>
          </a:p>
          <a:p>
            <a:endParaRPr lang="en-US" sz="1200" dirty="0">
              <a:latin typeface="+mj-lt"/>
              <a:ea typeface="Calibri"/>
              <a:cs typeface="Calibri"/>
            </a:endParaRPr>
          </a:p>
          <a:p>
            <a:r>
              <a:rPr lang="en-US" sz="1200" dirty="0">
                <a:latin typeface="+mj-lt"/>
                <a:ea typeface="Calibri"/>
                <a:cs typeface="Calibri"/>
              </a:rPr>
              <a:t>Attique, M., </a:t>
            </a:r>
            <a:r>
              <a:rPr lang="en-US" sz="1200" dirty="0" err="1">
                <a:latin typeface="+mj-lt"/>
                <a:ea typeface="Calibri"/>
                <a:cs typeface="Calibri"/>
              </a:rPr>
              <a:t>Alkhalifah</a:t>
            </a:r>
            <a:r>
              <a:rPr lang="en-US" sz="1200" dirty="0">
                <a:latin typeface="+mj-lt"/>
                <a:ea typeface="Calibri"/>
                <a:cs typeface="Calibri"/>
              </a:rPr>
              <a:t>, T., </a:t>
            </a:r>
            <a:r>
              <a:rPr lang="en-US" sz="1200" dirty="0" err="1">
                <a:latin typeface="+mj-lt"/>
                <a:ea typeface="Calibri"/>
                <a:cs typeface="Calibri"/>
              </a:rPr>
              <a:t>Alturise</a:t>
            </a:r>
            <a:r>
              <a:rPr lang="en-US" sz="1200" dirty="0">
                <a:latin typeface="+mj-lt"/>
                <a:ea typeface="Calibri"/>
                <a:cs typeface="Calibri"/>
              </a:rPr>
              <a:t>, F., &amp; Khan, Y. D. (2023). </a:t>
            </a:r>
            <a:r>
              <a:rPr lang="en-US" sz="1200" dirty="0" err="1">
                <a:latin typeface="+mj-lt"/>
                <a:ea typeface="Calibri"/>
                <a:cs typeface="Calibri"/>
              </a:rPr>
              <a:t>DeepBCE</a:t>
            </a:r>
            <a:r>
              <a:rPr lang="en-US" sz="1200" dirty="0">
                <a:latin typeface="+mj-lt"/>
                <a:ea typeface="Calibri"/>
                <a:cs typeface="Calibri"/>
              </a:rPr>
              <a:t>: Evaluation of deep learning models for identification of immunogenic B-cell epitopes. </a:t>
            </a:r>
            <a:r>
              <a:rPr lang="en-US" sz="1200" i="1" dirty="0">
                <a:latin typeface="+mj-lt"/>
                <a:ea typeface="Calibri"/>
                <a:cs typeface="Calibri"/>
              </a:rPr>
              <a:t>Computational Biology and Chemistry</a:t>
            </a:r>
            <a:r>
              <a:rPr lang="en-US" sz="1200" dirty="0">
                <a:latin typeface="+mj-lt"/>
                <a:ea typeface="Calibri"/>
                <a:cs typeface="Calibri"/>
              </a:rPr>
              <a:t>, </a:t>
            </a:r>
            <a:r>
              <a:rPr lang="en-US" sz="1200" i="1" dirty="0">
                <a:latin typeface="+mj-lt"/>
                <a:ea typeface="Calibri"/>
                <a:cs typeface="Calibri"/>
              </a:rPr>
              <a:t>104</a:t>
            </a:r>
            <a:r>
              <a:rPr lang="en-US" sz="1200" dirty="0">
                <a:latin typeface="+mj-lt"/>
                <a:ea typeface="Calibri"/>
                <a:cs typeface="Calibri"/>
              </a:rPr>
              <a:t>, 107874. </a:t>
            </a:r>
            <a:r>
              <a:rPr lang="en-US" sz="1200" dirty="0">
                <a:latin typeface="+mj-lt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https://doi.org/10.1016/j.compbiolchem.2023.107874</a:t>
            </a:r>
            <a:r>
              <a:rPr lang="en-US" sz="1200" dirty="0">
                <a:latin typeface="+mj-lt"/>
                <a:ea typeface="Calibri"/>
                <a:cs typeface="Calibri"/>
              </a:rPr>
              <a:t>‌</a:t>
            </a:r>
            <a:endParaRPr lang="en-US" sz="12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00" i="1" dirty="0">
              <a:latin typeface="+mj-lt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200" dirty="0">
                <a:latin typeface="+mj-lt"/>
                <a:ea typeface="Calibri"/>
                <a:cs typeface="Calibri"/>
                <a:sym typeface="Nunito"/>
              </a:rPr>
              <a:t>Wang, S., Geng, A., Luo, Z., Li, Y., Xu, J., Meng, Y., Wei, L., Zou, Q., Zhang, Z., Wang, T., &amp; Cui, F. (2026). </a:t>
            </a:r>
            <a:r>
              <a:rPr lang="en-US" sz="1200" dirty="0" err="1">
                <a:latin typeface="+mj-lt"/>
                <a:ea typeface="Calibri"/>
                <a:cs typeface="Calibri"/>
                <a:sym typeface="Nunito"/>
              </a:rPr>
              <a:t>MsgaBpred</a:t>
            </a:r>
            <a:r>
              <a:rPr lang="en-US" sz="1200" dirty="0">
                <a:latin typeface="+mj-lt"/>
                <a:ea typeface="Calibri"/>
                <a:cs typeface="Calibri"/>
                <a:sym typeface="Nunito"/>
              </a:rPr>
              <a:t>: A B-cell epitope predictor integrating AlphaFold3-predicted structures with multi-scale GCNs and pre-trained language model ESM-C. </a:t>
            </a:r>
            <a:r>
              <a:rPr lang="en-US" sz="1200" i="1" dirty="0" err="1">
                <a:latin typeface="+mj-lt"/>
                <a:ea typeface="Calibri"/>
                <a:cs typeface="Calibri"/>
                <a:sym typeface="Nunito"/>
              </a:rPr>
              <a:t>PLoS</a:t>
            </a:r>
            <a:r>
              <a:rPr lang="en-US" sz="1200" i="1" dirty="0">
                <a:latin typeface="+mj-lt"/>
                <a:ea typeface="Calibri"/>
                <a:cs typeface="Calibri"/>
                <a:sym typeface="Nunito"/>
              </a:rPr>
              <a:t> Computational Biology, 22</a:t>
            </a:r>
            <a:r>
              <a:rPr lang="en-US" sz="1200" dirty="0">
                <a:latin typeface="+mj-lt"/>
                <a:ea typeface="Calibri"/>
                <a:cs typeface="Calibri"/>
                <a:sym typeface="Nunito"/>
              </a:rPr>
              <a:t>(4), e1014195. </a:t>
            </a:r>
            <a:endParaRPr lang="ko-KR" altLang="en-US" sz="1200" dirty="0">
              <a:latin typeface="+mj-lt"/>
              <a:ea typeface="맑은 고딕" panose="020B0503020000020004" pitchFamily="34" charset="-127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lang="en-US" sz="1200" dirty="0">
                <a:latin typeface="+mj-lt"/>
                <a:ea typeface="Calibri"/>
                <a:cs typeface="Calibri"/>
                <a:sym typeface="Nunito"/>
                <a:hlinkClick r:id="rId4"/>
              </a:rPr>
              <a:t>https://doi.org/10.1371/journal.pcbi.1014195</a:t>
            </a:r>
            <a:endParaRPr lang="ko-KR" altLang="en-US" sz="1200" dirty="0">
              <a:ea typeface="맑은 고딕"/>
              <a:cs typeface="Calibri"/>
            </a:endParaRPr>
          </a:p>
          <a:p>
            <a:pPr algn="l">
              <a:lnSpc>
                <a:spcPct val="150000"/>
              </a:lnSpc>
            </a:pPr>
            <a:endParaRPr lang="en-US" sz="1200" i="1" dirty="0">
              <a:latin typeface="+mj-lt"/>
              <a:ea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lang="en-US" sz="1200" dirty="0">
                <a:latin typeface="+mj-lt"/>
                <a:ea typeface="Calibri"/>
                <a:cs typeface="Calibri"/>
                <a:sym typeface="Nunito"/>
              </a:rPr>
              <a:t>Xu, Y., Wei, G., Zhou, J., Huang, Y., Yu, W., Lin, Z., Liu, R., &amp; Fan, X. (2026). </a:t>
            </a:r>
            <a:r>
              <a:rPr lang="en-US" sz="1200" dirty="0" err="1">
                <a:latin typeface="+mj-lt"/>
                <a:ea typeface="Calibri"/>
                <a:cs typeface="Calibri"/>
                <a:sym typeface="Nunito"/>
              </a:rPr>
              <a:t>RoBep</a:t>
            </a:r>
            <a:r>
              <a:rPr lang="en-US" sz="1200" dirty="0">
                <a:latin typeface="+mj-lt"/>
                <a:ea typeface="Calibri"/>
                <a:cs typeface="Calibri"/>
                <a:sym typeface="Nunito"/>
              </a:rPr>
              <a:t>: A region-oriented deep learning model for B-cell epitope prediction. </a:t>
            </a:r>
            <a:r>
              <a:rPr lang="en-US" sz="1200" i="1" dirty="0">
                <a:latin typeface="+mj-lt"/>
                <a:ea typeface="Calibri"/>
                <a:cs typeface="Calibri"/>
                <a:sym typeface="Nunito"/>
              </a:rPr>
              <a:t>Bioinformatics, 42</a:t>
            </a:r>
            <a:r>
              <a:rPr lang="en-US" sz="1200" dirty="0">
                <a:latin typeface="+mj-lt"/>
                <a:ea typeface="Calibri"/>
                <a:cs typeface="Calibri"/>
                <a:sym typeface="Nunito"/>
              </a:rPr>
              <a:t>(1), btag006.</a:t>
            </a:r>
            <a:r>
              <a:rPr lang="en-US" sz="1200" i="1" dirty="0">
                <a:latin typeface="+mj-lt"/>
                <a:ea typeface="Calibri"/>
                <a:cs typeface="Calibri"/>
                <a:sym typeface="Nunito"/>
              </a:rPr>
              <a:t> </a:t>
            </a:r>
            <a:r>
              <a:rPr lang="en-US" sz="1200" dirty="0">
                <a:latin typeface="+mj-lt"/>
                <a:ea typeface="Calibri"/>
                <a:cs typeface="Calibri"/>
                <a:sym typeface="Nunito"/>
                <a:hlinkClick r:id="rId5"/>
              </a:rPr>
              <a:t>https://doi.org/10.1093/bioinformatics/btag006</a:t>
            </a:r>
            <a:endParaRPr lang="en-US" sz="1200" dirty="0">
              <a:latin typeface="+mj-lt"/>
              <a:ea typeface="Calibri"/>
              <a:cs typeface="Calibri"/>
              <a:sym typeface="Nunito"/>
            </a:endParaRP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E617B13A-DF9D-1CEE-3CF0-80A1BF39BA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FBC2B7-79BA-BF30-6A78-93850713E378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dirty="0">
                <a:solidFill>
                  <a:srgbClr val="003050"/>
                </a:solidFill>
                <a:ea typeface="맑은 고딕"/>
                <a:cs typeface="Calibri"/>
              </a:rPr>
              <a:t>10/11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2C07C-D144-3B8C-F564-5A0ADDD8A50E}"/>
              </a:ext>
            </a:extLst>
          </p:cNvPr>
          <p:cNvSpPr txBox="1"/>
          <p:nvPr/>
        </p:nvSpPr>
        <p:spPr>
          <a:xfrm>
            <a:off x="127000" y="9842437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191000" y="4345843"/>
            <a:ext cx="8534400" cy="1575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3000" b="1">
                <a:solidFill>
                  <a:srgbClr val="005088"/>
                </a:solidFill>
                <a:latin typeface="+mj-lt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A73F56D7-1D97-8C5F-5CD1-D41D47B7D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72483" y="4342884"/>
            <a:ext cx="10307268" cy="1580967"/>
          </a:xfrm>
          <a:prstGeom prst="roundRect">
            <a:avLst>
              <a:gd name="adj" fmla="val 32665"/>
            </a:avLst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71BED9-3A1E-09BC-DE02-3128B9B6E4A0}"/>
              </a:ext>
            </a:extLst>
          </p:cNvPr>
          <p:cNvSpPr txBox="1"/>
          <p:nvPr/>
        </p:nvSpPr>
        <p:spPr>
          <a:xfrm>
            <a:off x="16017399" y="9765092"/>
            <a:ext cx="11257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>
                <a:solidFill>
                  <a:srgbClr val="003050"/>
                </a:solidFill>
                <a:ea typeface="맑은 고딕"/>
                <a:cs typeface="Calibri"/>
              </a:rPr>
              <a:t>11/11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B0B5DB1-1BB7-3525-AA5D-10CBDA3D2104}"/>
              </a:ext>
            </a:extLst>
          </p:cNvPr>
          <p:cNvSpPr txBox="1"/>
          <p:nvPr/>
        </p:nvSpPr>
        <p:spPr>
          <a:xfrm>
            <a:off x="1144854" y="9636488"/>
            <a:ext cx="8366623" cy="5287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2500" dirty="0">
                <a:solidFill>
                  <a:srgbClr val="797979"/>
                </a:solidFill>
                <a:latin typeface="+mj-lt"/>
                <a:ea typeface="Nunito"/>
                <a:cs typeface="Nunito"/>
                <a:sym typeface="Nunito"/>
              </a:rPr>
              <a:t>Jiyun Lee (02316134)     Jiyunlee.Lee@ghent.ac.kr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853282A5-15EF-4F39-F5E7-622E670A906F}"/>
              </a:ext>
            </a:extLst>
          </p:cNvPr>
          <p:cNvSpPr txBox="1"/>
          <p:nvPr/>
        </p:nvSpPr>
        <p:spPr>
          <a:xfrm>
            <a:off x="7998998" y="9650671"/>
            <a:ext cx="7800907" cy="517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0"/>
              </a:lnSpc>
            </a:pPr>
            <a:r>
              <a:rPr lang="en-US" sz="2500" dirty="0" err="1">
                <a:solidFill>
                  <a:srgbClr val="797979"/>
                </a:solidFill>
                <a:latin typeface="+mj-lt"/>
                <a:ea typeface="Nunito"/>
                <a:cs typeface="Nunito"/>
                <a:sym typeface="Nunito"/>
              </a:rPr>
              <a:t>Dokyeong</a:t>
            </a:r>
            <a:r>
              <a:rPr lang="en-US" sz="2500" dirty="0">
                <a:solidFill>
                  <a:srgbClr val="797979"/>
                </a:solidFill>
                <a:latin typeface="+mj-lt"/>
                <a:ea typeface="Nunito"/>
                <a:cs typeface="Nunito"/>
                <a:sym typeface="Nunito"/>
              </a:rPr>
              <a:t> Kim </a:t>
            </a:r>
            <a:r>
              <a:rPr lang="en-US" altLang="ko-KR" sz="2500" dirty="0">
                <a:solidFill>
                  <a:srgbClr val="797979"/>
                </a:solidFill>
                <a:ea typeface="Nunito"/>
                <a:cs typeface="Nunito"/>
                <a:sym typeface="Nunito"/>
              </a:rPr>
              <a:t>(02503182)     </a:t>
            </a:r>
            <a:r>
              <a:rPr lang="en-US" sz="2500" dirty="0">
                <a:solidFill>
                  <a:srgbClr val="797979"/>
                </a:solidFill>
                <a:latin typeface="+mj-lt"/>
                <a:ea typeface="Nunito"/>
                <a:cs typeface="Nunito"/>
                <a:sym typeface="Nunito"/>
              </a:rPr>
              <a:t>Dokyeong.kim@ghent.ac.kr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44C2B-C915-C971-B1A9-A18E0BA14C7B}"/>
              </a:ext>
            </a:extLst>
          </p:cNvPr>
          <p:cNvSpPr txBox="1"/>
          <p:nvPr/>
        </p:nvSpPr>
        <p:spPr>
          <a:xfrm>
            <a:off x="127000" y="9859690"/>
            <a:ext cx="9262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3050"/>
                </a:solidFill>
                <a:latin typeface="+mj-lt"/>
                <a:ea typeface="Nunito"/>
                <a:cs typeface="Nunito"/>
                <a:sym typeface="Nunito"/>
              </a:rPr>
              <a:t>CAI</a:t>
            </a:r>
            <a:endParaRPr lang="ko-KR" altLang="en-US" b="1" dirty="0">
              <a:solidFill>
                <a:srgbClr val="003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64E7BFD5214547B0417D38A682CC6F" ma:contentTypeVersion="6" ma:contentTypeDescription="Een nieuw document maken." ma:contentTypeScope="" ma:versionID="79dcab4ca951a388b622bf7159fd63c7">
  <xsd:schema xmlns:xsd="http://www.w3.org/2001/XMLSchema" xmlns:xs="http://www.w3.org/2001/XMLSchema" xmlns:p="http://schemas.microsoft.com/office/2006/metadata/properties" xmlns:ns3="add038b1-ca1e-44cc-8445-11b8d94dde4b" targetNamespace="http://schemas.microsoft.com/office/2006/metadata/properties" ma:root="true" ma:fieldsID="6cb065db4a34b1bfa76d3ae03244dd8a" ns3:_="">
    <xsd:import namespace="add038b1-ca1e-44cc-8445-11b8d94dde4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038b1-ca1e-44cc-8445-11b8d94dd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dd038b1-ca1e-44cc-8445-11b8d94dde4b" xsi:nil="true"/>
  </documentManagement>
</p:properties>
</file>

<file path=customXml/itemProps1.xml><?xml version="1.0" encoding="utf-8"?>
<ds:datastoreItem xmlns:ds="http://schemas.openxmlformats.org/officeDocument/2006/customXml" ds:itemID="{59960CA6-590E-40C8-93A3-E51FA87E61AE}">
  <ds:schemaRefs>
    <ds:schemaRef ds:uri="add038b1-ca1e-44cc-8445-11b8d94dd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378953A-6BE0-41BB-AC9E-E6C4695172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459804-4B2A-4FEE-B5A9-57739DC2A150}">
  <ds:schemaRefs>
    <ds:schemaRef ds:uri="add038b1-ca1e-44cc-8445-11b8d94dde4b"/>
    <ds:schemaRef ds:uri="http://purl.org/dc/terms/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607</Words>
  <Application>Microsoft Office PowerPoint</Application>
  <PresentationFormat>사용자 지정</PresentationFormat>
  <Paragraphs>148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맑은 고딕</vt:lpstr>
      <vt:lpstr>Nunito</vt:lpstr>
      <vt:lpstr>맑은 고딕</vt:lpstr>
      <vt:lpstr>Arial</vt:lpstr>
      <vt:lpstr>Arial,Sans-Serif</vt:lpstr>
      <vt:lpstr>Nunito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Jiyun Lee Dokyeong KIM</dc:title>
  <dc:creator>Jiyun Lee</dc:creator>
  <cp:lastModifiedBy>Subin Hyun</cp:lastModifiedBy>
  <cp:revision>18</cp:revision>
  <dcterms:created xsi:type="dcterms:W3CDTF">2006-08-16T00:00:00Z</dcterms:created>
  <dcterms:modified xsi:type="dcterms:W3CDTF">2026-06-25T14:56:34Z</dcterms:modified>
  <dc:identifier>DAHM-c851lc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0x0101008264E7BFD5214547B0417D38A682CC6F</vt:lpwstr>
  </property>
</Properties>
</file>