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82" r:id="rId4"/>
    <p:sldId id="281" r:id="rId5"/>
    <p:sldId id="285" r:id="rId6"/>
    <p:sldId id="284" r:id="rId7"/>
    <p:sldId id="277" r:id="rId8"/>
    <p:sldId id="286" r:id="rId9"/>
    <p:sldId id="271" r:id="rId10"/>
    <p:sldId id="300" r:id="rId11"/>
    <p:sldId id="301" r:id="rId12"/>
    <p:sldId id="302" r:id="rId13"/>
    <p:sldId id="290" r:id="rId14"/>
    <p:sldId id="289" r:id="rId15"/>
    <p:sldId id="296" r:id="rId16"/>
    <p:sldId id="292" r:id="rId17"/>
    <p:sldId id="303" r:id="rId1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543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9" orient="horz" pos="1480" userDrawn="1">
          <p15:clr>
            <a:srgbClr val="A4A3A4"/>
          </p15:clr>
        </p15:guide>
        <p15:guide id="10" orient="horz" pos="2251" userDrawn="1">
          <p15:clr>
            <a:srgbClr val="A4A3A4"/>
          </p15:clr>
        </p15:guide>
        <p15:guide id="12" pos="7446" userDrawn="1">
          <p15:clr>
            <a:srgbClr val="A4A3A4"/>
          </p15:clr>
        </p15:guide>
        <p15:guide id="13" pos="35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4C8"/>
    <a:srgbClr val="FFD200"/>
    <a:srgbClr val="E9F0FA"/>
    <a:srgbClr val="C8D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620B0-A1F3-E417-7063-5E2EB32D2C9E}" v="2" dt="2026-06-21T13:05:52.771"/>
    <p1510:client id="{72DF7EBA-EAAF-4DC4-9827-D44A3B12C7B4}" v="8" dt="2026-06-21T13:25:34.556"/>
    <p1510:client id="{A644EF56-AFF7-3F43-83B4-475537CFFF44}" v="1771" dt="2026-06-21T13:31:23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45" autoAdjust="0"/>
    <p:restoredTop sz="79748"/>
  </p:normalViewPr>
  <p:slideViewPr>
    <p:cSldViewPr snapToGrid="0" showGuides="1">
      <p:cViewPr varScale="1">
        <p:scale>
          <a:sx n="67" d="100"/>
          <a:sy n="67" d="100"/>
        </p:scale>
        <p:origin x="1374" y="48"/>
      </p:cViewPr>
      <p:guideLst>
        <p:guide orient="horz" pos="3543"/>
        <p:guide pos="211"/>
        <p:guide orient="horz" pos="4133"/>
        <p:guide orient="horz" pos="1480"/>
        <p:guide orient="horz" pos="2251"/>
        <p:guide pos="7446"/>
        <p:guide pos="3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59" d="100"/>
          <a:sy n="159" d="100"/>
        </p:scale>
        <p:origin x="53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0EFEC-C3FA-3C4A-B7F4-DA1C3F57E471}" type="datetimeFigureOut">
              <a:t>2026-06-25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22D08-1F01-BB49-AF51-EBB99F15D995}" type="slidenum"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048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669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8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5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101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967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71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529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85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635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9CC6-DDC1-2162-8AB3-4A12C738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F03DD5-0466-7427-CD8E-764E290C8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D17CF0-87DE-3CCE-A962-9EDAFEB26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D8884-357A-FCD9-159A-07D9F7A6E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326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AD0D-12B6-4AAF-3DE8-512F7C55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96A9C3-32CE-AD75-E0DF-2F413F5A0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B87CC8-88AA-DB6D-8478-EA0614DC8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BE636C-C65D-5734-0577-5FE02C22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681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49BC-C2C0-0052-0E99-910F5F58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0C8B07-B662-403D-3DF7-3827B0F94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593EE7-E591-9707-B055-4A1201C23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384A6C-CBDC-CE79-127B-33B08D66A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42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46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446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875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US" altLang="ko-KR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41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0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304393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University services - &lt; ... &gt;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564731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team &lt; ... &gt;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baseline="0">
                <a:solidFill>
                  <a:srgbClr val="FFD200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 dirty="0"/>
              <a:t>Click to add subtitle / presenter / date [dd-mm-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B80BBE-DD8A-6D20-5EFA-10B5F440E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9CDCF65-0CBB-2863-BFE8-4796417A5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057277"/>
            <a:ext cx="5632959" cy="378234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88213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pos="415" userDrawn="1">
          <p15:clr>
            <a:srgbClr val="FBAE40"/>
          </p15:clr>
        </p15:guide>
        <p15:guide id="5" orient="horz" pos="25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235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noProof="0" dirty="0"/>
              <a:t>Click to add chapter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549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all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7148E0-0D8D-3638-5A48-24827113216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C946AC-E26A-8946-7C6C-0A9B96A678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B5B77E-9886-4B31-8D81-CCD3782DD1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3C1D3A25-F5F4-AF4A-8239-A533218656DA}" type="slidenum">
              <a:rPr lang="en-BE" smtClean="0"/>
              <a:pPr/>
              <a:t>‹#›</a:t>
            </a:fld>
            <a:endParaRPr lang="en-BE" sz="1600"/>
          </a:p>
        </p:txBody>
      </p:sp>
    </p:spTree>
    <p:extLst>
      <p:ext uri="{BB962C8B-B14F-4D97-AF65-F5344CB8AC3E}">
        <p14:creationId xmlns:p14="http://schemas.microsoft.com/office/powerpoint/2010/main" val="3711564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all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F39179-8ACE-32F0-8886-256CC031952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D3567-BAB4-4681-8FE5-52D1F6547E9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B3198-10AB-3366-0974-898BEC8637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3C1D3A25-F5F4-AF4A-8239-A533218656DA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1129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E9F0FA"/>
          </a:solidFill>
        </p:spPr>
        <p:txBody>
          <a:bodyPr lIns="216000" tIns="216000"/>
          <a:lstStyle>
            <a:lvl1pPr marL="0" indent="0">
              <a:buNone/>
              <a:defRPr sz="2000" baseline="0"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all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4203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pPr lvl="0"/>
            <a:r>
              <a:rPr lang="en-GB" dirty="0"/>
              <a:t>Click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all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944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, 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1E64C8"/>
          </a:solidFill>
        </p:spPr>
        <p:txBody>
          <a:bodyPr lIns="288000" tIns="108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62690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 userDrawn="1">
          <p15:clr>
            <a:srgbClr val="FBAE40"/>
          </p15:clr>
        </p15:guide>
        <p15:guide id="8" pos="40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, titl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4FE488B-CDA1-8F11-22EE-A4B0086576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FFD200"/>
          </a:solidFill>
        </p:spPr>
        <p:txBody>
          <a:bodyPr lIns="288000" tIns="108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67998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>
          <p15:clr>
            <a:srgbClr val="FBAE40"/>
          </p15:clr>
        </p15:guide>
        <p15:guide id="8" pos="402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31973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551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 dirty="0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5C0AA0A8-4D0F-7007-3B9C-C06D09E283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8876" y="5593278"/>
            <a:ext cx="1893050" cy="12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4">
            <a:extLst>
              <a:ext uri="{FF2B5EF4-FFF2-40B4-BE49-F238E27FC236}">
                <a16:creationId xmlns:a16="http://schemas.microsoft.com/office/drawing/2014/main" id="{371493F5-181A-67F4-746C-FDA2D8BFB73F}"/>
              </a:ext>
            </a:extLst>
          </p:cNvPr>
          <p:cNvSpPr txBox="1">
            <a:spLocks/>
          </p:cNvSpPr>
          <p:nvPr userDrawn="1"/>
        </p:nvSpPr>
        <p:spPr>
          <a:xfrm>
            <a:off x="334963" y="-6350"/>
            <a:ext cx="11857037" cy="5632215"/>
          </a:xfrm>
          <a:prstGeom prst="rect">
            <a:avLst/>
          </a:prstGeom>
          <a:solidFill>
            <a:srgbClr val="1E64C8"/>
          </a:solidFill>
        </p:spPr>
        <p:txBody>
          <a:bodyPr lIns="360000" tIns="360000" bIns="468000" anchor="b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BE" sz="4800">
              <a:solidFill>
                <a:schemeClr val="bg1"/>
              </a:solidFill>
              <a:latin typeface="UGent Panno Text Medium" panose="02000506040000040003" pitchFamily="2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91687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name presenter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37310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presenter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143333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TO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functional</a:t>
            </a:r>
            <a:r>
              <a:rPr lang="nl-BE" dirty="0"/>
              <a:t> domain </a:t>
            </a:r>
            <a:r>
              <a:rPr lang="nl-BE" dirty="0" err="1"/>
              <a:t>and</a:t>
            </a:r>
            <a:r>
              <a:rPr lang="nl-BE" dirty="0"/>
              <a:t> team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077667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email </a:t>
            </a:r>
            <a:r>
              <a:rPr lang="nl-BE" dirty="0" err="1"/>
              <a:t>address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535279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00806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A845A43C-8021-DEE5-2983-2DBB708ACE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359DC9B6-054E-6C93-A8DA-30196EFE922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ko-KR" altLang="en-US"/>
              <a:t>그림을 추가하려면 아이콘을 클릭하십시오</a:t>
            </a:r>
            <a:endParaRPr lang="en-BE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DCBAFA28-A4A3-9A50-0C1E-7A00BB14F8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ACD9C588-77ED-BF99-2DD4-6D3899EC4F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ko-KR" altLang="en-US"/>
              <a:t>그림을 추가하려면 아이콘을 클릭하십시오</a:t>
            </a:r>
            <a:endParaRPr lang="en-BE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3661C8C-20BF-68D9-F4A6-8791B2577C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054A5E8E-4B49-5044-2397-CBA8D0CF765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ko-KR" altLang="en-US"/>
              <a:t>그림을 추가하려면 아이콘을 클릭하십시오</a:t>
            </a:r>
            <a:endParaRPr lang="en-BE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DEF8EBC1-6EEF-7D47-450F-D52EA05417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F8CF31E-C034-A384-978A-93ADAE6E416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ko-KR" altLang="en-US"/>
              <a:t>그림을 추가하려면 아이콘을 클릭하십시오</a:t>
            </a:r>
            <a:endParaRPr lang="en-BE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B083343-D3FE-F8CC-61DA-32F0B32F4E3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42F06952-0C4E-054B-E122-78641A363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ko-KR" altLang="en-US"/>
              <a:t>그림을 추가하려면 아이콘을 클릭하십시오</a:t>
            </a:r>
            <a:endParaRPr lang="en-BE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CD48667-8D34-0E2B-F177-A05C0ECEA57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rgbClr val="FFD200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94109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8876" y="5593278"/>
            <a:ext cx="1893050" cy="1262182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en-BE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UGent Panno Text" panose="02000506040000040003" pitchFamily="2" charset="0"/>
              </a:defRPr>
            </a:lvl1pPr>
          </a:lstStyle>
          <a:p>
            <a:fld id="{3C1D3A25-F5F4-AF4A-8239-A533218656DA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en-B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BE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19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3" r:id="rId5"/>
    <p:sldLayoutId id="2147483662" r:id="rId6"/>
    <p:sldLayoutId id="2147483668" r:id="rId7"/>
    <p:sldLayoutId id="2147483669" r:id="rId8"/>
    <p:sldLayoutId id="2147483654" r:id="rId9"/>
    <p:sldLayoutId id="2147483666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marL="0" marR="0" indent="0" algn="l" defTabSz="914400" rtl="0" eaLnBrk="1" fontAlgn="auto" latinLnBrk="1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all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FFEBA54-AC92-4757-990B-C765FDF4D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Narim Kim ,	22/06/2026</a:t>
            </a:r>
            <a:endParaRPr lang="en-BE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FE3365-D514-54B4-CB9E-388EF401ED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1057277"/>
            <a:ext cx="8121718" cy="3782348"/>
          </a:xfrm>
        </p:spPr>
        <p:txBody>
          <a:bodyPr>
            <a:normAutofit/>
          </a:bodyPr>
          <a:lstStyle/>
          <a:p>
            <a:r>
              <a:rPr lang="ko-KR" altLang="ko-KR" sz="4000" dirty="0"/>
              <a:t>AI-</a:t>
            </a:r>
            <a:r>
              <a:rPr lang="ko-KR" altLang="ko-KR" sz="4000" dirty="0" err="1"/>
              <a:t>guided</a:t>
            </a:r>
            <a:r>
              <a:rPr lang="ko-KR" altLang="ko-KR" sz="4000" dirty="0"/>
              <a:t> </a:t>
            </a:r>
            <a:r>
              <a:rPr lang="ko-KR" altLang="ko-KR" sz="4000" dirty="0" err="1"/>
              <a:t>gRNA</a:t>
            </a:r>
            <a:r>
              <a:rPr lang="ko-KR" altLang="ko-KR" sz="4000" dirty="0"/>
              <a:t> </a:t>
            </a:r>
            <a:r>
              <a:rPr lang="ko-KR" altLang="ko-KR" sz="4000" dirty="0" err="1"/>
              <a:t>Design</a:t>
            </a:r>
            <a:r>
              <a:rPr lang="ko-KR" altLang="ko-KR" sz="4000" dirty="0"/>
              <a:t> </a:t>
            </a:r>
            <a:r>
              <a:rPr lang="ko-KR" altLang="ko-KR" sz="4000" dirty="0" err="1"/>
              <a:t>for</a:t>
            </a:r>
            <a:r>
              <a:rPr lang="ko-KR" altLang="ko-KR" sz="4000" dirty="0"/>
              <a:t> </a:t>
            </a:r>
            <a:r>
              <a:rPr lang="ko-KR" altLang="ko-KR" sz="4000" dirty="0" err="1"/>
              <a:t>Optimized</a:t>
            </a:r>
            <a:endParaRPr lang="en-US" altLang="ko-KR" sz="4000" dirty="0"/>
          </a:p>
          <a:p>
            <a:r>
              <a:rPr lang="ko-KR" altLang="ko-KR" sz="4000" dirty="0"/>
              <a:t>CRISPR-</a:t>
            </a:r>
            <a:r>
              <a:rPr lang="ko-KR" altLang="ko-KR" sz="4000" dirty="0" err="1"/>
              <a:t>Cas</a:t>
            </a:r>
            <a:r>
              <a:rPr lang="ko-KR" altLang="ko-KR" sz="4000" dirty="0"/>
              <a:t>-</a:t>
            </a:r>
            <a:r>
              <a:rPr lang="ko-KR" altLang="ko-KR" sz="4000" dirty="0" err="1"/>
              <a:t>based</a:t>
            </a:r>
            <a:r>
              <a:rPr lang="ko-KR" altLang="ko-KR" sz="4000" dirty="0"/>
              <a:t> </a:t>
            </a:r>
            <a:r>
              <a:rPr lang="ko-KR" altLang="ko-KR" sz="4000" dirty="0" err="1"/>
              <a:t>Pathogen</a:t>
            </a:r>
            <a:r>
              <a:rPr lang="ko-KR" altLang="ko-KR" sz="4000" dirty="0"/>
              <a:t> </a:t>
            </a:r>
            <a:r>
              <a:rPr lang="en-US" altLang="ko-KR" sz="4000" dirty="0"/>
              <a:t>Detection</a:t>
            </a:r>
            <a:endParaRPr lang="ko-KR" altLang="ko-KR" sz="4000" dirty="0"/>
          </a:p>
        </p:txBody>
      </p:sp>
    </p:spTree>
    <p:extLst>
      <p:ext uri="{BB962C8B-B14F-4D97-AF65-F5344CB8AC3E}">
        <p14:creationId xmlns:p14="http://schemas.microsoft.com/office/powerpoint/2010/main" val="375907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8CC95A4F-9B2C-88D3-CEFD-360DC20B4D1A}"/>
              </a:ext>
            </a:extLst>
          </p:cNvPr>
          <p:cNvGrpSpPr/>
          <p:nvPr/>
        </p:nvGrpSpPr>
        <p:grpSpPr>
          <a:xfrm>
            <a:off x="542609" y="2671949"/>
            <a:ext cx="10893106" cy="2180960"/>
            <a:chOff x="542609" y="2671949"/>
            <a:chExt cx="10893106" cy="2180960"/>
          </a:xfrm>
        </p:grpSpPr>
        <p:sp>
          <p:nvSpPr>
            <p:cNvPr id="10" name="내용 개체 틀 1">
              <a:extLst>
                <a:ext uri="{FF2B5EF4-FFF2-40B4-BE49-F238E27FC236}">
                  <a16:creationId xmlns:a16="http://schemas.microsoft.com/office/drawing/2014/main" id="{A52E3867-51CD-F573-3F86-846D1027A35C}"/>
                </a:ext>
              </a:extLst>
            </p:cNvPr>
            <p:cNvSpPr txBox="1">
              <a:spLocks/>
            </p:cNvSpPr>
            <p:nvPr/>
          </p:nvSpPr>
          <p:spPr>
            <a:xfrm>
              <a:off x="542609" y="2671949"/>
              <a:ext cx="10893106" cy="48840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vert="horz" lIns="91440" tIns="45720" rIns="91440" bIns="45720" rtlCol="0">
              <a:sp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1pPr>
              <a:lvl2pPr marL="9525" indent="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4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2pPr>
              <a:lvl3pPr marL="801688" indent="-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0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bg2">
                    <a:lumMod val="10000"/>
                  </a:schemeClr>
                </a:buClr>
              </a:pPr>
              <a:r>
                <a:rPr kumimoji="1" lang="en-US" altLang="ko-KR" dirty="0">
                  <a:solidFill>
                    <a:schemeClr val="tx1">
                      <a:lumMod val="20000"/>
                      <a:lumOff val="80000"/>
                    </a:schemeClr>
                  </a:solidFill>
                </a:rPr>
                <a:t>Problem – Guide RNA design bottleneck</a:t>
              </a:r>
            </a:p>
          </p:txBody>
        </p:sp>
        <p:sp>
          <p:nvSpPr>
            <p:cNvPr id="11" name="내용 개체 틀 1">
              <a:extLst>
                <a:ext uri="{FF2B5EF4-FFF2-40B4-BE49-F238E27FC236}">
                  <a16:creationId xmlns:a16="http://schemas.microsoft.com/office/drawing/2014/main" id="{DB9EA5E7-EDA2-0BF8-7701-D4E758A8235C}"/>
                </a:ext>
              </a:extLst>
            </p:cNvPr>
            <p:cNvSpPr txBox="1">
              <a:spLocks/>
            </p:cNvSpPr>
            <p:nvPr/>
          </p:nvSpPr>
          <p:spPr>
            <a:xfrm>
              <a:off x="542609" y="3178326"/>
              <a:ext cx="10893106" cy="1168205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91440" tIns="45720" rIns="91440" bIns="45720" rtlCol="0">
              <a:sp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1pPr>
              <a:lvl2pPr marL="9525" indent="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4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2pPr>
              <a:lvl3pPr marL="801688" indent="-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0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bg2">
                    <a:lumMod val="10000"/>
                  </a:schemeClr>
                </a:buClr>
              </a:pPr>
              <a:r>
                <a:rPr kumimoji="1" lang="en-US" altLang="ko-KR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CRISPR × ML tools – DeepCas13</a:t>
              </a:r>
            </a:p>
            <a:p>
              <a:pPr lvl="2" indent="0">
                <a:buClr>
                  <a:schemeClr val="bg2">
                    <a:lumMod val="10000"/>
                  </a:schemeClr>
                </a:buClr>
                <a:buNone/>
              </a:pPr>
              <a:r>
                <a:rPr kumimoji="1" lang="en-US" altLang="ko-KR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DeepCas13 overview</a:t>
              </a:r>
            </a:p>
            <a:p>
              <a:pPr lvl="2" indent="0">
                <a:buClr>
                  <a:schemeClr val="bg2">
                    <a:lumMod val="10000"/>
                  </a:schemeClr>
                </a:buClr>
                <a:buNone/>
              </a:pPr>
              <a:r>
                <a:rPr kumimoji="1" lang="en-US" altLang="ko-KR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How DeepCas13 helps</a:t>
              </a:r>
            </a:p>
          </p:txBody>
        </p:sp>
        <p:sp>
          <p:nvSpPr>
            <p:cNvPr id="12" name="내용 개체 틀 1">
              <a:extLst>
                <a:ext uri="{FF2B5EF4-FFF2-40B4-BE49-F238E27FC236}">
                  <a16:creationId xmlns:a16="http://schemas.microsoft.com/office/drawing/2014/main" id="{CE79D52B-C196-FF37-A3D0-563C2941579A}"/>
                </a:ext>
              </a:extLst>
            </p:cNvPr>
            <p:cNvSpPr txBox="1">
              <a:spLocks/>
            </p:cNvSpPr>
            <p:nvPr/>
          </p:nvSpPr>
          <p:spPr>
            <a:xfrm>
              <a:off x="542609" y="4364506"/>
              <a:ext cx="10893106" cy="488403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txBody>
            <a:bodyPr vert="horz" lIns="91440" tIns="45720" rIns="91440" bIns="45720" rtlCol="0">
              <a:sp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1pPr>
              <a:lvl2pPr marL="9525" indent="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4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2pPr>
              <a:lvl3pPr marL="801688" indent="-263525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tabLst/>
                <a:defRPr sz="20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Clr>
                  <a:srgbClr val="1E64C8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UGent Panno Text" panose="02000506040000040003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bg2">
                    <a:lumMod val="10000"/>
                  </a:schemeClr>
                </a:buClr>
              </a:pPr>
              <a:r>
                <a:rPr kumimoji="1" lang="en-US" altLang="ko-KR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Future perspective</a:t>
              </a:r>
            </a:p>
          </p:txBody>
        </p:sp>
      </p:grp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2E605F4-27BC-2290-6670-65A6308D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144651"/>
            <a:ext cx="10393121" cy="3742115"/>
          </a:xfrm>
        </p:spPr>
        <p:txBody>
          <a:bodyPr wrap="square">
            <a:spAutoFit/>
          </a:bodyPr>
          <a:lstStyle/>
          <a:p>
            <a:pPr marL="514350" indent="-514350">
              <a:buClr>
                <a:schemeClr val="bg2">
                  <a:lumMod val="10000"/>
                </a:schemeClr>
              </a:buClr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</a:p>
          <a:p>
            <a:pPr marL="1316038" lvl="2" indent="-514350">
              <a:buClr>
                <a:schemeClr val="bg2">
                  <a:lumMod val="10000"/>
                </a:schemeClr>
              </a:buClr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What is CRISPR?</a:t>
            </a:r>
          </a:p>
          <a:p>
            <a:pPr marL="1316038" lvl="2" indent="-514350">
              <a:buClr>
                <a:schemeClr val="bg2">
                  <a:lumMod val="10000"/>
                </a:schemeClr>
              </a:buClr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Why Cas13?</a:t>
            </a:r>
          </a:p>
          <a:p>
            <a:pPr marL="1316038" lvl="2" indent="-514350">
              <a:buClr>
                <a:schemeClr val="bg2">
                  <a:lumMod val="10000"/>
                </a:schemeClr>
              </a:buClr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Cas13-based pathogen detection</a:t>
            </a:r>
          </a:p>
          <a:p>
            <a:pPr marL="514350" indent="-514350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Problem – Guide RNA design bottleneck</a:t>
            </a:r>
          </a:p>
          <a:p>
            <a:pPr marL="514350" indent="-514350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Artificial Intelligent for crRNA design – DeepCas13</a:t>
            </a:r>
          </a:p>
          <a:p>
            <a:pPr marL="1316038" lvl="2" indent="-514350">
              <a:buClr>
                <a:schemeClr val="bg2">
                  <a:lumMod val="10000"/>
                </a:schemeClr>
              </a:buClr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DeepCas13 overview</a:t>
            </a:r>
          </a:p>
          <a:p>
            <a:pPr marL="1316038" lvl="2" indent="-514350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How DeepCas13 helps</a:t>
            </a:r>
          </a:p>
          <a:p>
            <a:pPr marL="514350" indent="-514350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Future perspective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61D4127-CB5D-0A3D-2199-8BC38B40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4D8E4D-2DC7-7AFE-9CD9-91F9DB4E32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fld id="{C26BF052-E557-8141-A69C-C7CA352D84D3}" type="slidenum">
              <a:rPr lang="ko-KR" altLang="en-US" smtClean="0"/>
              <a:t>1</a:t>
            </a:fld>
            <a:r>
              <a:rPr lang="ko-KR" altLang="en-US" dirty="0"/>
              <a:t> </a:t>
            </a:r>
            <a:r>
              <a:rPr lang="en-US" dirty="0"/>
              <a:t>/12</a:t>
            </a:r>
            <a:endParaRPr lang="en-BE" sz="1600"/>
          </a:p>
        </p:txBody>
      </p:sp>
    </p:spTree>
    <p:extLst>
      <p:ext uri="{BB962C8B-B14F-4D97-AF65-F5344CB8AC3E}">
        <p14:creationId xmlns:p14="http://schemas.microsoft.com/office/powerpoint/2010/main" val="10035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08B7F77-AFB2-B82D-DDE9-2678440C0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7128191" cy="3789681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A bacterial immune system, repurposed into a programmable nucleic-acid targeting tool</a:t>
            </a:r>
          </a:p>
          <a:p>
            <a:pPr marL="457200" indent="-457200">
              <a:buFontTx/>
              <a:buChar char="-"/>
            </a:pPr>
            <a:r>
              <a:rPr kumimoji="1" lang="en-US" altLang="ko-KR" b="1" dirty="0">
                <a:solidFill>
                  <a:schemeClr val="bg2">
                    <a:lumMod val="10000"/>
                  </a:schemeClr>
                </a:solidFill>
              </a:rPr>
              <a:t>Guide RNA (gRNA) 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decides what gets cut </a:t>
            </a:r>
            <a:b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</a:b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 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guide design makes or breaks the whole system</a:t>
            </a:r>
          </a:p>
          <a:p>
            <a:pPr marL="457200" indent="-457200">
              <a:buFontTx/>
              <a:buChar char="-"/>
            </a:pPr>
            <a:r>
              <a:rPr kumimoji="1" lang="en-US" altLang="ko-KR" b="1" dirty="0">
                <a:solidFill>
                  <a:schemeClr val="bg2">
                    <a:lumMod val="10000"/>
                  </a:schemeClr>
                </a:solidFill>
              </a:rPr>
              <a:t>Cas protein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 acts as molecular scissors that cut DNA or RNA</a:t>
            </a:r>
            <a:endParaRPr kumimoji="1" lang="ko-KR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08303F-3681-D6EF-C825-A1D3D728E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altLang="ko-KR" dirty="0"/>
              <a:t>Clustered Regularly Interspaced Short Palindromic Repeats (CRISPR)</a:t>
            </a:r>
            <a:endParaRPr lang="en-BE" altLang="ko-KR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F50BCC5-D5F7-B2A2-542C-B6762CB8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is </a:t>
            </a:r>
            <a:r>
              <a:rPr kumimoji="1" lang="en-US" altLang="ko-KR" dirty="0" err="1"/>
              <a:t>crispr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C259F-4B59-1AAA-1B4D-0759B77BDA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2</a:t>
            </a:fld>
            <a:r>
              <a:rPr lang="en-US" altLang="ko-KR" dirty="0"/>
              <a:t> /12</a:t>
            </a:r>
            <a:endParaRPr lang="en-BE"/>
          </a:p>
        </p:txBody>
      </p:sp>
      <p:pic>
        <p:nvPicPr>
          <p:cNvPr id="1026" name="Picture 2" descr="CRISPR gene editing - Wikipedia">
            <a:extLst>
              <a:ext uri="{FF2B5EF4-FFF2-40B4-BE49-F238E27FC236}">
                <a16:creationId xmlns:a16="http://schemas.microsoft.com/office/drawing/2014/main" id="{5296AFF9-77E4-2802-1DAA-801B2EC7A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0" y="2151380"/>
            <a:ext cx="3802441" cy="255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54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2BC44D-01AC-82E6-CAEF-3995ECCC8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kumimoji="1" lang="en-US" altLang="ko-KR" dirty="0"/>
              <a:t>Cas9 or Cas12 targets DNA , Cas13 targets RNA</a:t>
            </a:r>
            <a:endParaRPr kumimoji="1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9FBEB5-1924-53B6-E2B9-0AC46C84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Why cas13?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E3E848-CF98-7EFE-2201-6457421E1F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3</a:t>
            </a:fld>
            <a:r>
              <a:rPr lang="en-US" altLang="ko-KR" dirty="0"/>
              <a:t> /12</a:t>
            </a:r>
            <a:endParaRPr lang="en-BE"/>
          </a:p>
        </p:txBody>
      </p:sp>
      <p:pic>
        <p:nvPicPr>
          <p:cNvPr id="2050" name="Picture 2" descr="Schematic of Collateral Cleavage Phenomenon in CRISPR-Cas13 system. The...  | Download Scientific Diagram">
            <a:extLst>
              <a:ext uri="{FF2B5EF4-FFF2-40B4-BE49-F238E27FC236}">
                <a16:creationId xmlns:a16="http://schemas.microsoft.com/office/drawing/2014/main" id="{211285BA-8703-ED33-AF3F-737566017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811" y="1699419"/>
            <a:ext cx="7357516" cy="441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0400C50E-4C15-4D41-81A3-D6417A0DA774}"/>
              </a:ext>
            </a:extLst>
          </p:cNvPr>
          <p:cNvGrpSpPr/>
          <p:nvPr/>
        </p:nvGrpSpPr>
        <p:grpSpPr>
          <a:xfrm>
            <a:off x="6548465" y="1378735"/>
            <a:ext cx="3323725" cy="3136869"/>
            <a:chOff x="6645896" y="1378735"/>
            <a:chExt cx="3323725" cy="313686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DBE3C3-03C6-DBCB-D3DE-9507CC02DEB5}"/>
                </a:ext>
              </a:extLst>
            </p:cNvPr>
            <p:cNvSpPr/>
            <p:nvPr/>
          </p:nvSpPr>
          <p:spPr>
            <a:xfrm>
              <a:off x="6645896" y="1699417"/>
              <a:ext cx="3323725" cy="2816187"/>
            </a:xfrm>
            <a:prstGeom prst="rect">
              <a:avLst/>
            </a:prstGeom>
            <a:noFill/>
            <a:ln w="38100">
              <a:solidFill>
                <a:srgbClr val="1E64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6A6EF9-A13C-0B41-8299-EFFB3FEB522D}"/>
                </a:ext>
              </a:extLst>
            </p:cNvPr>
            <p:cNvSpPr txBox="1"/>
            <p:nvPr/>
          </p:nvSpPr>
          <p:spPr>
            <a:xfrm>
              <a:off x="6645896" y="1378735"/>
              <a:ext cx="2908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</a:rPr>
                <a:t>Nearby RNA cut </a:t>
              </a:r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  <a:sym typeface="Wingdings" pitchFamily="2" charset="2"/>
                </a:rPr>
                <a:t>→</a:t>
              </a:r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</a:rPr>
                <a:t> </a:t>
              </a:r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  <a:sym typeface="Wingdings" pitchFamily="2" charset="2"/>
                </a:rPr>
                <a:t>detection signal</a:t>
              </a:r>
              <a:endParaRPr kumimoji="1" lang="ko-KR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27D571B-670E-38FA-242A-A0A1096F1A0D}"/>
              </a:ext>
            </a:extLst>
          </p:cNvPr>
          <p:cNvGrpSpPr/>
          <p:nvPr/>
        </p:nvGrpSpPr>
        <p:grpSpPr>
          <a:xfrm>
            <a:off x="2944014" y="4515606"/>
            <a:ext cx="3985656" cy="1598323"/>
            <a:chOff x="3041445" y="4515606"/>
            <a:chExt cx="3985656" cy="159832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53257A2-5B1F-28D1-1B79-11C96FD4020A}"/>
                </a:ext>
              </a:extLst>
            </p:cNvPr>
            <p:cNvSpPr/>
            <p:nvPr/>
          </p:nvSpPr>
          <p:spPr>
            <a:xfrm>
              <a:off x="3041445" y="4834833"/>
              <a:ext cx="3985656" cy="1279096"/>
            </a:xfrm>
            <a:prstGeom prst="rect">
              <a:avLst/>
            </a:prstGeom>
            <a:noFill/>
            <a:ln w="38100">
              <a:solidFill>
                <a:srgbClr val="1E64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6B60F-5B82-C98F-D12B-5791BC29E5B4}"/>
                </a:ext>
              </a:extLst>
            </p:cNvPr>
            <p:cNvSpPr txBox="1"/>
            <p:nvPr/>
          </p:nvSpPr>
          <p:spPr>
            <a:xfrm>
              <a:off x="3041445" y="4515606"/>
              <a:ext cx="3931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</a:rPr>
                <a:t>Target cleaved </a:t>
              </a:r>
              <a:r>
                <a:rPr kumimoji="1" lang="en-US" altLang="ko-KR" dirty="0">
                  <a:solidFill>
                    <a:schemeClr val="bg2">
                      <a:lumMod val="10000"/>
                    </a:schemeClr>
                  </a:solidFill>
                  <a:sym typeface="Wingdings" pitchFamily="2" charset="2"/>
                </a:rPr>
                <a:t>→ RNA knockdown</a:t>
              </a:r>
              <a:endParaRPr kumimoji="1" lang="ko-KR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9605-69AB-FF3B-D040-EA8E3A3A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146159-DD78-AAB9-E073-71329F2B0F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kumimoji="1" lang="en-US" altLang="ko-KR"/>
              <a:t>Cas13 subtypes</a:t>
            </a:r>
            <a:endParaRPr kumimoji="1"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109C3EB-2867-B1CE-F655-5F53EDBC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Why cas13?</a:t>
            </a:r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EE5881-29A7-BC16-3D0C-664B8D6F9A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4</a:t>
            </a:fld>
            <a:r>
              <a:rPr lang="en-US" altLang="ko-KR"/>
              <a:t> /12</a:t>
            </a:r>
            <a:endParaRPr lang="en-BE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3A0E29C-9A68-93E5-FD01-A4CAD790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3" r="16978" b="47827"/>
          <a:stretch>
            <a:fillRect/>
          </a:stretch>
        </p:blipFill>
        <p:spPr>
          <a:xfrm>
            <a:off x="4071622" y="1699418"/>
            <a:ext cx="7364093" cy="4330732"/>
          </a:xfrm>
          <a:prstGeom prst="rect">
            <a:avLst/>
          </a:prstGeom>
        </p:spPr>
      </p:pic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417FB92F-342A-055D-3E7C-32810288D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3528697" cy="2036520"/>
          </a:xfr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kumimoji="1" lang="en-US" altLang="ko-KR">
                <a:solidFill>
                  <a:schemeClr val="bg2">
                    <a:lumMod val="10000"/>
                  </a:schemeClr>
                </a:solidFill>
              </a:rPr>
              <a:t>Cas13a</a:t>
            </a:r>
          </a:p>
          <a:p>
            <a:pPr marL="457200" indent="-457200">
              <a:buFontTx/>
              <a:buChar char="-"/>
            </a:pPr>
            <a:r>
              <a:rPr kumimoji="1" lang="en-US" altLang="ko-KR">
                <a:solidFill>
                  <a:schemeClr val="bg2">
                    <a:lumMod val="10000"/>
                  </a:schemeClr>
                </a:solidFill>
              </a:rPr>
              <a:t>Cas13b</a:t>
            </a:r>
          </a:p>
          <a:p>
            <a:pPr marL="457200" indent="-457200">
              <a:buFontTx/>
              <a:buChar char="-"/>
            </a:pPr>
            <a:r>
              <a:rPr kumimoji="1" lang="en-US" altLang="ko-KR">
                <a:solidFill>
                  <a:schemeClr val="bg2">
                    <a:lumMod val="10000"/>
                  </a:schemeClr>
                </a:solidFill>
              </a:rPr>
              <a:t>Cas13d</a:t>
            </a:r>
            <a:r>
              <a:rPr kumimoji="1" lang="ko-KR" altLang="en-US">
                <a:solidFill>
                  <a:schemeClr val="bg2">
                    <a:lumMod val="10000"/>
                  </a:schemeClr>
                </a:solidFill>
              </a:rPr>
              <a:t> </a:t>
            </a:r>
            <a:endParaRPr kumimoji="1" lang="en-US" altLang="ko-KR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kumimoji="1" lang="en-US" altLang="ko-KR">
                <a:solidFill>
                  <a:schemeClr val="bg2">
                    <a:lumMod val="1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78306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EBF92C-F3E5-8D1A-B719-C6F0ECBB4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10893106" cy="1520481"/>
          </a:xfrm>
        </p:spPr>
        <p:txBody>
          <a:bodyPr>
            <a:spAutoFit/>
          </a:bodyPr>
          <a:lstStyle/>
          <a:p>
            <a:pPr marL="514350" indent="-514350"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Pathogen RNA is recognized by a Cas13-crRNA complex</a:t>
            </a:r>
          </a:p>
          <a:p>
            <a:pPr marL="514350" indent="-514350"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Target recognition activates Cas13, leading to collateral cleavage of reporter RNA</a:t>
            </a:r>
          </a:p>
          <a:p>
            <a:pPr marL="514350" indent="-514350">
              <a:buAutoNum type="arabicPeriod"/>
            </a:pP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Reporter cleavage generates a detectable fluorescence or lateral-flow signal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C508C3-B6E4-918C-B92A-89E8B1427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kumimoji="1" lang="en-US" altLang="ko-KR" dirty="0"/>
              <a:t>Pathogen RNA → activation → signal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8CC740C-E3B0-5F53-1637-4B5A35F9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Cas13-based pathogen detection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2F7F56-C246-C697-9A52-DC8501640C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5</a:t>
            </a:fld>
            <a:r>
              <a:rPr lang="en-US" altLang="ko-KR" dirty="0"/>
              <a:t> /12</a:t>
            </a:r>
            <a:endParaRPr lang="en-BE" sz="1600"/>
          </a:p>
        </p:txBody>
      </p:sp>
      <p:pic>
        <p:nvPicPr>
          <p:cNvPr id="4098" name="Picture 2" descr="CRISPR-Cas13a as a next-generation tool for rapid and precise plant RNA  virus diagnostics | Plant Methods | Springer Nature Link">
            <a:extLst>
              <a:ext uri="{FF2B5EF4-FFF2-40B4-BE49-F238E27FC236}">
                <a16:creationId xmlns:a16="http://schemas.microsoft.com/office/drawing/2014/main" id="{4B57596F-F4E7-660F-649F-91654B556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9" b="50078"/>
          <a:stretch>
            <a:fillRect/>
          </a:stretch>
        </p:blipFill>
        <p:spPr bwMode="auto">
          <a:xfrm>
            <a:off x="648968" y="3442841"/>
            <a:ext cx="10799065" cy="274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3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24DE-7391-02FC-C0B4-116993A8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C6B1A6-CA8B-81E3-BEA5-37B8202DE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10893106" cy="2036520"/>
          </a:xfrm>
        </p:spPr>
        <p:txBody>
          <a:bodyPr>
            <a:spAutoFit/>
          </a:bodyPr>
          <a:lstStyle/>
          <a:p>
            <a:pPr marL="457200" indent="-457200">
              <a:buFontTx/>
              <a:buChar char="-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rRNA is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gRNA in CRISPR system</a:t>
            </a: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CrRNA design is predicting which spacer will actually work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Knockdown efficiency varies widely depending on spacer choice</a:t>
            </a: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	→ 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Whatever Cas13, readout is only as good as the crRNA</a:t>
            </a:r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131D5-3D2C-20B1-39CA-74866FE2AE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/>
          </a:bodyPr>
          <a:lstStyle/>
          <a:p>
            <a:r>
              <a:rPr kumimoji="1" lang="en-US" altLang="ko-KR" dirty="0"/>
              <a:t>Same Cas13 system, different spacer → very different activity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27F86A-E175-EBF9-9563-DF2D18A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GRNA design bottleneck</a:t>
            </a:r>
            <a:endParaRPr lang="en-BE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44BC85-1B6F-1147-D44B-A5403AACA6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6</a:t>
            </a:fld>
            <a:r>
              <a:rPr lang="en-US" altLang="ko-KR" dirty="0"/>
              <a:t> /12</a:t>
            </a:r>
            <a:endParaRPr lang="en-BE"/>
          </a:p>
        </p:txBody>
      </p:sp>
      <p:pic>
        <p:nvPicPr>
          <p:cNvPr id="9" name="Picture 4" descr="An easy step-by-step guide to designing Cas13 gRNAs">
            <a:extLst>
              <a:ext uri="{FF2B5EF4-FFF2-40B4-BE49-F238E27FC236}">
                <a16:creationId xmlns:a16="http://schemas.microsoft.com/office/drawing/2014/main" id="{EBF9F495-14AE-15B7-1851-54B594DC9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301" y="3835534"/>
            <a:ext cx="4863399" cy="277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CAA539-57F0-56B2-BC43-7555C30A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10893106" cy="3715954"/>
          </a:xfrm>
        </p:spPr>
        <p:txBody>
          <a:bodyPr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Many interacting factors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crRNA sequence, target accessibility, RNA structure, and specificity all affect Cas13 activity</a:t>
            </a:r>
          </a:p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RNA structure uncertainty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target accessibility is difficult to predict because RNA folding can change inside cells</a:t>
            </a:r>
          </a:p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Off-target risk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similar transcripts or pathogen variants can cause off-target binding or weak detection signals</a:t>
            </a:r>
          </a:p>
          <a:p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→ Slow, costly, hard to generalize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35B1B-AC50-0FEA-DB1F-05BB543DB6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/>
          </a:bodyPr>
          <a:lstStyle/>
          <a:p>
            <a:r>
              <a:rPr lang="en-US" altLang="ko-KR" dirty="0"/>
              <a:t>What makes crRNA design difficult?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D83888C-6E35-B576-F4D4-FB57824F659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ko-KR" dirty="0"/>
              <a:t>GRNA design bottleneck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56A991-57D3-3310-7B89-F87B9F1AD6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7</a:t>
            </a:fld>
            <a:r>
              <a:rPr lang="en-US" altLang="ko-KR" dirty="0"/>
              <a:t> /12</a:t>
            </a:r>
            <a:endParaRPr lang="en-BE" sz="1600"/>
          </a:p>
        </p:txBody>
      </p:sp>
    </p:spTree>
    <p:extLst>
      <p:ext uri="{BB962C8B-B14F-4D97-AF65-F5344CB8AC3E}">
        <p14:creationId xmlns:p14="http://schemas.microsoft.com/office/powerpoint/2010/main" val="47994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AB2A-45EF-735D-58A0-588E07F8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2C401-E8B3-2309-831C-1B92EC2E19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dirty="0"/>
              <a:t>AI reduces trial-and-error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668AFA-4FD5-7EBD-34F2-71DE58D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Artificial Intelligent for </a:t>
            </a:r>
            <a:r>
              <a:rPr lang="en-US" dirty="0" err="1"/>
              <a:t>crrNA</a:t>
            </a:r>
            <a:r>
              <a:rPr lang="en-US" dirty="0"/>
              <a:t> design</a:t>
            </a:r>
            <a:endParaRPr lang="en-BE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3065B0A-2CBA-32D7-53DD-0D8E90DF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0" y="1889759"/>
            <a:ext cx="5814648" cy="3789681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Prediction-guided screening starts from likely high-performing guides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Score candidate crRNAs first, then validate only a short list</a:t>
            </a:r>
            <a:endParaRPr lang="ko-KR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8D3838-0DE5-134C-372D-879E0AE8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01"/>
          <a:stretch>
            <a:fillRect/>
          </a:stretch>
        </p:blipFill>
        <p:spPr>
          <a:xfrm>
            <a:off x="6357257" y="1261095"/>
            <a:ext cx="4873447" cy="546038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249DCD-A674-0EA8-3265-F727CAD185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179691" y="6356350"/>
            <a:ext cx="1384177" cy="365125"/>
          </a:xfrm>
        </p:spPr>
        <p:txBody>
          <a:bodyPr/>
          <a:lstStyle/>
          <a:p>
            <a:fld id="{3C1D3A25-F5F4-AF4A-8239-A533218656DA}" type="slidenum">
              <a:rPr lang="en-BE" smtClean="0"/>
              <a:pPr/>
              <a:t>8</a:t>
            </a:fld>
            <a:r>
              <a:rPr lang="en-US" altLang="ko-KR" dirty="0"/>
              <a:t> /12</a:t>
            </a:r>
            <a:endParaRPr lang="en-BE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EB1AAF-8DC7-E75C-8A13-E99AB6E0F941}"/>
              </a:ext>
            </a:extLst>
          </p:cNvPr>
          <p:cNvSpPr/>
          <p:nvPr/>
        </p:nvSpPr>
        <p:spPr>
          <a:xfrm>
            <a:off x="9122229" y="1144651"/>
            <a:ext cx="1959266" cy="357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08049A-3A3C-C243-710D-DE30C96D983B}"/>
              </a:ext>
            </a:extLst>
          </p:cNvPr>
          <p:cNvSpPr/>
          <p:nvPr/>
        </p:nvSpPr>
        <p:spPr>
          <a:xfrm>
            <a:off x="6745185" y="1502229"/>
            <a:ext cx="1384178" cy="52192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724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11490-AEEE-0A6B-8015-72B41348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88AA-EEAA-656A-BE52-BC1D3219B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dirty="0"/>
              <a:t>Cas13d guide-activity predictor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3DD444-7AA2-1247-55C4-55DC3860FAC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ko-KR" dirty="0"/>
              <a:t>DeepCas13 overview</a:t>
            </a:r>
            <a:endParaRPr lang="en-BE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ABD6C61-6EFD-D936-06F9-CA7E8B650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8" y="1889759"/>
            <a:ext cx="10688095" cy="1908279"/>
          </a:xfr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Guide-design model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predicts on-target knockdown</a:t>
            </a:r>
            <a:br>
              <a:rPr lang="en-US" altLang="ko-KR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efficiency of Cas13d (</a:t>
            </a:r>
            <a:r>
              <a:rPr lang="en-US" altLang="ko-KR" dirty="0" err="1">
                <a:solidFill>
                  <a:schemeClr val="bg2">
                    <a:lumMod val="10000"/>
                  </a:schemeClr>
                </a:solidFill>
              </a:rPr>
              <a:t>CasRx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) guides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Trained on 22,599 gRNAs across coding &amp; non-coding RNAs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Unlike Cas9 tools that use sequence only, it also feeds in RNA secondary structure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0AE63D-3B9A-CE91-BDE0-7BDA9481D9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9</a:t>
            </a:fld>
            <a:r>
              <a:rPr lang="en-US" altLang="ko-KR" dirty="0"/>
              <a:t> /12</a:t>
            </a:r>
            <a:endParaRPr lang="en-BE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C8249BA-6FFF-0ADD-5AF1-C9912493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t="82647" r="77586" b="11049"/>
          <a:stretch>
            <a:fillRect/>
          </a:stretch>
        </p:blipFill>
        <p:spPr>
          <a:xfrm>
            <a:off x="7970108" y="1346009"/>
            <a:ext cx="3260596" cy="1312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E8096DC-F531-1885-D8EE-CA9872BBE3DE}"/>
              </a:ext>
            </a:extLst>
          </p:cNvPr>
          <p:cNvPicPr>
            <a:picLocks/>
          </p:cNvPicPr>
          <p:nvPr/>
        </p:nvPicPr>
        <p:blipFill>
          <a:blip r:embed="rId3"/>
          <a:srcRect l="8362" t="85667" r="77586" b="14222"/>
          <a:stretch>
            <a:fillRect/>
          </a:stretch>
        </p:blipFill>
        <p:spPr>
          <a:xfrm flipV="1">
            <a:off x="9269834" y="1356370"/>
            <a:ext cx="1960870" cy="62725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D4F0AE1-9660-816C-C530-A2E9C2CD429E}"/>
              </a:ext>
            </a:extLst>
          </p:cNvPr>
          <p:cNvGrpSpPr/>
          <p:nvPr/>
        </p:nvGrpSpPr>
        <p:grpSpPr>
          <a:xfrm>
            <a:off x="2641747" y="3669475"/>
            <a:ext cx="6908507" cy="3165458"/>
            <a:chOff x="542609" y="1889759"/>
            <a:chExt cx="8280880" cy="3794275"/>
          </a:xfrm>
        </p:grpSpPr>
        <p:pic>
          <p:nvPicPr>
            <p:cNvPr id="12" name="Picture 2" descr="Fig. 1: DeepCas13 predicts Cas13d on-target activity effectively.">
              <a:extLst>
                <a:ext uri="{FF2B5EF4-FFF2-40B4-BE49-F238E27FC236}">
                  <a16:creationId xmlns:a16="http://schemas.microsoft.com/office/drawing/2014/main" id="{B1463CD5-59F3-C0A0-2DE6-C730049520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90" b="52381"/>
            <a:stretch>
              <a:fillRect/>
            </a:stretch>
          </p:blipFill>
          <p:spPr bwMode="auto">
            <a:xfrm>
              <a:off x="542609" y="1889759"/>
              <a:ext cx="8280880" cy="3794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132A4CD-09AD-83A2-108E-88D47F1A6E43}"/>
                </a:ext>
              </a:extLst>
            </p:cNvPr>
            <p:cNvSpPr/>
            <p:nvPr/>
          </p:nvSpPr>
          <p:spPr>
            <a:xfrm>
              <a:off x="542609" y="1889759"/>
              <a:ext cx="211153" cy="357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A41669-6ABC-0DFA-F74B-5F176ED3864B}"/>
              </a:ext>
            </a:extLst>
          </p:cNvPr>
          <p:cNvSpPr/>
          <p:nvPr/>
        </p:nvSpPr>
        <p:spPr>
          <a:xfrm>
            <a:off x="2629872" y="3681350"/>
            <a:ext cx="1395863" cy="3153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8632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1849B-DD68-C31B-4F00-84051090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B61BD-1BDA-E848-7283-1A9121DC27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dirty="0"/>
              <a:t>Cas13d guide-activity predictor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6D5733-D490-D5A3-B5B7-0286E72F9A8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ko-KR" dirty="0"/>
              <a:t>DeepCas13 overview</a:t>
            </a:r>
            <a:endParaRPr lang="en-BE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2938D87-6624-EE61-14A3-4F22DB653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8" y="1889759"/>
            <a:ext cx="10688095" cy="1908279"/>
          </a:xfr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Guide-design model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predicts on-target knockdown</a:t>
            </a:r>
            <a:br>
              <a:rPr lang="en-US" altLang="ko-KR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efficiency of Cas13d (</a:t>
            </a:r>
            <a:r>
              <a:rPr lang="en-US" altLang="ko-KR" dirty="0" err="1">
                <a:solidFill>
                  <a:schemeClr val="bg2">
                    <a:lumMod val="10000"/>
                  </a:schemeClr>
                </a:solidFill>
              </a:rPr>
              <a:t>CasRx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) guides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Trained on 22,599 gRNAs across coding &amp; non-coding RNAs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Unlike Cas9 tools that use sequence only, it also feeds in RNA secondary structure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0FD3DA-493E-6566-9836-8728394226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altLang="ko-KR" dirty="0"/>
              <a:t>9 /12</a:t>
            </a:r>
            <a:endParaRPr lang="en-BE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393822C-8CF9-A8C1-B647-B4D17ABE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t="82647" r="77586" b="11049"/>
          <a:stretch>
            <a:fillRect/>
          </a:stretch>
        </p:blipFill>
        <p:spPr>
          <a:xfrm>
            <a:off x="7970108" y="1346009"/>
            <a:ext cx="3260596" cy="1312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35E0E41-AC87-DFFE-DBD6-C44CA2C3B8BF}"/>
              </a:ext>
            </a:extLst>
          </p:cNvPr>
          <p:cNvPicPr>
            <a:picLocks/>
          </p:cNvPicPr>
          <p:nvPr/>
        </p:nvPicPr>
        <p:blipFill>
          <a:blip r:embed="rId3"/>
          <a:srcRect l="8362" t="85667" r="77586" b="14222"/>
          <a:stretch>
            <a:fillRect/>
          </a:stretch>
        </p:blipFill>
        <p:spPr>
          <a:xfrm flipV="1">
            <a:off x="9269834" y="1356370"/>
            <a:ext cx="1960870" cy="62725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C16F816-49F0-4F86-B8BF-5D291D64B4EF}"/>
              </a:ext>
            </a:extLst>
          </p:cNvPr>
          <p:cNvGrpSpPr/>
          <p:nvPr/>
        </p:nvGrpSpPr>
        <p:grpSpPr>
          <a:xfrm>
            <a:off x="2641747" y="3669475"/>
            <a:ext cx="6908507" cy="3165458"/>
            <a:chOff x="542609" y="1889759"/>
            <a:chExt cx="8280880" cy="3794275"/>
          </a:xfrm>
        </p:grpSpPr>
        <p:pic>
          <p:nvPicPr>
            <p:cNvPr id="12" name="Picture 2" descr="Fig. 1: DeepCas13 predicts Cas13d on-target activity effectively.">
              <a:extLst>
                <a:ext uri="{FF2B5EF4-FFF2-40B4-BE49-F238E27FC236}">
                  <a16:creationId xmlns:a16="http://schemas.microsoft.com/office/drawing/2014/main" id="{AE525042-77F3-2919-0D9B-623E94F5B9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90" b="52381"/>
            <a:stretch>
              <a:fillRect/>
            </a:stretch>
          </p:blipFill>
          <p:spPr bwMode="auto">
            <a:xfrm>
              <a:off x="542609" y="1889759"/>
              <a:ext cx="8280880" cy="3794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015FE1C-A2A2-8C85-5FC5-CF3151D68F4D}"/>
                </a:ext>
              </a:extLst>
            </p:cNvPr>
            <p:cNvSpPr/>
            <p:nvPr/>
          </p:nvSpPr>
          <p:spPr>
            <a:xfrm>
              <a:off x="542609" y="1889759"/>
              <a:ext cx="211153" cy="357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478987-59BA-A55C-6FA3-1E1377A640D6}"/>
              </a:ext>
            </a:extLst>
          </p:cNvPr>
          <p:cNvSpPr/>
          <p:nvPr/>
        </p:nvSpPr>
        <p:spPr>
          <a:xfrm>
            <a:off x="3971783" y="3681350"/>
            <a:ext cx="3343417" cy="3153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996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C3C8-FADA-AB07-24DF-38E7B908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AF505-63A4-712E-8EBF-DEB33C01D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dirty="0"/>
              <a:t>Cas13d guide-activity predictor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E3AA-08FE-BF56-8C1A-061DD0BCF80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ko-KR" dirty="0"/>
              <a:t>DeepCas13 overview</a:t>
            </a:r>
            <a:endParaRPr lang="en-BE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9ACFB12-CFA2-2999-A87D-8AF2CA595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8" y="1889759"/>
            <a:ext cx="10688095" cy="1908279"/>
          </a:xfr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b="1" dirty="0">
                <a:solidFill>
                  <a:schemeClr val="bg2">
                    <a:lumMod val="10000"/>
                  </a:schemeClr>
                </a:solidFill>
              </a:rPr>
              <a:t>Guide-design model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: predicts on-target knockdown</a:t>
            </a:r>
            <a:br>
              <a:rPr lang="en-US" altLang="ko-KR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efficiency of Cas13d (</a:t>
            </a:r>
            <a:r>
              <a:rPr lang="en-US" altLang="ko-KR" dirty="0" err="1">
                <a:solidFill>
                  <a:schemeClr val="bg2">
                    <a:lumMod val="10000"/>
                  </a:schemeClr>
                </a:solidFill>
              </a:rPr>
              <a:t>CasRx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) guides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Trained on 22,599 gRNAs across coding &amp; non-coding RNAs</a:t>
            </a:r>
          </a:p>
          <a:p>
            <a:pPr marL="457200" indent="-457200">
              <a:buFontTx/>
              <a:buChar char="-"/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Unlike Cas9 tools that use sequence only, it also feeds in RNA secondary structure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C4ED12-4E86-40E4-57B8-76091F2CA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altLang="ko-KR" dirty="0"/>
              <a:t>9 /12</a:t>
            </a:r>
            <a:endParaRPr lang="en-BE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8E5BB8-94C0-06FB-7B9C-FA7CA53053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t="82647" r="77586" b="11049"/>
          <a:stretch>
            <a:fillRect/>
          </a:stretch>
        </p:blipFill>
        <p:spPr>
          <a:xfrm>
            <a:off x="7970108" y="1346009"/>
            <a:ext cx="3260596" cy="1312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C80A34-3291-53C3-1D33-D170EE884A14}"/>
              </a:ext>
            </a:extLst>
          </p:cNvPr>
          <p:cNvPicPr>
            <a:picLocks/>
          </p:cNvPicPr>
          <p:nvPr/>
        </p:nvPicPr>
        <p:blipFill>
          <a:blip r:embed="rId3"/>
          <a:srcRect l="8362" t="85667" r="77586" b="14222"/>
          <a:stretch>
            <a:fillRect/>
          </a:stretch>
        </p:blipFill>
        <p:spPr>
          <a:xfrm flipV="1">
            <a:off x="9269834" y="1356370"/>
            <a:ext cx="1960870" cy="62725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FED7522-AE77-0504-CA1F-8663DB2E1853}"/>
              </a:ext>
            </a:extLst>
          </p:cNvPr>
          <p:cNvGrpSpPr/>
          <p:nvPr/>
        </p:nvGrpSpPr>
        <p:grpSpPr>
          <a:xfrm>
            <a:off x="2641747" y="3669475"/>
            <a:ext cx="6908507" cy="3165458"/>
            <a:chOff x="542609" y="1889759"/>
            <a:chExt cx="8280880" cy="3794275"/>
          </a:xfrm>
        </p:grpSpPr>
        <p:pic>
          <p:nvPicPr>
            <p:cNvPr id="12" name="Picture 2" descr="Fig. 1: DeepCas13 predicts Cas13d on-target activity effectively.">
              <a:extLst>
                <a:ext uri="{FF2B5EF4-FFF2-40B4-BE49-F238E27FC236}">
                  <a16:creationId xmlns:a16="http://schemas.microsoft.com/office/drawing/2014/main" id="{68800D9B-55D7-F63A-9495-F0716C6416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90" b="52381"/>
            <a:stretch>
              <a:fillRect/>
            </a:stretch>
          </p:blipFill>
          <p:spPr bwMode="auto">
            <a:xfrm>
              <a:off x="542609" y="1889759"/>
              <a:ext cx="8280880" cy="3794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0862705-4BD8-2D0D-18E9-682122B32005}"/>
                </a:ext>
              </a:extLst>
            </p:cNvPr>
            <p:cNvSpPr/>
            <p:nvPr/>
          </p:nvSpPr>
          <p:spPr>
            <a:xfrm>
              <a:off x="542609" y="1889759"/>
              <a:ext cx="211153" cy="357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43C8DB-A621-497D-5A48-9D435C460C2E}"/>
              </a:ext>
            </a:extLst>
          </p:cNvPr>
          <p:cNvSpPr/>
          <p:nvPr/>
        </p:nvSpPr>
        <p:spPr>
          <a:xfrm>
            <a:off x="9048997" y="3681350"/>
            <a:ext cx="308749" cy="3153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072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DACEE7-FAB6-D0DC-F65E-8508159BB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10893106" cy="2296078"/>
          </a:xfrm>
        </p:spPr>
        <p:txBody>
          <a:bodyPr>
            <a:spAutoFit/>
          </a:bodyPr>
          <a:lstStyle/>
          <a:p>
            <a:pPr marL="457200" indent="-457200">
              <a:buFontTx/>
              <a:buChar char="-"/>
            </a:pPr>
            <a:r>
              <a:rPr kumimoji="1" lang="en-US" altLang="ko-KR" b="1" dirty="0">
                <a:solidFill>
                  <a:schemeClr val="bg2">
                    <a:lumMod val="10000"/>
                  </a:schemeClr>
                </a:solidFill>
              </a:rPr>
              <a:t>Activity prediction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: predicts guide-dependent on-target efficiency</a:t>
            </a:r>
          </a:p>
          <a:p>
            <a:pPr marL="457200" indent="-457200">
              <a:buFontTx/>
              <a:buChar char="-"/>
            </a:pPr>
            <a:r>
              <a:rPr kumimoji="1" lang="en-US" altLang="ko-KR" b="1" dirty="0">
                <a:solidFill>
                  <a:schemeClr val="bg2">
                    <a:lumMod val="10000"/>
                  </a:schemeClr>
                </a:solidFill>
              </a:rPr>
              <a:t>Off-target / viability modeling:</a:t>
            </a:r>
            <a:r>
              <a:rPr kumimoji="1" lang="ko-KR" alt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helps identify guides with potential off-target or viability-related effects</a:t>
            </a:r>
          </a:p>
          <a:p>
            <a:pPr marL="457200" indent="-457200">
              <a:buFontTx/>
              <a:buChar char="-"/>
            </a:pPr>
            <a:r>
              <a:rPr kumimoji="1" lang="en-US" altLang="ko-KR" b="1" dirty="0">
                <a:solidFill>
                  <a:schemeClr val="bg2">
                    <a:lumMod val="10000"/>
                  </a:schemeClr>
                </a:solidFill>
              </a:rPr>
              <a:t>Candidate prioritization</a:t>
            </a:r>
            <a:r>
              <a:rPr kumimoji="1" lang="en-US" altLang="ko-KR" dirty="0">
                <a:solidFill>
                  <a:schemeClr val="bg2">
                    <a:lumMod val="10000"/>
                  </a:schemeClr>
                </a:solidFill>
              </a:rPr>
              <a:t>: ranks crRNAs before validation, reducing trial-and-error screening</a:t>
            </a:r>
            <a:endParaRPr kumimoji="1" lang="ko-KR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AAA221-E663-6FAF-FFE6-17BBC71EA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kumimoji="1" lang="en-US" altLang="ko-KR" dirty="0"/>
              <a:t>Better-prioritized guides &amp; much less screening</a:t>
            </a:r>
            <a:endParaRPr kumimoji="1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32C0698-BE9C-6886-6537-F3ADEF45EF2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kumimoji="1" lang="en-US" altLang="ko-KR" dirty="0"/>
              <a:t>How DeepCas13 helps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F4E87D-9F12-34EB-AD94-86EB5A4BC8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altLang="ko-KR" dirty="0"/>
              <a:t>10 /12</a:t>
            </a:r>
            <a:endParaRPr lang="en-BE" sz="1600"/>
          </a:p>
        </p:txBody>
      </p:sp>
    </p:spTree>
    <p:extLst>
      <p:ext uri="{BB962C8B-B14F-4D97-AF65-F5344CB8AC3E}">
        <p14:creationId xmlns:p14="http://schemas.microsoft.com/office/powerpoint/2010/main" val="429273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BC6B3-365D-18BB-DC42-418C28A0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2C78BB-18EE-4FC2-3F9B-1DC456BEB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10893106" cy="2073196"/>
          </a:xfrm>
        </p:spPr>
        <p:txBody>
          <a:bodyPr>
            <a:spAutoFit/>
          </a:bodyPr>
          <a:lstStyle/>
          <a:p>
            <a:pPr marL="457200" indent="-457200">
              <a:buFontTx/>
              <a:buChar char="-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THE IDEA: Adapt AI-guided guide design to Cas13a diagnostics</a:t>
            </a:r>
          </a:p>
          <a:p>
            <a:pPr marL="1258888" lvl="2" indent="-457200">
              <a:buClr>
                <a:schemeClr val="bg2">
                  <a:lumMod val="1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DeepCas13 predicts efficient Cas13d guides</a:t>
            </a:r>
          </a:p>
          <a:p>
            <a:pPr marL="1258888" lvl="2" indent="-457200">
              <a:buClr>
                <a:schemeClr val="bg2">
                  <a:lumMod val="1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Most Cas13-based RNA detection assays use Cas13a</a:t>
            </a:r>
          </a:p>
          <a:p>
            <a:pPr marL="1258888" lvl="2" indent="-457200">
              <a:buClr>
                <a:schemeClr val="bg2">
                  <a:lumMod val="1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Train or fine-tune models with Cas13a diagnostic guide-activity data</a:t>
            </a:r>
          </a:p>
          <a:p>
            <a:pPr marL="1258888" lvl="2" indent="-457200">
              <a:buClr>
                <a:schemeClr val="bg2">
                  <a:lumMod val="1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Apply this to multiplex and field-ready animal pathogen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DE3C9-0716-1A16-CADC-5BD6F95477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Could AI-designed guides aid pathogen detection?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823102-845A-A6CD-4BE3-E69720E034F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Future perspective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6AAF3B-F05E-13DC-A31F-DACAECBD5B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altLang="ko-KR" dirty="0"/>
              <a:t>11 /12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9761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3BCBA2-243D-78A1-91ED-C54135CEB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09307" y="775224"/>
            <a:ext cx="5800725" cy="1107996"/>
          </a:xfrm>
        </p:spPr>
        <p:txBody>
          <a:bodyPr anchor="ctr">
            <a:spAutoFit/>
          </a:bodyPr>
          <a:lstStyle/>
          <a:p>
            <a:r>
              <a:rPr kumimoji="1" lang="en-US" altLang="ko-KR" sz="6500" cap="all" dirty="0"/>
              <a:t>Thank You</a:t>
            </a:r>
            <a:endParaRPr kumimoji="1" lang="ko-KR" altLang="en-US" sz="6500" cap="all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273D38-44B1-1B18-0ECE-71EC117A54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09305" y="2143333"/>
            <a:ext cx="10072253" cy="646331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Huang, T., Zhang, R., &amp; Li, J. (2022). CRISPR-Cas-based techniques for pathogen detection: Retrospect, recent advances, and future perspectives. Journal of Advanced Research, 50, 69–82. https://</a:t>
            </a:r>
            <a:r>
              <a:rPr kumimoji="1" lang="en-US" altLang="ko-KR" dirty="0" err="1"/>
              <a:t>doi.org</a:t>
            </a:r>
            <a:r>
              <a:rPr kumimoji="1" lang="en-US" altLang="ko-KR" dirty="0"/>
              <a:t>/10.1016/j.jare.2022.10.011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4EAFF75-C232-3CCB-0058-09C984EA0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9305" y="2937197"/>
            <a:ext cx="10072253" cy="923330"/>
          </a:xfrm>
        </p:spPr>
        <p:txBody>
          <a:bodyPr>
            <a:spAutoFit/>
          </a:bodyPr>
          <a:lstStyle/>
          <a:p>
            <a:r>
              <a:rPr lang="en-US" altLang="ko-KR" dirty="0"/>
              <a:t>Cheng, X., Li, Z., Shan, R., Li, Z., Wang, S., Zhao, W., Zhang, H., Chao, L., Peng, J., Fei, T., &amp; Li, W. (2023). Modeling CRISPR-Cas13d on-target and off-target effects using machine learning approaches. </a:t>
            </a:r>
            <a:r>
              <a:rPr lang="en-US" altLang="ko-KR" i="1" dirty="0"/>
              <a:t>Nature Communications</a:t>
            </a:r>
            <a:r>
              <a:rPr lang="en-US" altLang="ko-KR" dirty="0"/>
              <a:t>, </a:t>
            </a:r>
            <a:r>
              <a:rPr lang="en-US" altLang="ko-KR" i="1" dirty="0"/>
              <a:t>14</a:t>
            </a:r>
            <a:r>
              <a:rPr lang="en-US" altLang="ko-KR" dirty="0"/>
              <a:t>(1), 752. https://</a:t>
            </a:r>
            <a:r>
              <a:rPr lang="en-US" altLang="ko-KR" dirty="0" err="1"/>
              <a:t>doi.org</a:t>
            </a:r>
            <a:r>
              <a:rPr lang="en-US" altLang="ko-KR" dirty="0"/>
              <a:t>/10.1038/s41467-023-36316-3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F35831E-728C-AE18-1DB1-FBC702F71C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9305" y="4008060"/>
            <a:ext cx="10072253" cy="646331"/>
          </a:xfrm>
        </p:spPr>
        <p:txBody>
          <a:bodyPr>
            <a:spAutoFit/>
          </a:bodyPr>
          <a:lstStyle/>
          <a:p>
            <a:r>
              <a:rPr lang="en-US" altLang="ko-KR" dirty="0"/>
              <a:t>Kim, M., Go, M., Kang, S., Jeong, S., &amp; Lim, K. (2025). Revolutionizing CRISPR technology with artificial intelligence. </a:t>
            </a:r>
            <a:r>
              <a:rPr lang="en-US" altLang="ko-KR" i="1" dirty="0"/>
              <a:t>Experimental &amp; Molecular Medicine</a:t>
            </a:r>
            <a:r>
              <a:rPr lang="en-US" altLang="ko-KR" dirty="0"/>
              <a:t>, </a:t>
            </a:r>
            <a:r>
              <a:rPr lang="en-US" altLang="ko-KR" i="1" dirty="0"/>
              <a:t>57</a:t>
            </a:r>
            <a:r>
              <a:rPr lang="en-US" altLang="ko-KR" dirty="0"/>
              <a:t>(7), 1419–1431. https://</a:t>
            </a:r>
            <a:r>
              <a:rPr lang="en-US" altLang="ko-KR" dirty="0" err="1"/>
              <a:t>doi.org</a:t>
            </a:r>
            <a:r>
              <a:rPr lang="en-US" altLang="ko-KR" dirty="0"/>
              <a:t>/10.1038/s12276-025-01462-9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F84A4932-A801-47C5-5F4D-DA8CE2F43D3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971369"/>
            <a:ext cx="2652130" cy="360000"/>
          </a:xfrm>
        </p:spPr>
        <p:txBody>
          <a:bodyPr/>
          <a:lstStyle/>
          <a:p>
            <a:r>
              <a:rPr kumimoji="1" lang="en-US" altLang="ko-KR" dirty="0" err="1"/>
              <a:t>Narim.kim@ghent.ac.kr</a:t>
            </a:r>
            <a:endParaRPr kumimoji="1" lang="ko-KR" altLang="en-US" dirty="0"/>
          </a:p>
        </p:txBody>
      </p:sp>
      <p:pic>
        <p:nvPicPr>
          <p:cNvPr id="20" name="그림 개체 틀 19" descr="봉투 단색으로 채워진">
            <a:extLst>
              <a:ext uri="{FF2B5EF4-FFF2-40B4-BE49-F238E27FC236}">
                <a16:creationId xmlns:a16="http://schemas.microsoft.com/office/drawing/2014/main" id="{D57A5442-0ABB-32F7-3753-7D814DC94A22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0" b="220"/>
          <a:stretch>
            <a:fillRect/>
          </a:stretch>
        </p:blipFill>
        <p:spPr>
          <a:xfrm>
            <a:off x="8903448" y="4971369"/>
            <a:ext cx="360000" cy="360000"/>
          </a:xfrm>
        </p:spPr>
      </p:pic>
    </p:spTree>
    <p:extLst>
      <p:ext uri="{BB962C8B-B14F-4D97-AF65-F5344CB8AC3E}">
        <p14:creationId xmlns:p14="http://schemas.microsoft.com/office/powerpoint/2010/main" val="1039458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FD1C3D-DE58-4529-EFBF-AFF6D942DE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Appendix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437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FCA3CFA-850C-AFC5-3F3A-B2E0AB225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5525" y="1889125"/>
            <a:ext cx="7808225" cy="3790950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06C083B-356A-2542-83B6-BF86D92D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cas13c in Cas13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0F006-20D1-585E-8893-EAAF16FBAA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C1D3A25-F5F4-AF4A-8239-A533218656DA}" type="slidenum">
              <a:rPr lang="en-BE" smtClean="0"/>
              <a:pPr/>
              <a:t>16</a:t>
            </a:fld>
            <a:endParaRPr lang="en-BE" sz="1600"/>
          </a:p>
        </p:txBody>
      </p:sp>
    </p:spTree>
    <p:extLst>
      <p:ext uri="{BB962C8B-B14F-4D97-AF65-F5344CB8AC3E}">
        <p14:creationId xmlns:p14="http://schemas.microsoft.com/office/powerpoint/2010/main" val="205701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Kantoorthema">
  <a:themeElements>
    <a:clrScheme name="UGent 1">
      <a:dk1>
        <a:srgbClr val="1D64C7"/>
      </a:dk1>
      <a:lt1>
        <a:srgbClr val="FFFFFF"/>
      </a:lt1>
      <a:dk2>
        <a:srgbClr val="1D64C7"/>
      </a:dk2>
      <a:lt2>
        <a:srgbClr val="E7E6E6"/>
      </a:lt2>
      <a:accent1>
        <a:srgbClr val="1D64C7"/>
      </a:accent1>
      <a:accent2>
        <a:srgbClr val="1D64C7"/>
      </a:accent2>
      <a:accent3>
        <a:srgbClr val="1D64C7"/>
      </a:accent3>
      <a:accent4>
        <a:srgbClr val="1D64C7"/>
      </a:accent4>
      <a:accent5>
        <a:srgbClr val="1D63C6"/>
      </a:accent5>
      <a:accent6>
        <a:srgbClr val="1D64C7"/>
      </a:accent6>
      <a:hlink>
        <a:srgbClr val="1C61C1"/>
      </a:hlink>
      <a:folHlink>
        <a:srgbClr val="1D64C7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UGent_GlobalCampus_EN_" id="{08C58E99-F711-4A88-971D-057BEEC7B508}" vid="{2A3528FA-0E35-4A6B-871D-1D2FCA621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PowerPoint_UGent_GlobalCampus_EN_UGentPannoText</Template>
  <TotalTime>1781</TotalTime>
  <Words>801</Words>
  <Application>Microsoft Office PowerPoint</Application>
  <PresentationFormat>와이드스크린</PresentationFormat>
  <Paragraphs>119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Arial</vt:lpstr>
      <vt:lpstr>Calibri</vt:lpstr>
      <vt:lpstr>UGent Panno Text</vt:lpstr>
      <vt:lpstr>UGent Panno Text Medium</vt:lpstr>
      <vt:lpstr>UGent Panno Text SemiLight</vt:lpstr>
      <vt:lpstr>Wingdings</vt:lpstr>
      <vt:lpstr>Kantoorthema</vt:lpstr>
      <vt:lpstr>PowerPoint 프레젠테이션</vt:lpstr>
      <vt:lpstr>outline</vt:lpstr>
      <vt:lpstr>What is crispr</vt:lpstr>
      <vt:lpstr>Why cas13?</vt:lpstr>
      <vt:lpstr>Why cas13?</vt:lpstr>
      <vt:lpstr>Cas13-based pathogen detection</vt:lpstr>
      <vt:lpstr>GRNA design bottleneck</vt:lpstr>
      <vt:lpstr>GRNA design bottleneck</vt:lpstr>
      <vt:lpstr>Artificial Intelligent for crrNA design</vt:lpstr>
      <vt:lpstr>DeepCas13 overview</vt:lpstr>
      <vt:lpstr>DeepCas13 overview</vt:lpstr>
      <vt:lpstr>DeepCas13 overview</vt:lpstr>
      <vt:lpstr>How DeepCas13 helps</vt:lpstr>
      <vt:lpstr>Future perspective</vt:lpstr>
      <vt:lpstr>PowerPoint 프레젠테이션</vt:lpstr>
      <vt:lpstr>PowerPoint 프레젠테이션</vt:lpstr>
      <vt:lpstr>cas13c in Cas13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Hyoseob Shon</dc:creator>
  <cp:lastModifiedBy>Subin Hyun</cp:lastModifiedBy>
  <cp:revision>7</cp:revision>
  <dcterms:created xsi:type="dcterms:W3CDTF">2026-06-20T07:49:10Z</dcterms:created>
  <dcterms:modified xsi:type="dcterms:W3CDTF">2026-06-25T14:56:57Z</dcterms:modified>
</cp:coreProperties>
</file>