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7" r:id="rId4"/>
    <p:sldId id="277" r:id="rId5"/>
    <p:sldId id="278" r:id="rId6"/>
    <p:sldId id="266" r:id="rId7"/>
    <p:sldId id="273" r:id="rId8"/>
    <p:sldId id="274" r:id="rId9"/>
    <p:sldId id="281" r:id="rId10"/>
    <p:sldId id="282" r:id="rId11"/>
    <p:sldId id="280" r:id="rId12"/>
  </p:sldIdLst>
  <p:sldSz cx="24384000" cy="13716000"/>
  <p:notesSz cx="6858000" cy="9144000"/>
  <p:embeddedFontLst>
    <p:embeddedFont>
      <p:font typeface="맑은 고딕" panose="020B0503020000020004" pitchFamily="34" charset="-127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3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72" autoAdjust="0"/>
    <p:restoredTop sz="52220" autoAdjust="0"/>
  </p:normalViewPr>
  <p:slideViewPr>
    <p:cSldViewPr>
      <p:cViewPr varScale="1">
        <p:scale>
          <a:sx n="21" d="100"/>
          <a:sy n="21" d="100"/>
        </p:scale>
        <p:origin x="2145" y="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90189D-AC0F-45AA-B30F-AB1F5DFA439A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77E3D0-4F84-4F2E-A879-F6739ABE6C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818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7E3D0-4F84-4F2E-A879-F6739ABE6C9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23850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7E3D0-4F84-4F2E-A879-F6739ABE6C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77954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7E3D0-4F84-4F2E-A879-F6739ABE6C9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535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7E3D0-4F84-4F2E-A879-F6739ABE6C9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87190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endParaRPr lang="ko-KR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7E3D0-4F84-4F2E-A879-F6739ABE6C9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678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endParaRPr lang="ko-KR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7E3D0-4F84-4F2E-A879-F6739ABE6C9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84396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endParaRPr lang="ko-KR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7E3D0-4F84-4F2E-A879-F6739ABE6C9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26320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endParaRPr lang="ko-KR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7E3D0-4F84-4F2E-A879-F6739ABE6C9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4745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7E3D0-4F84-4F2E-A879-F6739ABE6C9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75511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endParaRPr lang="ko-KR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7E3D0-4F84-4F2E-A879-F6739ABE6C9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71067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7E3D0-4F84-4F2E-A879-F6739ABE6C9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268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07/978-1-4939-8935-5_25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doi.org/10.1109/CVPR.2017.632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371/journal.pone.0341311" TargetMode="External"/><Relationship Id="rId5" Type="http://schemas.openxmlformats.org/officeDocument/2006/relationships/hyperlink" Target="https://doi.org/10.1101/pdb.prot4986" TargetMode="External"/><Relationship Id="rId10" Type="http://schemas.openxmlformats.org/officeDocument/2006/relationships/hyperlink" Target="https://doi.org/10.1109/ICCV.2017.244" TargetMode="External"/><Relationship Id="rId4" Type="http://schemas.openxmlformats.org/officeDocument/2006/relationships/image" Target="../media/image1.png"/><Relationship Id="rId9" Type="http://schemas.openxmlformats.org/officeDocument/2006/relationships/hyperlink" Target="https://doi.org/10.1016/j.mjafi.2016.07.00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900" y="1130300"/>
            <a:ext cx="21666200" cy="381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358900" y="2654300"/>
            <a:ext cx="16090900" cy="3111500"/>
          </a:xfrm>
          <a:prstGeom prst="rect">
            <a:avLst/>
          </a:prstGeom>
        </p:spPr>
        <p:txBody>
          <a:bodyPr lIns="0" tIns="100751" rIns="0" bIns="0" rtlCol="0" anchor="t"/>
          <a:lstStyle/>
          <a:p>
            <a:pPr lvl="0" algn="l">
              <a:lnSpc>
                <a:spcPct val="102089"/>
              </a:lnSpc>
            </a:pPr>
            <a:r>
              <a:rPr lang="en-US" sz="9333" b="1" i="0" u="none" strike="noStrike" dirty="0">
                <a:solidFill>
                  <a:srgbClr val="0070C0"/>
                </a:solidFill>
                <a:latin typeface="Arial" panose="020B0604020202020204" pitchFamily="34" charset="0"/>
                <a:ea typeface="Pretendard ExtraBold"/>
                <a:cs typeface="Arial" panose="020B0604020202020204" pitchFamily="34" charset="0"/>
              </a:rPr>
              <a:t>Virtual Staining </a:t>
            </a:r>
            <a:r>
              <a:rPr lang="en-US" sz="9333" b="0" i="0" u="none" strike="noStrike" dirty="0">
                <a:solidFill>
                  <a:srgbClr val="595959"/>
                </a:solidFill>
                <a:latin typeface="Arial" panose="020B0604020202020204" pitchFamily="34" charset="0"/>
                <a:ea typeface="Pretendard ExtraBold"/>
                <a:cs typeface="Arial" panose="020B0604020202020204" pitchFamily="34" charset="0"/>
              </a:rPr>
              <a:t>for histology by </a:t>
            </a:r>
            <a:r>
              <a:rPr lang="en-US" sz="9333" b="1" dirty="0">
                <a:solidFill>
                  <a:srgbClr val="595959"/>
                </a:solidFill>
                <a:latin typeface="Arial" panose="020B0604020202020204" pitchFamily="34" charset="0"/>
                <a:ea typeface="Pretendard ExtraBold"/>
                <a:cs typeface="Arial" panose="020B0604020202020204" pitchFamily="34" charset="0"/>
              </a:rPr>
              <a:t>D</a:t>
            </a:r>
            <a:r>
              <a:rPr lang="en-US" sz="9333" b="1" i="0" u="none" strike="noStrike" dirty="0">
                <a:solidFill>
                  <a:srgbClr val="595959"/>
                </a:solidFill>
                <a:latin typeface="Arial" panose="020B0604020202020204" pitchFamily="34" charset="0"/>
                <a:ea typeface="Pretendard ExtraBold"/>
                <a:cs typeface="Arial" panose="020B0604020202020204" pitchFamily="34" charset="0"/>
              </a:rPr>
              <a:t>eep Learning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97000" y="1854200"/>
            <a:ext cx="8559800" cy="622300"/>
          </a:xfrm>
          <a:prstGeom prst="rect">
            <a:avLst/>
          </a:prstGeom>
        </p:spPr>
        <p:txBody>
          <a:bodyPr lIns="0" tIns="4402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466" cap="all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Ghent University</a:t>
            </a:r>
            <a:endParaRPr lang="en-US" sz="3466" b="0" i="0" u="none" strike="noStrike" cap="all" dirty="0">
              <a:solidFill>
                <a:srgbClr val="787878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4249400" y="10515600"/>
            <a:ext cx="8572500" cy="1384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25329"/>
              </a:lnSpc>
            </a:pPr>
            <a:r>
              <a:rPr lang="en-US" sz="3733" i="0" u="none" strike="noStrike" dirty="0">
                <a:solidFill>
                  <a:srgbClr val="595959"/>
                </a:solidFill>
                <a:latin typeface="Arial" panose="020B0604020202020204" pitchFamily="34" charset="0"/>
                <a:ea typeface="Pretendard Bold"/>
                <a:cs typeface="Arial" panose="020B0604020202020204" pitchFamily="34" charset="0"/>
              </a:rPr>
              <a:t>Seoeun Jang</a:t>
            </a:r>
            <a:endParaRPr lang="en-US" sz="3733" i="0" u="none" strike="noStrike" dirty="0">
              <a:solidFill>
                <a:srgbClr val="595959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  <a:p>
            <a:pPr lvl="0" algn="r">
              <a:lnSpc>
                <a:spcPct val="125329"/>
              </a:lnSpc>
            </a:pPr>
            <a:r>
              <a:rPr lang="en-US" sz="3733" i="0" u="none" strike="noStrike" dirty="0">
                <a:solidFill>
                  <a:srgbClr val="595959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02315545</a:t>
            </a:r>
            <a:endParaRPr lang="en-US" sz="3733" i="0" u="none" strike="noStrike" dirty="0">
              <a:solidFill>
                <a:srgbClr val="595959"/>
              </a:solidFill>
              <a:latin typeface="Arial" panose="020B0604020202020204" pitchFamily="34" charset="0"/>
              <a:ea typeface="Pretendard Bold"/>
              <a:cs typeface="Arial" panose="020B0604020202020204" pitchFamily="34" charset="0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900" y="12522200"/>
            <a:ext cx="216662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900" y="1270000"/>
            <a:ext cx="21666200" cy="38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900" y="12522200"/>
            <a:ext cx="21666200" cy="38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358900" y="2171700"/>
            <a:ext cx="15024100" cy="1231900"/>
          </a:xfrm>
          <a:prstGeom prst="rect">
            <a:avLst/>
          </a:prstGeom>
        </p:spPr>
        <p:txBody>
          <a:bodyPr lIns="0" tIns="74843" rIns="0" bIns="0" rtlCol="0" anchor="t"/>
          <a:lstStyle/>
          <a:p>
            <a:pPr lvl="0" algn="l">
              <a:lnSpc>
                <a:spcPct val="102089"/>
              </a:lnSpc>
            </a:pPr>
            <a:r>
              <a:rPr lang="en-US" sz="6933" b="1" i="0" u="none" strike="noStrike" dirty="0">
                <a:solidFill>
                  <a:srgbClr val="0070C0"/>
                </a:solidFill>
                <a:latin typeface="Arial" panose="020B0604020202020204" pitchFamily="34" charset="0"/>
                <a:ea typeface="Pretendard ExtraBold"/>
                <a:cs typeface="Arial" panose="020B0604020202020204" pitchFamily="34" charset="0"/>
              </a:rPr>
              <a:t>Contents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0800000">
            <a:off x="1358900" y="4089400"/>
            <a:ext cx="6337300" cy="254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384300" y="4445000"/>
            <a:ext cx="2476500" cy="622300"/>
          </a:xfrm>
          <a:prstGeom prst="rect">
            <a:avLst/>
          </a:prstGeom>
        </p:spPr>
        <p:txBody>
          <a:bodyPr lIns="0" tIns="4402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466" b="0" i="0" u="none" strike="noStrike" cap="all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84300" y="5308600"/>
            <a:ext cx="58420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en-US" sz="3733" b="1" i="0" u="none" strike="noStrike" dirty="0">
                <a:solidFill>
                  <a:srgbClr val="595959"/>
                </a:solidFill>
                <a:latin typeface="Arial" panose="020B0604020202020204" pitchFamily="34" charset="0"/>
                <a:ea typeface="Pretendard Bold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71600" y="12827000"/>
            <a:ext cx="101600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cap="all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Virtual staining for histology by deep learning </a:t>
            </a:r>
            <a:endParaRPr lang="en-US" sz="2666" b="0" i="0" u="none" strike="noStrike" cap="all" dirty="0">
              <a:solidFill>
                <a:srgbClr val="787878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0027900" y="12827000"/>
            <a:ext cx="29845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2666" b="0" i="0" u="none" strike="noStrike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Page 2/1</a:t>
            </a:r>
            <a:r>
              <a:rPr lang="en-US" sz="2666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1</a:t>
            </a:r>
            <a:endParaRPr lang="en-US" sz="2666" b="0" i="0" u="none" strike="noStrike" dirty="0">
              <a:solidFill>
                <a:srgbClr val="787878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84300" y="6172199"/>
            <a:ext cx="6172200" cy="184149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en-US" sz="3066" b="0" i="0" u="none" strike="noStrike" dirty="0">
                <a:solidFill>
                  <a:srgbClr val="595959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Histology · Staining Need · Conventional Limits</a:t>
            </a:r>
            <a:endParaRPr lang="en-US" sz="3066" dirty="0">
              <a:solidFill>
                <a:srgbClr val="595959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16700500" y="4089400"/>
            <a:ext cx="6324600" cy="25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6725900" y="4445000"/>
            <a:ext cx="2476500" cy="622300"/>
          </a:xfrm>
          <a:prstGeom prst="rect">
            <a:avLst/>
          </a:prstGeom>
        </p:spPr>
        <p:txBody>
          <a:bodyPr lIns="0" tIns="4402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466" b="0" i="0" u="none" strike="noStrike" cap="all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725900" y="5308600"/>
            <a:ext cx="6172200" cy="800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25329"/>
              </a:lnSpc>
            </a:pPr>
            <a:r>
              <a:rPr lang="en-US" altLang="ko-KR" sz="3733" b="1" dirty="0">
                <a:solidFill>
                  <a:srgbClr val="595959"/>
                </a:solidFill>
                <a:latin typeface="Arial" panose="020B0604020202020204" pitchFamily="34" charset="0"/>
                <a:ea typeface="Pretendard Bold"/>
                <a:cs typeface="Arial" panose="020B0604020202020204" pitchFamily="34" charset="0"/>
              </a:rPr>
              <a:t>Workflow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725900" y="6172200"/>
            <a:ext cx="6172200" cy="1130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en-US" sz="3066" b="0" i="0" u="none" strike="noStrike" dirty="0">
                <a:solidFill>
                  <a:srgbClr val="595959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Collection · Training · Validation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9029700" y="4089400"/>
            <a:ext cx="6324600" cy="254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9055100" y="4445000"/>
            <a:ext cx="2476500" cy="622300"/>
          </a:xfrm>
          <a:prstGeom prst="rect">
            <a:avLst/>
          </a:prstGeom>
        </p:spPr>
        <p:txBody>
          <a:bodyPr lIns="0" tIns="4402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466" b="0" i="0" u="none" strike="noStrike" cap="all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55100" y="5308600"/>
            <a:ext cx="58420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en-US" sz="3733" b="1" dirty="0">
                <a:solidFill>
                  <a:srgbClr val="595959"/>
                </a:solidFill>
                <a:latin typeface="Arial" panose="020B0604020202020204" pitchFamily="34" charset="0"/>
                <a:ea typeface="Pretendard Bold"/>
                <a:cs typeface="Arial" panose="020B0604020202020204" pitchFamily="34" charset="0"/>
              </a:rPr>
              <a:t>Virtual Staining</a:t>
            </a:r>
            <a:endParaRPr lang="en-US" sz="3733" b="1" i="0" u="none" strike="noStrike" dirty="0">
              <a:solidFill>
                <a:srgbClr val="595959"/>
              </a:solidFill>
              <a:latin typeface="Arial" panose="020B0604020202020204" pitchFamily="34" charset="0"/>
              <a:ea typeface="Pretendard Bold"/>
              <a:cs typeface="Arial" panose="020B0604020202020204" pitchFamily="34" charset="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055100" y="6172199"/>
            <a:ext cx="6172200" cy="176530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en-US" sz="3066" b="0" i="0" u="none" strike="noStrike" dirty="0">
                <a:solidFill>
                  <a:srgbClr val="595959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Definition · Types · Advantages</a:t>
            </a:r>
            <a:endParaRPr lang="en-US" sz="3066" dirty="0">
              <a:solidFill>
                <a:srgbClr val="595959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0800000">
            <a:off x="1358900" y="8267700"/>
            <a:ext cx="6337300" cy="254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384300" y="8623300"/>
            <a:ext cx="2476500" cy="622300"/>
          </a:xfrm>
          <a:prstGeom prst="rect">
            <a:avLst/>
          </a:prstGeom>
        </p:spPr>
        <p:txBody>
          <a:bodyPr lIns="0" tIns="4402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466" b="0" i="0" u="none" strike="noStrike" cap="all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84300" y="9486900"/>
            <a:ext cx="58420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5329"/>
              </a:lnSpc>
            </a:pPr>
            <a:r>
              <a:rPr lang="en-US" altLang="ko-KR" sz="3733" b="1" dirty="0">
                <a:solidFill>
                  <a:srgbClr val="595959"/>
                </a:solidFill>
                <a:latin typeface="Arial" panose="020B0604020202020204" pitchFamily="34" charset="0"/>
                <a:ea typeface="Pretendard Bold"/>
                <a:cs typeface="Arial" panose="020B0604020202020204" pitchFamily="34" charset="0"/>
              </a:rPr>
              <a:t>Technical Mechanism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58900" y="10414000"/>
            <a:ext cx="6172200" cy="1130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5329"/>
              </a:lnSpc>
            </a:pPr>
            <a:r>
              <a:rPr lang="en-US" altLang="ko-KR" sz="3066" dirty="0">
                <a:solidFill>
                  <a:srgbClr val="595959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Pix2Pix · </a:t>
            </a:r>
            <a:r>
              <a:rPr lang="en-US" altLang="ko-KR" sz="3066" dirty="0" err="1">
                <a:solidFill>
                  <a:srgbClr val="595959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CycleGAN</a:t>
            </a:r>
            <a:endParaRPr lang="en-US" altLang="ko-KR" sz="3066" dirty="0">
              <a:solidFill>
                <a:srgbClr val="595959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  <a:p>
            <a:pPr lvl="0">
              <a:lnSpc>
                <a:spcPct val="125329"/>
              </a:lnSpc>
            </a:pPr>
            <a:endParaRPr lang="en-US" altLang="ko-KR" sz="3066" dirty="0">
              <a:solidFill>
                <a:srgbClr val="595959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16700500" y="8267700"/>
            <a:ext cx="6324600" cy="254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6725900" y="8623300"/>
            <a:ext cx="2476500" cy="622300"/>
          </a:xfrm>
          <a:prstGeom prst="rect">
            <a:avLst/>
          </a:prstGeom>
        </p:spPr>
        <p:txBody>
          <a:bodyPr lIns="0" tIns="4402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466" b="0" i="0" u="none" strike="noStrike" cap="all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06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725900" y="9486900"/>
            <a:ext cx="58420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en-US" sz="3733" b="1" i="0" u="none" strike="noStrike" dirty="0">
                <a:solidFill>
                  <a:srgbClr val="595959"/>
                </a:solidFill>
                <a:latin typeface="Arial" panose="020B0604020202020204" pitchFamily="34" charset="0"/>
                <a:ea typeface="Pretendard Bold"/>
                <a:cs typeface="Arial" panose="020B0604020202020204" pitchFamily="34" charset="0"/>
              </a:rPr>
              <a:t>Future Directions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725900" y="10350500"/>
            <a:ext cx="6172200" cy="1130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en-US" sz="3066" b="0" i="0" u="none" strike="noStrike" dirty="0">
                <a:solidFill>
                  <a:srgbClr val="595959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Standardization · </a:t>
            </a:r>
            <a:r>
              <a:rPr lang="en-US" sz="3066" b="0" i="0" u="none" strike="noStrike" dirty="0" err="1">
                <a:solidFill>
                  <a:srgbClr val="595959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ViT</a:t>
            </a:r>
            <a:r>
              <a:rPr lang="en-US" sz="3066" b="0" i="0" u="none" strike="noStrike" dirty="0">
                <a:solidFill>
                  <a:srgbClr val="595959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-Stain 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9029700" y="8267700"/>
            <a:ext cx="6324600" cy="254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9055100" y="8623300"/>
            <a:ext cx="2476500" cy="622300"/>
          </a:xfrm>
          <a:prstGeom prst="rect">
            <a:avLst/>
          </a:prstGeom>
        </p:spPr>
        <p:txBody>
          <a:bodyPr lIns="0" tIns="4402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466" b="0" i="0" u="none" strike="noStrike" cap="all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055100" y="9486900"/>
            <a:ext cx="58420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en-US" sz="3733" b="1" dirty="0">
                <a:solidFill>
                  <a:srgbClr val="595959"/>
                </a:solidFill>
                <a:latin typeface="Arial" panose="020B0604020202020204" pitchFamily="34" charset="0"/>
                <a:ea typeface="Pretendard Bold"/>
                <a:cs typeface="Arial" panose="020B0604020202020204" pitchFamily="34" charset="0"/>
              </a:rPr>
              <a:t>Limitations</a:t>
            </a:r>
            <a:endParaRPr lang="en-US" sz="3733" b="1" i="0" u="none" strike="noStrike" dirty="0">
              <a:solidFill>
                <a:srgbClr val="595959"/>
              </a:solidFill>
              <a:latin typeface="Arial" panose="020B0604020202020204" pitchFamily="34" charset="0"/>
              <a:ea typeface="Pretendard Bold"/>
              <a:cs typeface="Arial" panose="020B0604020202020204" pitchFamily="34" charset="0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9055100" y="10350500"/>
            <a:ext cx="6172200" cy="1130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en-US" sz="3066" dirty="0">
                <a:solidFill>
                  <a:srgbClr val="595959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Dataset · Hallucination · Generalization</a:t>
            </a:r>
          </a:p>
          <a:p>
            <a:pPr lvl="0" algn="l">
              <a:lnSpc>
                <a:spcPct val="125329"/>
              </a:lnSpc>
            </a:pPr>
            <a:endParaRPr lang="en-US" sz="3066" b="0" i="0" u="none" strike="noStrike" dirty="0">
              <a:solidFill>
                <a:srgbClr val="595959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  <p:sp>
        <p:nvSpPr>
          <p:cNvPr id="33" name="TextBox 19">
            <a:extLst>
              <a:ext uri="{FF2B5EF4-FFF2-40B4-BE49-F238E27FC236}">
                <a16:creationId xmlns:a16="http://schemas.microsoft.com/office/drawing/2014/main" id="{F42DEEE0-2BAA-2EE1-42D3-8947B7008188}"/>
              </a:ext>
            </a:extLst>
          </p:cNvPr>
          <p:cNvSpPr txBox="1"/>
          <p:nvPr/>
        </p:nvSpPr>
        <p:spPr>
          <a:xfrm>
            <a:off x="16700500" y="6172199"/>
            <a:ext cx="6172200" cy="176530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endParaRPr lang="en-US" sz="3066" b="0" i="0" u="none" strike="noStrike" dirty="0">
              <a:solidFill>
                <a:srgbClr val="595959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  <p:sp>
        <p:nvSpPr>
          <p:cNvPr id="5" name="TextBox 17">
            <a:extLst>
              <a:ext uri="{FF2B5EF4-FFF2-40B4-BE49-F238E27FC236}">
                <a16:creationId xmlns:a16="http://schemas.microsoft.com/office/drawing/2014/main" id="{B957688E-EDAF-2A07-A9FF-DF8AE67F6C41}"/>
              </a:ext>
            </a:extLst>
          </p:cNvPr>
          <p:cNvSpPr txBox="1"/>
          <p:nvPr/>
        </p:nvSpPr>
        <p:spPr>
          <a:xfrm>
            <a:off x="20417824" y="513748"/>
            <a:ext cx="2607276" cy="4318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cap="all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Seoeun Jang</a:t>
            </a:r>
            <a:endParaRPr lang="en-US" sz="2666" b="0" i="0" u="none" strike="noStrike" cap="all" dirty="0">
              <a:solidFill>
                <a:srgbClr val="787878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6595F-63CA-18E4-8457-575D3F2C6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805778D-5235-3FC8-7999-A5BADF67C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900" y="12522200"/>
            <a:ext cx="21666200" cy="381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C75C9BC2-B378-18EF-A333-0B61D6D1455E}"/>
              </a:ext>
            </a:extLst>
          </p:cNvPr>
          <p:cNvSpPr txBox="1"/>
          <p:nvPr/>
        </p:nvSpPr>
        <p:spPr>
          <a:xfrm>
            <a:off x="1358900" y="1698524"/>
            <a:ext cx="19367500" cy="1231900"/>
          </a:xfrm>
          <a:prstGeom prst="rect">
            <a:avLst/>
          </a:prstGeom>
        </p:spPr>
        <p:txBody>
          <a:bodyPr lIns="0" tIns="74844" rIns="0" bIns="0" rtlCol="0" anchor="t"/>
          <a:lstStyle/>
          <a:p>
            <a:pPr lvl="0" algn="l">
              <a:lnSpc>
                <a:spcPct val="102089"/>
              </a:lnSpc>
            </a:pPr>
            <a:r>
              <a:rPr lang="en-US" altLang="ko-KR" sz="6933" b="1" dirty="0">
                <a:solidFill>
                  <a:srgbClr val="0070C0"/>
                </a:solidFill>
                <a:latin typeface="Arial" panose="020B0604020202020204" pitchFamily="34" charset="0"/>
                <a:ea typeface="Pretendard ExtraBold"/>
                <a:cs typeface="Arial" panose="020B0604020202020204" pitchFamily="34" charset="0"/>
              </a:rPr>
              <a:t>Histology</a:t>
            </a:r>
            <a:r>
              <a:rPr lang="en-US" sz="6933" b="1" dirty="0">
                <a:solidFill>
                  <a:srgbClr val="595959"/>
                </a:solidFill>
                <a:latin typeface="Arial" panose="020B0604020202020204" pitchFamily="34" charset="0"/>
                <a:ea typeface="Pretendard ExtraBold"/>
                <a:cs typeface="Arial" panose="020B0604020202020204" pitchFamily="34" charset="0"/>
              </a:rPr>
              <a:t> and </a:t>
            </a:r>
            <a:r>
              <a:rPr lang="en-US" sz="6933" b="1" dirty="0">
                <a:solidFill>
                  <a:srgbClr val="0070C0"/>
                </a:solidFill>
                <a:latin typeface="Arial" panose="020B0604020202020204" pitchFamily="34" charset="0"/>
                <a:ea typeface="Pretendard ExtraBold"/>
                <a:cs typeface="Arial" panose="020B0604020202020204" pitchFamily="34" charset="0"/>
              </a:rPr>
              <a:t>Staining</a:t>
            </a:r>
            <a:endParaRPr lang="en-US" sz="6933" b="1" i="0" strike="noStrike" dirty="0">
              <a:solidFill>
                <a:srgbClr val="0070C0"/>
              </a:solidFill>
              <a:latin typeface="Arial" panose="020B0604020202020204" pitchFamily="34" charset="0"/>
              <a:ea typeface="Pretendard ExtraBold"/>
              <a:cs typeface="Arial" panose="020B0604020202020204" pitchFamily="34" charset="0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10C5E48-7AB9-9188-782D-77E1C92EDDBF}"/>
              </a:ext>
            </a:extLst>
          </p:cNvPr>
          <p:cNvSpPr txBox="1"/>
          <p:nvPr/>
        </p:nvSpPr>
        <p:spPr>
          <a:xfrm>
            <a:off x="20027900" y="12827000"/>
            <a:ext cx="29845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2666" b="0" i="0" u="none" strike="noStrike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Page 3/11</a:t>
            </a:r>
          </a:p>
        </p:txBody>
      </p:sp>
      <p:pic>
        <p:nvPicPr>
          <p:cNvPr id="16" name="Picture 16">
            <a:extLst>
              <a:ext uri="{FF2B5EF4-FFF2-40B4-BE49-F238E27FC236}">
                <a16:creationId xmlns:a16="http://schemas.microsoft.com/office/drawing/2014/main" id="{1208B08E-137A-F9FB-63E0-6284C2AC39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900" y="1270000"/>
            <a:ext cx="21666200" cy="381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B19863AA-70AC-6EB2-12B4-E5888770A2FA}"/>
              </a:ext>
            </a:extLst>
          </p:cNvPr>
          <p:cNvSpPr txBox="1"/>
          <p:nvPr/>
        </p:nvSpPr>
        <p:spPr>
          <a:xfrm>
            <a:off x="20417824" y="513748"/>
            <a:ext cx="2607276" cy="4318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cap="all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Seoeun Jang</a:t>
            </a:r>
            <a:endParaRPr lang="en-US" sz="2666" b="0" i="0" u="none" strike="noStrike" cap="all" dirty="0">
              <a:solidFill>
                <a:srgbClr val="787878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647648-F131-8F42-9545-D4B767568ECA}"/>
              </a:ext>
            </a:extLst>
          </p:cNvPr>
          <p:cNvSpPr txBox="1"/>
          <p:nvPr/>
        </p:nvSpPr>
        <p:spPr>
          <a:xfrm>
            <a:off x="1130300" y="3613222"/>
            <a:ext cx="218821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latin typeface="Arial" panose="020B0604020202020204" pitchFamily="34" charset="0"/>
                <a:cs typeface="Arial" panose="020B0604020202020204" pitchFamily="34" charset="0"/>
              </a:rPr>
              <a:t>Histology</a:t>
            </a:r>
          </a:p>
          <a:p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the study of the microscopic structure of tissues.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2D75AA-7BD4-7D01-6F03-461D5822DC0A}"/>
              </a:ext>
            </a:extLst>
          </p:cNvPr>
          <p:cNvSpPr txBox="1"/>
          <p:nvPr/>
        </p:nvSpPr>
        <p:spPr>
          <a:xfrm>
            <a:off x="1130300" y="5479416"/>
            <a:ext cx="213625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dirty="0">
                <a:latin typeface="Arial" panose="020B0604020202020204" pitchFamily="34" charset="0"/>
                <a:cs typeface="Arial" panose="020B0604020202020204" pitchFamily="34" charset="0"/>
              </a:rPr>
              <a:t>Staining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8DF784FF-3490-BEEE-385A-8E6D41941D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912984"/>
              </p:ext>
            </p:extLst>
          </p:nvPr>
        </p:nvGraphicFramePr>
        <p:xfrm>
          <a:off x="1371600" y="6392447"/>
          <a:ext cx="21653500" cy="5397273"/>
        </p:xfrm>
        <a:graphic>
          <a:graphicData uri="http://schemas.openxmlformats.org/drawingml/2006/table">
            <a:tbl>
              <a:tblPr/>
              <a:tblGrid>
                <a:gridCol w="7010400">
                  <a:extLst>
                    <a:ext uri="{9D8B030D-6E8A-4147-A177-3AD203B41FA5}">
                      <a16:colId xmlns:a16="http://schemas.microsoft.com/office/drawing/2014/main" val="2069730189"/>
                    </a:ext>
                  </a:extLst>
                </a:gridCol>
                <a:gridCol w="14643100">
                  <a:extLst>
                    <a:ext uri="{9D8B030D-6E8A-4147-A177-3AD203B41FA5}">
                      <a16:colId xmlns:a16="http://schemas.microsoft.com/office/drawing/2014/main" val="654049611"/>
                    </a:ext>
                  </a:extLst>
                </a:gridCol>
              </a:tblGrid>
              <a:tr h="4615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Representative 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091368"/>
                  </a:ext>
                </a:extLst>
              </a:tr>
              <a:tr h="10850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General morphology staining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H&amp;E staining: </a:t>
                      </a:r>
                    </a:p>
                    <a:p>
                      <a:pPr>
                        <a:buNone/>
                      </a:pPr>
                      <a:r>
                        <a:rPr lang="en-US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Shows basic tissue structures such as nuclei, cytoplasm, </a:t>
                      </a:r>
                      <a:br>
                        <a:rPr lang="en-US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 tissue arrangement.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935985"/>
                  </a:ext>
                </a:extLst>
              </a:tr>
              <a:tr h="16482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Immunostaining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IHC: </a:t>
                      </a:r>
                    </a:p>
                    <a:p>
                      <a:pPr>
                        <a:buNone/>
                      </a:pPr>
                      <a:r>
                        <a:rPr lang="en-US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Shows the location and expression of specific antigens, proteins, </a:t>
                      </a:r>
                      <a:br>
                        <a:rPr lang="en-US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 disease-related markers.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872811"/>
                  </a:ext>
                </a:extLst>
              </a:tr>
              <a:tr h="12526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Special staining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 staining: </a:t>
                      </a:r>
                    </a:p>
                    <a:p>
                      <a:pPr>
                        <a:buNone/>
                      </a:pPr>
                      <a:r>
                        <a:rPr lang="en-US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Shows carbohydrate-related components such as glycogen, mucin, </a:t>
                      </a:r>
                      <a:br>
                        <a:rPr lang="en-US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 basement membrane.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291130"/>
                  </a:ext>
                </a:extLst>
              </a:tr>
            </a:tbl>
          </a:graphicData>
        </a:graphic>
      </p:graphicFrame>
      <p:sp>
        <p:nvSpPr>
          <p:cNvPr id="5" name="TextBox 17">
            <a:extLst>
              <a:ext uri="{FF2B5EF4-FFF2-40B4-BE49-F238E27FC236}">
                <a16:creationId xmlns:a16="http://schemas.microsoft.com/office/drawing/2014/main" id="{AE6AB74D-08CF-16B6-823B-F01D32EAA3B1}"/>
              </a:ext>
            </a:extLst>
          </p:cNvPr>
          <p:cNvSpPr txBox="1"/>
          <p:nvPr/>
        </p:nvSpPr>
        <p:spPr>
          <a:xfrm>
            <a:off x="1371600" y="495300"/>
            <a:ext cx="85217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cap="all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0</a:t>
            </a:r>
            <a:r>
              <a:rPr lang="en-US" sz="2666" cap="all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1</a:t>
            </a:r>
            <a:r>
              <a:rPr lang="en-US" sz="2666" b="0" i="0" u="none" strike="noStrike" cap="all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. Introduction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F65BE844-A085-46EA-493E-98E9B646D43D}"/>
              </a:ext>
            </a:extLst>
          </p:cNvPr>
          <p:cNvSpPr txBox="1"/>
          <p:nvPr/>
        </p:nvSpPr>
        <p:spPr>
          <a:xfrm>
            <a:off x="1371600" y="12827000"/>
            <a:ext cx="101600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cap="all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Virtual staining for histology by deep learning </a:t>
            </a:r>
            <a:endParaRPr lang="en-US" sz="2666" b="0" i="0" u="none" strike="noStrike" cap="all" dirty="0">
              <a:solidFill>
                <a:srgbClr val="787878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677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C64B8-66C5-D768-ED8F-27F932A3C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AB144A7-1A1D-E93D-E7E0-3F190460A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900" y="12522200"/>
            <a:ext cx="21666200" cy="381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F336D2C2-E527-A97E-3E5E-15EBAAFB0DEF}"/>
              </a:ext>
            </a:extLst>
          </p:cNvPr>
          <p:cNvSpPr txBox="1"/>
          <p:nvPr/>
        </p:nvSpPr>
        <p:spPr>
          <a:xfrm>
            <a:off x="20027900" y="12827000"/>
            <a:ext cx="29845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2666" b="0" i="0" u="none" strike="noStrike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Page </a:t>
            </a:r>
            <a:r>
              <a:rPr lang="en-US" sz="2666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4/11</a:t>
            </a:r>
            <a:endParaRPr lang="en-US" sz="2666" b="0" i="0" u="none" strike="noStrike" dirty="0">
              <a:solidFill>
                <a:srgbClr val="787878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  <p:pic>
        <p:nvPicPr>
          <p:cNvPr id="16" name="Picture 16">
            <a:extLst>
              <a:ext uri="{FF2B5EF4-FFF2-40B4-BE49-F238E27FC236}">
                <a16:creationId xmlns:a16="http://schemas.microsoft.com/office/drawing/2014/main" id="{E71DBF97-C604-7886-56AC-2F7FA85B1B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900" y="1270000"/>
            <a:ext cx="21666200" cy="381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F2AFB5C6-1EDD-279B-6A53-9F0E9181FAB5}"/>
              </a:ext>
            </a:extLst>
          </p:cNvPr>
          <p:cNvSpPr txBox="1"/>
          <p:nvPr/>
        </p:nvSpPr>
        <p:spPr>
          <a:xfrm>
            <a:off x="1371600" y="495300"/>
            <a:ext cx="85217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b="0" i="0" u="none" strike="noStrike" cap="all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02. Virtual staining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2FDA5B-4C57-15A4-06BE-91021C171AEB}"/>
              </a:ext>
            </a:extLst>
          </p:cNvPr>
          <p:cNvSpPr txBox="1"/>
          <p:nvPr/>
        </p:nvSpPr>
        <p:spPr>
          <a:xfrm>
            <a:off x="1212850" y="3505200"/>
            <a:ext cx="21958300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dirty="0">
                <a:latin typeface="Arial" panose="020B0604020202020204" pitchFamily="34" charset="0"/>
                <a:cs typeface="Arial" panose="020B0604020202020204" pitchFamily="34" charset="0"/>
              </a:rPr>
              <a:t>Virtual staining </a:t>
            </a:r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is a deep learning-based technique that digitally generates stained histological images from unstained tissue images, or converts one stain type into another.</a:t>
            </a:r>
          </a:p>
          <a:p>
            <a:endParaRPr lang="en-US" altLang="ko-K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3600" b="1" dirty="0">
                <a:latin typeface="Arial" panose="020B0604020202020204" pitchFamily="34" charset="0"/>
                <a:cs typeface="Arial" panose="020B0604020202020204" pitchFamily="34" charset="0"/>
              </a:rPr>
              <a:t>- Types</a:t>
            </a:r>
          </a:p>
          <a:p>
            <a:endParaRPr lang="en-US" altLang="ko-K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3600" b="1" dirty="0">
                <a:latin typeface="Arial" panose="020B0604020202020204" pitchFamily="34" charset="0"/>
                <a:cs typeface="Arial" panose="020B0604020202020204" pitchFamily="34" charset="0"/>
              </a:rPr>
              <a:t>1. Unstained to stained: </a:t>
            </a:r>
          </a:p>
          <a:p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Generating stained images, such as virtual H&amp;E, from unstained tissue images.</a:t>
            </a:r>
          </a:p>
          <a:p>
            <a:b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3600" b="1" dirty="0">
                <a:latin typeface="Arial" panose="020B0604020202020204" pitchFamily="34" charset="0"/>
                <a:cs typeface="Arial" panose="020B0604020202020204" pitchFamily="34" charset="0"/>
              </a:rPr>
              <a:t>2. Stain-to-stain transformation: </a:t>
            </a:r>
          </a:p>
          <a:p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Converting an already stained image into another stain type, such as H&amp;E to PAS.</a:t>
            </a:r>
          </a:p>
          <a:p>
            <a:b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3600" b="1" dirty="0">
                <a:latin typeface="Arial" panose="020B0604020202020204" pitchFamily="34" charset="0"/>
                <a:cs typeface="Arial" panose="020B0604020202020204" pitchFamily="34" charset="0"/>
              </a:rPr>
              <a:t>3. Virtual IHC staining: </a:t>
            </a:r>
          </a:p>
          <a:p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Digitally generating immunohistochemical staining to show specific protein markers, such as HER2 or Ki-67.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D7093CE1-0E98-B60C-51A8-B67288BD281D}"/>
              </a:ext>
            </a:extLst>
          </p:cNvPr>
          <p:cNvSpPr txBox="1"/>
          <p:nvPr/>
        </p:nvSpPr>
        <p:spPr>
          <a:xfrm>
            <a:off x="20417824" y="513748"/>
            <a:ext cx="2607276" cy="4318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cap="all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Seoeun Jang</a:t>
            </a:r>
            <a:endParaRPr lang="en-US" sz="2666" b="0" i="0" u="none" strike="noStrike" cap="all" dirty="0">
              <a:solidFill>
                <a:srgbClr val="787878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162F1B49-9A1C-B143-31F7-DBA7A0A1E2A1}"/>
              </a:ext>
            </a:extLst>
          </p:cNvPr>
          <p:cNvSpPr txBox="1"/>
          <p:nvPr/>
        </p:nvSpPr>
        <p:spPr>
          <a:xfrm>
            <a:off x="1358900" y="1698524"/>
            <a:ext cx="19367500" cy="1231900"/>
          </a:xfrm>
          <a:prstGeom prst="rect">
            <a:avLst/>
          </a:prstGeom>
        </p:spPr>
        <p:txBody>
          <a:bodyPr lIns="0" tIns="74844" rIns="0" bIns="0" rtlCol="0" anchor="t"/>
          <a:lstStyle/>
          <a:p>
            <a:pPr lvl="0" algn="l">
              <a:lnSpc>
                <a:spcPct val="102089"/>
              </a:lnSpc>
            </a:pPr>
            <a:r>
              <a:rPr lang="en-US" altLang="ko-KR" sz="6933" b="1" dirty="0">
                <a:solidFill>
                  <a:srgbClr val="0070C0"/>
                </a:solidFill>
                <a:latin typeface="Arial" panose="020B0604020202020204" pitchFamily="34" charset="0"/>
                <a:ea typeface="Pretendard ExtraBold"/>
                <a:cs typeface="Arial" panose="020B0604020202020204" pitchFamily="34" charset="0"/>
              </a:rPr>
              <a:t>Virtual</a:t>
            </a:r>
            <a:r>
              <a:rPr lang="en-US" sz="6933" b="1" dirty="0">
                <a:solidFill>
                  <a:srgbClr val="595959"/>
                </a:solidFill>
                <a:latin typeface="Arial" panose="020B0604020202020204" pitchFamily="34" charset="0"/>
                <a:ea typeface="Pretendard ExtraBold"/>
                <a:cs typeface="Arial" panose="020B0604020202020204" pitchFamily="34" charset="0"/>
              </a:rPr>
              <a:t> </a:t>
            </a:r>
            <a:r>
              <a:rPr lang="en-US" sz="6933" b="1" dirty="0">
                <a:solidFill>
                  <a:srgbClr val="0070C0"/>
                </a:solidFill>
                <a:latin typeface="Arial" panose="020B0604020202020204" pitchFamily="34" charset="0"/>
                <a:ea typeface="Pretendard ExtraBold"/>
                <a:cs typeface="Arial" panose="020B0604020202020204" pitchFamily="34" charset="0"/>
              </a:rPr>
              <a:t>Staining</a:t>
            </a:r>
            <a:endParaRPr lang="en-US" sz="6933" b="1" i="0" strike="noStrike" dirty="0">
              <a:solidFill>
                <a:srgbClr val="0070C0"/>
              </a:solidFill>
              <a:latin typeface="Arial" panose="020B0604020202020204" pitchFamily="34" charset="0"/>
              <a:ea typeface="Pretendard ExtraBold"/>
              <a:cs typeface="Arial" panose="020B0604020202020204" pitchFamily="34" charset="0"/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E5BBAE0A-5970-7D7C-0236-9AD3B2B66509}"/>
              </a:ext>
            </a:extLst>
          </p:cNvPr>
          <p:cNvSpPr txBox="1"/>
          <p:nvPr/>
        </p:nvSpPr>
        <p:spPr>
          <a:xfrm>
            <a:off x="1371600" y="12827000"/>
            <a:ext cx="101600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cap="all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Virtual staining for histology by deep learning </a:t>
            </a:r>
            <a:endParaRPr lang="en-US" sz="2666" b="0" i="0" u="none" strike="noStrike" cap="all" dirty="0">
              <a:solidFill>
                <a:srgbClr val="787878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558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CF451-23C8-F006-C40A-060B95192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1164F0D-79EE-914B-580E-0393580DD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900" y="12522200"/>
            <a:ext cx="21666200" cy="381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76CADFD1-3CAF-12BE-6F5B-9E1077B6AAF9}"/>
              </a:ext>
            </a:extLst>
          </p:cNvPr>
          <p:cNvSpPr txBox="1"/>
          <p:nvPr/>
        </p:nvSpPr>
        <p:spPr>
          <a:xfrm>
            <a:off x="20027900" y="12827000"/>
            <a:ext cx="29845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2666" b="0" i="0" u="none" strike="noStrike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Page 5/11</a:t>
            </a:r>
          </a:p>
        </p:txBody>
      </p:sp>
      <p:pic>
        <p:nvPicPr>
          <p:cNvPr id="16" name="Picture 16">
            <a:extLst>
              <a:ext uri="{FF2B5EF4-FFF2-40B4-BE49-F238E27FC236}">
                <a16:creationId xmlns:a16="http://schemas.microsoft.com/office/drawing/2014/main" id="{299F0034-58C1-ECBC-3B73-BD6D49823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900" y="1270000"/>
            <a:ext cx="21666200" cy="381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DB146089-9252-4E94-965B-C994FF7CC51A}"/>
              </a:ext>
            </a:extLst>
          </p:cNvPr>
          <p:cNvSpPr txBox="1"/>
          <p:nvPr/>
        </p:nvSpPr>
        <p:spPr>
          <a:xfrm>
            <a:off x="1371600" y="495300"/>
            <a:ext cx="85217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cap="all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03. Workflow </a:t>
            </a:r>
            <a:endParaRPr lang="en-US" sz="2666" b="0" i="0" u="none" strike="noStrike" cap="all" dirty="0">
              <a:solidFill>
                <a:srgbClr val="787878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CC90DA2-3141-204A-6D47-BB84972675DD}"/>
              </a:ext>
            </a:extLst>
          </p:cNvPr>
          <p:cNvGrpSpPr/>
          <p:nvPr/>
        </p:nvGrpSpPr>
        <p:grpSpPr>
          <a:xfrm>
            <a:off x="1586286" y="4932524"/>
            <a:ext cx="21240076" cy="5038832"/>
            <a:chOff x="1586286" y="4932524"/>
            <a:chExt cx="21240076" cy="503883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C616850A-613B-1E7E-7085-880AD967E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2447" t="20739" r="17375"/>
            <a:stretch>
              <a:fillRect/>
            </a:stretch>
          </p:blipFill>
          <p:spPr>
            <a:xfrm>
              <a:off x="5791200" y="5133440"/>
              <a:ext cx="9161809" cy="3449120"/>
            </a:xfrm>
            <a:prstGeom prst="rect">
              <a:avLst/>
            </a:prstGeom>
          </p:spPr>
        </p:pic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D906E1FD-D758-030D-98B0-124581FB7D20}"/>
                </a:ext>
              </a:extLst>
            </p:cNvPr>
            <p:cNvSpPr/>
            <p:nvPr/>
          </p:nvSpPr>
          <p:spPr>
            <a:xfrm>
              <a:off x="19260236" y="4932524"/>
              <a:ext cx="3566126" cy="800100"/>
            </a:xfrm>
            <a:prstGeom prst="roundRect">
              <a:avLst/>
            </a:prstGeom>
            <a:solidFill>
              <a:srgbClr val="EAF3FA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>
                  <a:solidFill>
                    <a:srgbClr val="1F1F1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Computational Validation</a:t>
              </a:r>
              <a:endParaRPr lang="ko-KR" altLang="en-US" sz="2000" dirty="0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7400F929-B2F2-63E9-2FAF-CF4B1C12E995}"/>
                </a:ext>
              </a:extLst>
            </p:cNvPr>
            <p:cNvSpPr/>
            <p:nvPr/>
          </p:nvSpPr>
          <p:spPr>
            <a:xfrm>
              <a:off x="19260236" y="6196174"/>
              <a:ext cx="3566126" cy="800100"/>
            </a:xfrm>
            <a:prstGeom prst="roundRect">
              <a:avLst/>
            </a:prstGeom>
            <a:solidFill>
              <a:srgbClr val="EAF3FA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>
                  <a:solidFill>
                    <a:srgbClr val="1F1F1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Histological Validation</a:t>
              </a:r>
              <a:endParaRPr lang="ko-KR" altLang="en-US" sz="2000" dirty="0"/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557E8439-FCA3-2EFE-927D-74E7560C3389}"/>
                </a:ext>
              </a:extLst>
            </p:cNvPr>
            <p:cNvSpPr/>
            <p:nvPr/>
          </p:nvSpPr>
          <p:spPr>
            <a:xfrm>
              <a:off x="19260236" y="7513727"/>
              <a:ext cx="3566126" cy="800100"/>
            </a:xfrm>
            <a:prstGeom prst="roundRect">
              <a:avLst/>
            </a:prstGeom>
            <a:solidFill>
              <a:srgbClr val="EAF3FA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>
                  <a:solidFill>
                    <a:srgbClr val="1F1F1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Task-Specific Validation</a:t>
              </a:r>
              <a:endParaRPr lang="ko-KR" altLang="en-US" sz="2000" dirty="0"/>
            </a:p>
          </p:txBody>
        </p:sp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89F0725B-E7B5-3CF9-CC8B-5EA4D2B51E7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986000" y="6351393"/>
              <a:ext cx="627766" cy="558014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18E094A-372C-05FF-3DF5-312C1A7F51E4}"/>
                </a:ext>
              </a:extLst>
            </p:cNvPr>
            <p:cNvSpPr txBox="1"/>
            <p:nvPr/>
          </p:nvSpPr>
          <p:spPr>
            <a:xfrm>
              <a:off x="1586286" y="8771027"/>
              <a:ext cx="359585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600" b="1" dirty="0">
                  <a:latin typeface="Arial" panose="020B0604020202020204" pitchFamily="34" charset="0"/>
                  <a:cs typeface="Arial" panose="020B0604020202020204" pitchFamily="34" charset="0"/>
                </a:rPr>
                <a:t>Data collection </a:t>
              </a:r>
            </a:p>
            <a:p>
              <a:pPr algn="ctr"/>
              <a:r>
                <a:rPr lang="en-US" altLang="ko-KR" sz="3600" b="1" dirty="0">
                  <a:latin typeface="Arial" panose="020B0604020202020204" pitchFamily="34" charset="0"/>
                  <a:cs typeface="Arial" panose="020B0604020202020204" pitchFamily="34" charset="0"/>
                </a:rPr>
                <a:t>&amp; Curation </a:t>
              </a:r>
              <a:endParaRPr lang="ko-KR" altLang="en-US" sz="3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1667487-9CAA-8BCD-1753-3164B2E58BC5}"/>
                </a:ext>
              </a:extLst>
            </p:cNvPr>
            <p:cNvSpPr txBox="1"/>
            <p:nvPr/>
          </p:nvSpPr>
          <p:spPr>
            <a:xfrm>
              <a:off x="8845550" y="8771027"/>
              <a:ext cx="351891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600" b="1" dirty="0">
                  <a:latin typeface="Arial" panose="020B0604020202020204" pitchFamily="34" charset="0"/>
                  <a:cs typeface="Arial" panose="020B0604020202020204" pitchFamily="34" charset="0"/>
                </a:rPr>
                <a:t>Preprocessing</a:t>
              </a:r>
              <a:endParaRPr lang="ko-KR" altLang="en-US" sz="3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71A7B49-ADEB-2BD1-A7BC-0EEAD7120EA5}"/>
                </a:ext>
              </a:extLst>
            </p:cNvPr>
            <p:cNvSpPr txBox="1"/>
            <p:nvPr/>
          </p:nvSpPr>
          <p:spPr>
            <a:xfrm>
              <a:off x="16027870" y="8738474"/>
              <a:ext cx="2005677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600" b="1" dirty="0">
                  <a:latin typeface="Arial" panose="020B0604020202020204" pitchFamily="34" charset="0"/>
                  <a:cs typeface="Arial" panose="020B0604020202020204" pitchFamily="34" charset="0"/>
                </a:rPr>
                <a:t>Network</a:t>
              </a:r>
            </a:p>
            <a:p>
              <a:pPr algn="ctr"/>
              <a:r>
                <a:rPr lang="en-US" altLang="ko-KR" sz="3600" b="1" dirty="0">
                  <a:latin typeface="Arial" panose="020B0604020202020204" pitchFamily="34" charset="0"/>
                  <a:cs typeface="Arial" panose="020B0604020202020204" pitchFamily="34" charset="0"/>
                </a:rPr>
                <a:t>Training</a:t>
              </a:r>
              <a:endParaRPr lang="ko-KR" altLang="en-US" sz="3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4F53EECE-4F08-578D-D07C-A9A43F7D3C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765470" y="5408167"/>
              <a:ext cx="2521080" cy="2248016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B556421-DC2F-7EDC-0409-A30C38E2D69D}"/>
                </a:ext>
              </a:extLst>
            </p:cNvPr>
            <p:cNvSpPr txBox="1"/>
            <p:nvPr/>
          </p:nvSpPr>
          <p:spPr>
            <a:xfrm>
              <a:off x="19926300" y="8777078"/>
              <a:ext cx="23649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600" b="1" dirty="0">
                  <a:latin typeface="Arial" panose="020B0604020202020204" pitchFamily="34" charset="0"/>
                  <a:cs typeface="Arial" panose="020B0604020202020204" pitchFamily="34" charset="0"/>
                </a:rPr>
                <a:t>Validation</a:t>
              </a:r>
              <a:endParaRPr lang="ko-KR" altLang="en-US" sz="3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BAC818CE-28B4-10AC-80F1-6067BA0CC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8480766" y="6351393"/>
              <a:ext cx="627766" cy="558014"/>
            </a:xfrm>
            <a:prstGeom prst="rect">
              <a:avLst/>
            </a:prstGeom>
          </p:spPr>
        </p:pic>
        <p:sp>
          <p:nvSpPr>
            <p:cNvPr id="40" name="화살표: 오른쪽 39">
              <a:extLst>
                <a:ext uri="{FF2B5EF4-FFF2-40B4-BE49-F238E27FC236}">
                  <a16:creationId xmlns:a16="http://schemas.microsoft.com/office/drawing/2014/main" id="{5E285928-0B04-F876-32AE-BE6E803FC0B0}"/>
                </a:ext>
              </a:extLst>
            </p:cNvPr>
            <p:cNvSpPr/>
            <p:nvPr/>
          </p:nvSpPr>
          <p:spPr>
            <a:xfrm>
              <a:off x="6513389" y="8888976"/>
              <a:ext cx="838200" cy="48221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화살표: 오른쪽 40">
              <a:extLst>
                <a:ext uri="{FF2B5EF4-FFF2-40B4-BE49-F238E27FC236}">
                  <a16:creationId xmlns:a16="http://schemas.microsoft.com/office/drawing/2014/main" id="{A7B78DF1-79A8-A436-F197-94CA1DC88009}"/>
                </a:ext>
              </a:extLst>
            </p:cNvPr>
            <p:cNvSpPr/>
            <p:nvPr/>
          </p:nvSpPr>
          <p:spPr>
            <a:xfrm>
              <a:off x="14114809" y="8935528"/>
              <a:ext cx="838200" cy="48221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화살표: 오른쪽 41">
              <a:extLst>
                <a:ext uri="{FF2B5EF4-FFF2-40B4-BE49-F238E27FC236}">
                  <a16:creationId xmlns:a16="http://schemas.microsoft.com/office/drawing/2014/main" id="{8B22DA3E-19EF-615E-05B2-68DEDFCFB388}"/>
                </a:ext>
              </a:extLst>
            </p:cNvPr>
            <p:cNvSpPr/>
            <p:nvPr/>
          </p:nvSpPr>
          <p:spPr>
            <a:xfrm>
              <a:off x="18689432" y="8888976"/>
              <a:ext cx="838200" cy="48221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17">
            <a:extLst>
              <a:ext uri="{FF2B5EF4-FFF2-40B4-BE49-F238E27FC236}">
                <a16:creationId xmlns:a16="http://schemas.microsoft.com/office/drawing/2014/main" id="{76B3579C-8956-F234-5CD9-51B4FD52629A}"/>
              </a:ext>
            </a:extLst>
          </p:cNvPr>
          <p:cNvSpPr txBox="1"/>
          <p:nvPr/>
        </p:nvSpPr>
        <p:spPr>
          <a:xfrm>
            <a:off x="20417824" y="513748"/>
            <a:ext cx="2607276" cy="4318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cap="all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Seoeun Jang</a:t>
            </a:r>
            <a:endParaRPr lang="en-US" sz="2666" b="0" i="0" u="none" strike="noStrike" cap="all" dirty="0">
              <a:solidFill>
                <a:srgbClr val="787878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E8F3EF89-F4D0-551C-3284-BCFE5B3CADD5}"/>
              </a:ext>
            </a:extLst>
          </p:cNvPr>
          <p:cNvSpPr txBox="1"/>
          <p:nvPr/>
        </p:nvSpPr>
        <p:spPr>
          <a:xfrm>
            <a:off x="1358900" y="1698524"/>
            <a:ext cx="19367500" cy="1231900"/>
          </a:xfrm>
          <a:prstGeom prst="rect">
            <a:avLst/>
          </a:prstGeom>
        </p:spPr>
        <p:txBody>
          <a:bodyPr lIns="0" tIns="74844" rIns="0" bIns="0" rtlCol="0" anchor="t"/>
          <a:lstStyle/>
          <a:p>
            <a:pPr lvl="0" algn="l">
              <a:lnSpc>
                <a:spcPct val="102089"/>
              </a:lnSpc>
            </a:pPr>
            <a:r>
              <a:rPr lang="en-US" altLang="ko-KR" sz="6933" b="1" dirty="0">
                <a:solidFill>
                  <a:srgbClr val="0070C0"/>
                </a:solidFill>
                <a:latin typeface="Arial" panose="020B0604020202020204" pitchFamily="34" charset="0"/>
                <a:ea typeface="Pretendard ExtraBold"/>
                <a:cs typeface="Arial" panose="020B0604020202020204" pitchFamily="34" charset="0"/>
              </a:rPr>
              <a:t>Workflow</a:t>
            </a:r>
            <a:r>
              <a:rPr lang="en-US" sz="6933" b="1" dirty="0">
                <a:solidFill>
                  <a:srgbClr val="595959"/>
                </a:solidFill>
                <a:latin typeface="Arial" panose="020B0604020202020204" pitchFamily="34" charset="0"/>
                <a:ea typeface="Pretendard ExtraBold"/>
                <a:cs typeface="Arial" panose="020B0604020202020204" pitchFamily="34" charset="0"/>
              </a:rPr>
              <a:t> of virtual staining</a:t>
            </a:r>
            <a:endParaRPr lang="en-US" sz="6933" b="1" i="0" strike="noStrike" dirty="0">
              <a:solidFill>
                <a:srgbClr val="0070C0"/>
              </a:solidFill>
              <a:latin typeface="Arial" panose="020B0604020202020204" pitchFamily="34" charset="0"/>
              <a:ea typeface="Pretendard ExtraBold"/>
              <a:cs typeface="Arial" panose="020B060402020202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3F65089-FCEA-9AE3-B992-6808999F9B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14360" y="4961311"/>
            <a:ext cx="3837019" cy="3493484"/>
          </a:xfrm>
          <a:prstGeom prst="rect">
            <a:avLst/>
          </a:prstGeom>
        </p:spPr>
      </p:pic>
      <p:sp>
        <p:nvSpPr>
          <p:cNvPr id="12" name="TextBox 9">
            <a:extLst>
              <a:ext uri="{FF2B5EF4-FFF2-40B4-BE49-F238E27FC236}">
                <a16:creationId xmlns:a16="http://schemas.microsoft.com/office/drawing/2014/main" id="{43524D08-876B-F596-1086-9411CCC757B1}"/>
              </a:ext>
            </a:extLst>
          </p:cNvPr>
          <p:cNvSpPr txBox="1"/>
          <p:nvPr/>
        </p:nvSpPr>
        <p:spPr>
          <a:xfrm>
            <a:off x="1371600" y="12827000"/>
            <a:ext cx="101600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cap="all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Virtual staining for histology by deep learning </a:t>
            </a:r>
            <a:endParaRPr lang="en-US" sz="2666" b="0" i="0" u="none" strike="noStrike" cap="all" dirty="0">
              <a:solidFill>
                <a:srgbClr val="787878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1592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8D477-CAEC-CC83-B703-F25D4FE4D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A249C83-204A-06FA-6AC6-CA6C94CE7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900" y="12522200"/>
            <a:ext cx="21666200" cy="381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2A2ADFF2-8BF0-AFAC-6BF2-E5BCA123BA1F}"/>
              </a:ext>
            </a:extLst>
          </p:cNvPr>
          <p:cNvSpPr txBox="1"/>
          <p:nvPr/>
        </p:nvSpPr>
        <p:spPr>
          <a:xfrm>
            <a:off x="20027900" y="12827000"/>
            <a:ext cx="29845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2666" b="0" i="0" u="none" strike="noStrike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Page </a:t>
            </a:r>
            <a:r>
              <a:rPr lang="en-US" sz="2666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6</a:t>
            </a:r>
            <a:r>
              <a:rPr lang="en-US" sz="2666" b="0" i="0" u="none" strike="noStrike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/11</a:t>
            </a:r>
          </a:p>
        </p:txBody>
      </p:sp>
      <p:pic>
        <p:nvPicPr>
          <p:cNvPr id="16" name="Picture 16">
            <a:extLst>
              <a:ext uri="{FF2B5EF4-FFF2-40B4-BE49-F238E27FC236}">
                <a16:creationId xmlns:a16="http://schemas.microsoft.com/office/drawing/2014/main" id="{1700275D-C7FE-3C0D-A4D1-81DB35E59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900" y="1270000"/>
            <a:ext cx="21666200" cy="381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707B1B5E-B7D3-FE81-32CC-55BEB620BE0D}"/>
              </a:ext>
            </a:extLst>
          </p:cNvPr>
          <p:cNvSpPr txBox="1"/>
          <p:nvPr/>
        </p:nvSpPr>
        <p:spPr>
          <a:xfrm>
            <a:off x="1371600" y="495300"/>
            <a:ext cx="85217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cap="all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04. Technical mechanism</a:t>
            </a:r>
            <a:endParaRPr lang="en-US" sz="2666" b="0" i="0" u="none" strike="noStrike" cap="all" dirty="0">
              <a:solidFill>
                <a:srgbClr val="787878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715E5AE-D300-42FD-22CB-98DAECF8D13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895" r="49655"/>
          <a:stretch>
            <a:fillRect/>
          </a:stretch>
        </p:blipFill>
        <p:spPr>
          <a:xfrm>
            <a:off x="13944600" y="3055499"/>
            <a:ext cx="7200774" cy="5531434"/>
          </a:xfrm>
          <a:prstGeom prst="rect">
            <a:avLst/>
          </a:prstGeom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9E2F9AC-E186-9AED-CA39-F8129AAA7D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231199"/>
              </p:ext>
            </p:extLst>
          </p:nvPr>
        </p:nvGraphicFramePr>
        <p:xfrm>
          <a:off x="1029729" y="9108955"/>
          <a:ext cx="22324541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13542">
                  <a:extLst>
                    <a:ext uri="{9D8B030D-6E8A-4147-A177-3AD203B41FA5}">
                      <a16:colId xmlns:a16="http://schemas.microsoft.com/office/drawing/2014/main" val="1566620722"/>
                    </a:ext>
                  </a:extLst>
                </a:gridCol>
                <a:gridCol w="11810999">
                  <a:extLst>
                    <a:ext uri="{9D8B030D-6E8A-4147-A177-3AD203B41FA5}">
                      <a16:colId xmlns:a16="http://schemas.microsoft.com/office/drawing/2014/main" val="2902135090"/>
                    </a:ext>
                  </a:extLst>
                </a:gridCol>
              </a:tblGrid>
              <a:tr h="6114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Supervised (Pix2pix) </a:t>
                      </a:r>
                      <a:endParaRPr lang="ko-KR" altLang="en-US" sz="3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Unsupervised (</a:t>
                      </a:r>
                      <a:r>
                        <a:rPr lang="en-US" altLang="ko-KR" sz="36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CycleGAN</a:t>
                      </a:r>
                      <a:r>
                        <a:rPr lang="en-US" altLang="ko-KR" sz="3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3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6718129"/>
                  </a:ext>
                </a:extLst>
              </a:tr>
              <a:tr h="1331280"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3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Uses paired and registered source target images</a:t>
                      </a:r>
                      <a:br>
                        <a:rPr lang="en-US" altLang="ko-KR" sz="3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altLang="ko-KR" sz="3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Learns direct unstained → stained mapping</a:t>
                      </a:r>
                      <a:br>
                        <a:rPr lang="en-US" altLang="ko-KR" sz="3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altLang="ko-KR" sz="3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Uses pixel-wise loss and discriminator loss</a:t>
                      </a:r>
                      <a:endParaRPr lang="ko-KR" altLang="en-US" sz="3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3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Uses unpaired unstained and stained image sets</a:t>
                      </a:r>
                      <a:br>
                        <a:rPr lang="en-US" altLang="ko-KR" sz="3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altLang="ko-KR" sz="3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Learns domain-to-domain stain translation</a:t>
                      </a:r>
                      <a:br>
                        <a:rPr lang="en-US" altLang="ko-KR" sz="3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altLang="ko-KR" sz="3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Uses cycle-consistency loss to preserve tissue content</a:t>
                      </a:r>
                      <a:endParaRPr lang="ko-KR" altLang="en-US" sz="3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158091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48219DF8-02EB-7CEE-946A-EFAC9CBA8DC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1035" t="13672" b="8787"/>
          <a:stretch>
            <a:fillRect/>
          </a:stretch>
        </p:blipFill>
        <p:spPr>
          <a:xfrm>
            <a:off x="2397586" y="3452446"/>
            <a:ext cx="7495714" cy="5270204"/>
          </a:xfrm>
          <a:prstGeom prst="rect">
            <a:avLst/>
          </a:prstGeom>
        </p:spPr>
      </p:pic>
      <p:sp>
        <p:nvSpPr>
          <p:cNvPr id="6" name="TextBox 17">
            <a:extLst>
              <a:ext uri="{FF2B5EF4-FFF2-40B4-BE49-F238E27FC236}">
                <a16:creationId xmlns:a16="http://schemas.microsoft.com/office/drawing/2014/main" id="{8880DAD0-5400-C1CF-2155-DDA3A64082C0}"/>
              </a:ext>
            </a:extLst>
          </p:cNvPr>
          <p:cNvSpPr txBox="1"/>
          <p:nvPr/>
        </p:nvSpPr>
        <p:spPr>
          <a:xfrm>
            <a:off x="20417824" y="513748"/>
            <a:ext cx="2607276" cy="4318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cap="all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Seoeun Jang</a:t>
            </a:r>
            <a:endParaRPr lang="en-US" sz="2666" b="0" i="0" u="none" strike="noStrike" cap="all" dirty="0">
              <a:solidFill>
                <a:srgbClr val="787878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4C768C5C-CA36-4B16-696B-C568C213B9CD}"/>
              </a:ext>
            </a:extLst>
          </p:cNvPr>
          <p:cNvSpPr txBox="1"/>
          <p:nvPr/>
        </p:nvSpPr>
        <p:spPr>
          <a:xfrm>
            <a:off x="1358900" y="1698524"/>
            <a:ext cx="19367500" cy="1231900"/>
          </a:xfrm>
          <a:prstGeom prst="rect">
            <a:avLst/>
          </a:prstGeom>
        </p:spPr>
        <p:txBody>
          <a:bodyPr lIns="0" tIns="74844" rIns="0" bIns="0" rtlCol="0" anchor="t"/>
          <a:lstStyle/>
          <a:p>
            <a:pPr lvl="0" algn="l">
              <a:lnSpc>
                <a:spcPct val="102089"/>
              </a:lnSpc>
            </a:pPr>
            <a:r>
              <a:rPr lang="en-US" altLang="ko-KR" sz="6933" b="1" dirty="0">
                <a:solidFill>
                  <a:srgbClr val="0070C0"/>
                </a:solidFill>
                <a:latin typeface="Arial" panose="020B0604020202020204" pitchFamily="34" charset="0"/>
                <a:ea typeface="Pretendard ExtraBold"/>
                <a:cs typeface="Arial" panose="020B0604020202020204" pitchFamily="34" charset="0"/>
              </a:rPr>
              <a:t>Technical Mechanism</a:t>
            </a:r>
            <a:endParaRPr lang="en-US" sz="6933" b="1" i="0" strike="noStrike" dirty="0">
              <a:solidFill>
                <a:srgbClr val="0070C0"/>
              </a:solidFill>
              <a:latin typeface="Arial" panose="020B0604020202020204" pitchFamily="34" charset="0"/>
              <a:ea typeface="Pretendard ExtraBold"/>
              <a:cs typeface="Arial" panose="020B0604020202020204" pitchFamily="34" charset="0"/>
            </a:endParaRP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12E0BEFC-A7EB-2426-3B14-7A23E56AA948}"/>
              </a:ext>
            </a:extLst>
          </p:cNvPr>
          <p:cNvSpPr txBox="1"/>
          <p:nvPr/>
        </p:nvSpPr>
        <p:spPr>
          <a:xfrm>
            <a:off x="1371600" y="12827000"/>
            <a:ext cx="101600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cap="all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Virtual staining for histology by deep learning </a:t>
            </a:r>
            <a:endParaRPr lang="en-US" sz="2666" b="0" i="0" u="none" strike="noStrike" cap="all" dirty="0">
              <a:solidFill>
                <a:srgbClr val="787878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042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079EC-8F1A-8732-1A41-FE781C472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E069E77-AED7-789F-F170-AFD21B59B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900" y="12522200"/>
            <a:ext cx="21666200" cy="381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5323A41D-A311-10DC-3953-D74CAAC82B47}"/>
              </a:ext>
            </a:extLst>
          </p:cNvPr>
          <p:cNvSpPr txBox="1"/>
          <p:nvPr/>
        </p:nvSpPr>
        <p:spPr>
          <a:xfrm>
            <a:off x="20027900" y="12827000"/>
            <a:ext cx="29845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2666" b="0" i="0" u="none" strike="noStrike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Page 7/11</a:t>
            </a:r>
          </a:p>
        </p:txBody>
      </p:sp>
      <p:pic>
        <p:nvPicPr>
          <p:cNvPr id="16" name="Picture 16">
            <a:extLst>
              <a:ext uri="{FF2B5EF4-FFF2-40B4-BE49-F238E27FC236}">
                <a16:creationId xmlns:a16="http://schemas.microsoft.com/office/drawing/2014/main" id="{302D99F6-10C6-BA6F-4105-FC56FF1AC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900" y="1270000"/>
            <a:ext cx="21666200" cy="38100"/>
          </a:xfrm>
          <a:prstGeom prst="rect">
            <a:avLst/>
          </a:prstGeom>
        </p:spPr>
      </p:pic>
      <p:sp>
        <p:nvSpPr>
          <p:cNvPr id="5" name="TextBox 17">
            <a:extLst>
              <a:ext uri="{FF2B5EF4-FFF2-40B4-BE49-F238E27FC236}">
                <a16:creationId xmlns:a16="http://schemas.microsoft.com/office/drawing/2014/main" id="{8605F414-A20B-EBF2-76FB-E4D3F2BEC979}"/>
              </a:ext>
            </a:extLst>
          </p:cNvPr>
          <p:cNvSpPr txBox="1"/>
          <p:nvPr/>
        </p:nvSpPr>
        <p:spPr>
          <a:xfrm>
            <a:off x="1371600" y="495300"/>
            <a:ext cx="85217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cap="all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04. Technical mechanism</a:t>
            </a:r>
            <a:endParaRPr lang="en-US" sz="2666" b="0" i="0" u="none" strike="noStrike" cap="all" dirty="0">
              <a:solidFill>
                <a:srgbClr val="787878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660DFC-2699-6288-D00F-8876C64F52B1}"/>
              </a:ext>
            </a:extLst>
          </p:cNvPr>
          <p:cNvSpPr txBox="1"/>
          <p:nvPr/>
        </p:nvSpPr>
        <p:spPr>
          <a:xfrm>
            <a:off x="1371600" y="2930424"/>
            <a:ext cx="2252360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>
                <a:latin typeface="Arial" panose="020B0604020202020204" pitchFamily="34" charset="0"/>
                <a:cs typeface="Arial" panose="020B0604020202020204" pitchFamily="34" charset="0"/>
              </a:rPr>
              <a:t>Utilizes paired data for image-to-image translation. It learns the mapping by training on 1:1 </a:t>
            </a:r>
          </a:p>
          <a:p>
            <a:r>
              <a:rPr lang="en-US" altLang="ko-KR" sz="3200" dirty="0">
                <a:latin typeface="Arial" panose="020B0604020202020204" pitchFamily="34" charset="0"/>
                <a:cs typeface="Arial" panose="020B0604020202020204" pitchFamily="34" charset="0"/>
              </a:rPr>
              <a:t>correspondences between two domains, such as unstained and stained tissue images.</a:t>
            </a:r>
          </a:p>
        </p:txBody>
      </p:sp>
      <p:sp>
        <p:nvSpPr>
          <p:cNvPr id="7" name="TextBox 17">
            <a:extLst>
              <a:ext uri="{FF2B5EF4-FFF2-40B4-BE49-F238E27FC236}">
                <a16:creationId xmlns:a16="http://schemas.microsoft.com/office/drawing/2014/main" id="{C92182C2-C313-73EB-5C48-0E61BC582FF1}"/>
              </a:ext>
            </a:extLst>
          </p:cNvPr>
          <p:cNvSpPr txBox="1"/>
          <p:nvPr/>
        </p:nvSpPr>
        <p:spPr>
          <a:xfrm>
            <a:off x="20417824" y="513748"/>
            <a:ext cx="2607276" cy="4318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cap="all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Seoeun Jang</a:t>
            </a:r>
            <a:endParaRPr lang="en-US" sz="2666" b="0" i="0" u="none" strike="noStrike" cap="all" dirty="0">
              <a:solidFill>
                <a:srgbClr val="787878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ABFDE589-F29E-A1F6-B4B8-B59C1BCFCB04}"/>
              </a:ext>
            </a:extLst>
          </p:cNvPr>
          <p:cNvSpPr txBox="1"/>
          <p:nvPr/>
        </p:nvSpPr>
        <p:spPr>
          <a:xfrm>
            <a:off x="1358900" y="1698524"/>
            <a:ext cx="19367500" cy="1231900"/>
          </a:xfrm>
          <a:prstGeom prst="rect">
            <a:avLst/>
          </a:prstGeom>
        </p:spPr>
        <p:txBody>
          <a:bodyPr lIns="0" tIns="74844" rIns="0" bIns="0" rtlCol="0" anchor="t"/>
          <a:lstStyle/>
          <a:p>
            <a:pPr lvl="0" algn="l">
              <a:lnSpc>
                <a:spcPct val="102089"/>
              </a:lnSpc>
            </a:pPr>
            <a:r>
              <a:rPr lang="en-US" sz="6933" b="1" dirty="0">
                <a:solidFill>
                  <a:srgbClr val="595959"/>
                </a:solidFill>
                <a:latin typeface="Arial" panose="020B0604020202020204" pitchFamily="34" charset="0"/>
                <a:ea typeface="Pretendard ExtraBold"/>
                <a:cs typeface="Arial" panose="020B0604020202020204" pitchFamily="34" charset="0"/>
              </a:rPr>
              <a:t>Supervised model – </a:t>
            </a:r>
            <a:r>
              <a:rPr lang="en-US" sz="6933" b="1" dirty="0">
                <a:solidFill>
                  <a:srgbClr val="0070C0"/>
                </a:solidFill>
                <a:latin typeface="Arial" panose="020B0604020202020204" pitchFamily="34" charset="0"/>
                <a:ea typeface="Pretendard ExtraBold"/>
                <a:cs typeface="Arial" panose="020B0604020202020204" pitchFamily="34" charset="0"/>
              </a:rPr>
              <a:t>Pix2pix</a:t>
            </a:r>
            <a:endParaRPr lang="en-US" sz="6933" b="1" i="0" strike="noStrike" dirty="0">
              <a:solidFill>
                <a:srgbClr val="0070C0"/>
              </a:solidFill>
              <a:latin typeface="Arial" panose="020B0604020202020204" pitchFamily="34" charset="0"/>
              <a:ea typeface="Pretendard ExtraBold"/>
              <a:cs typeface="Arial" panose="020B0604020202020204" pitchFamily="34" charset="0"/>
            </a:endParaRP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9688F9BA-DDCD-5781-CCF6-91F579287F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97000" y="4473173"/>
            <a:ext cx="6629400" cy="878593"/>
          </a:xfrm>
          <a:prstGeom prst="rect">
            <a:avLst/>
          </a:prstGeom>
        </p:spPr>
      </p:pic>
      <p:sp>
        <p:nvSpPr>
          <p:cNvPr id="53" name="TextBox 9">
            <a:extLst>
              <a:ext uri="{FF2B5EF4-FFF2-40B4-BE49-F238E27FC236}">
                <a16:creationId xmlns:a16="http://schemas.microsoft.com/office/drawing/2014/main" id="{C3142A31-892F-4379-E82D-68B4E0380413}"/>
              </a:ext>
            </a:extLst>
          </p:cNvPr>
          <p:cNvSpPr txBox="1"/>
          <p:nvPr/>
        </p:nvSpPr>
        <p:spPr>
          <a:xfrm>
            <a:off x="1371600" y="12827000"/>
            <a:ext cx="101600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cap="all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Virtual staining for histology by deep learning </a:t>
            </a:r>
            <a:endParaRPr lang="en-US" sz="2666" b="0" i="0" u="none" strike="noStrike" cap="all" dirty="0">
              <a:solidFill>
                <a:srgbClr val="787878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  <p:pic>
        <p:nvPicPr>
          <p:cNvPr id="57" name="그림 56" descr="Generated 1">
            <a:extLst>
              <a:ext uri="{FF2B5EF4-FFF2-40B4-BE49-F238E27FC236}">
                <a16:creationId xmlns:a16="http://schemas.microsoft.com/office/drawing/2014/main" id="{6C50BCB2-EC15-8D26-4410-CE7CE02B8A9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8415"/>
          <a:stretch>
            <a:fillRect/>
          </a:stretch>
        </p:blipFill>
        <p:spPr>
          <a:xfrm>
            <a:off x="3987380" y="4045331"/>
            <a:ext cx="16409239" cy="8387969"/>
          </a:xfrm>
          <a:prstGeom prst="rect">
            <a:avLst/>
          </a:prstGeom>
        </p:spPr>
      </p:pic>
      <p:sp>
        <p:nvSpPr>
          <p:cNvPr id="54" name="직사각형 53">
            <a:extLst>
              <a:ext uri="{FF2B5EF4-FFF2-40B4-BE49-F238E27FC236}">
                <a16:creationId xmlns:a16="http://schemas.microsoft.com/office/drawing/2014/main" id="{BC38461A-A278-33D3-4547-30C8C3B667F4}"/>
              </a:ext>
            </a:extLst>
          </p:cNvPr>
          <p:cNvSpPr/>
          <p:nvPr/>
        </p:nvSpPr>
        <p:spPr>
          <a:xfrm>
            <a:off x="15697200" y="8686800"/>
            <a:ext cx="4330700" cy="3305276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208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A8BD1-3546-3388-CBF0-E2D29AB83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AC389A4-61B2-41B9-E11A-B62C620D8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900" y="12522200"/>
            <a:ext cx="21666200" cy="381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54D0D216-05AC-EEC3-851F-EAB8607C851F}"/>
              </a:ext>
            </a:extLst>
          </p:cNvPr>
          <p:cNvSpPr txBox="1"/>
          <p:nvPr/>
        </p:nvSpPr>
        <p:spPr>
          <a:xfrm>
            <a:off x="20027900" y="12827000"/>
            <a:ext cx="29845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2666" b="0" i="0" u="none" strike="noStrike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Page 8/11</a:t>
            </a:r>
          </a:p>
        </p:txBody>
      </p:sp>
      <p:pic>
        <p:nvPicPr>
          <p:cNvPr id="16" name="Picture 16">
            <a:extLst>
              <a:ext uri="{FF2B5EF4-FFF2-40B4-BE49-F238E27FC236}">
                <a16:creationId xmlns:a16="http://schemas.microsoft.com/office/drawing/2014/main" id="{C34B07AA-E3A1-BCAF-50E5-8352E8448B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900" y="1270000"/>
            <a:ext cx="21666200" cy="38100"/>
          </a:xfrm>
          <a:prstGeom prst="rect">
            <a:avLst/>
          </a:prstGeom>
        </p:spPr>
      </p:pic>
      <p:sp>
        <p:nvSpPr>
          <p:cNvPr id="6" name="TextBox 17">
            <a:extLst>
              <a:ext uri="{FF2B5EF4-FFF2-40B4-BE49-F238E27FC236}">
                <a16:creationId xmlns:a16="http://schemas.microsoft.com/office/drawing/2014/main" id="{4869B769-D01E-DBD4-6E38-A3E11A674140}"/>
              </a:ext>
            </a:extLst>
          </p:cNvPr>
          <p:cNvSpPr txBox="1"/>
          <p:nvPr/>
        </p:nvSpPr>
        <p:spPr>
          <a:xfrm>
            <a:off x="1371600" y="495300"/>
            <a:ext cx="85217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cap="all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04. Technical mechanism</a:t>
            </a:r>
            <a:endParaRPr lang="en-US" sz="2666" b="0" i="0" u="none" strike="noStrike" cap="all" dirty="0">
              <a:solidFill>
                <a:srgbClr val="787878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AC5195-B120-FD37-8317-DC16360DA76D}"/>
              </a:ext>
            </a:extLst>
          </p:cNvPr>
          <p:cNvSpPr txBox="1"/>
          <p:nvPr/>
        </p:nvSpPr>
        <p:spPr>
          <a:xfrm>
            <a:off x="1371600" y="2930424"/>
            <a:ext cx="1912805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>
                <a:latin typeface="Arial" panose="020B0604020202020204" pitchFamily="34" charset="0"/>
                <a:cs typeface="Arial" panose="020B0604020202020204" pitchFamily="34" charset="0"/>
              </a:rPr>
              <a:t>Performs domain translation using unpaired data. It does not require 1:1 matched images, </a:t>
            </a:r>
            <a:br>
              <a:rPr lang="en-US" altLang="ko-KR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3200" dirty="0">
                <a:latin typeface="Arial" panose="020B0604020202020204" pitchFamily="34" charset="0"/>
                <a:cs typeface="Arial" panose="020B0604020202020204" pitchFamily="34" charset="0"/>
              </a:rPr>
              <a:t>making it highly effective for scenarios where paired data is difficult to obtain.</a:t>
            </a:r>
            <a:endParaRPr lang="ko-KR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17">
            <a:extLst>
              <a:ext uri="{FF2B5EF4-FFF2-40B4-BE49-F238E27FC236}">
                <a16:creationId xmlns:a16="http://schemas.microsoft.com/office/drawing/2014/main" id="{8F5BD607-7D51-33C4-829F-D123D069BD40}"/>
              </a:ext>
            </a:extLst>
          </p:cNvPr>
          <p:cNvSpPr txBox="1"/>
          <p:nvPr/>
        </p:nvSpPr>
        <p:spPr>
          <a:xfrm>
            <a:off x="20417824" y="513748"/>
            <a:ext cx="2607276" cy="4318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cap="all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Seoeun Jang</a:t>
            </a:r>
            <a:endParaRPr lang="en-US" sz="2666" b="0" i="0" u="none" strike="noStrike" cap="all" dirty="0">
              <a:solidFill>
                <a:srgbClr val="787878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3BB2AA0A-6C69-8E86-5226-28C68DE25739}"/>
              </a:ext>
            </a:extLst>
          </p:cNvPr>
          <p:cNvSpPr txBox="1"/>
          <p:nvPr/>
        </p:nvSpPr>
        <p:spPr>
          <a:xfrm>
            <a:off x="1358900" y="1698524"/>
            <a:ext cx="19367500" cy="1231900"/>
          </a:xfrm>
          <a:prstGeom prst="rect">
            <a:avLst/>
          </a:prstGeom>
        </p:spPr>
        <p:txBody>
          <a:bodyPr lIns="0" tIns="74844" rIns="0" bIns="0" rtlCol="0" anchor="t"/>
          <a:lstStyle/>
          <a:p>
            <a:pPr lvl="0" algn="l">
              <a:lnSpc>
                <a:spcPct val="102089"/>
              </a:lnSpc>
            </a:pPr>
            <a:r>
              <a:rPr lang="en-US" sz="6933" b="1" dirty="0">
                <a:solidFill>
                  <a:srgbClr val="595959"/>
                </a:solidFill>
                <a:latin typeface="Arial" panose="020B0604020202020204" pitchFamily="34" charset="0"/>
                <a:ea typeface="Pretendard ExtraBold"/>
                <a:cs typeface="Arial" panose="020B0604020202020204" pitchFamily="34" charset="0"/>
              </a:rPr>
              <a:t>Unsupervised model – </a:t>
            </a:r>
            <a:r>
              <a:rPr lang="en-US" sz="6933" b="1" dirty="0" err="1">
                <a:solidFill>
                  <a:srgbClr val="0070C0"/>
                </a:solidFill>
                <a:latin typeface="Arial" panose="020B0604020202020204" pitchFamily="34" charset="0"/>
                <a:ea typeface="Pretendard ExtraBold"/>
                <a:cs typeface="Arial" panose="020B0604020202020204" pitchFamily="34" charset="0"/>
              </a:rPr>
              <a:t>CycleGAN</a:t>
            </a:r>
            <a:endParaRPr lang="en-US" sz="6933" b="1" i="0" strike="noStrike" dirty="0">
              <a:solidFill>
                <a:srgbClr val="0070C0"/>
              </a:solidFill>
              <a:latin typeface="Arial" panose="020B0604020202020204" pitchFamily="34" charset="0"/>
              <a:ea typeface="Pretendard ExtraBold"/>
              <a:cs typeface="Arial" panose="020B0604020202020204" pitchFamily="34" charset="0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02C1EF28-5E66-5C2A-98F2-F54C5C9420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7560" y="9612897"/>
            <a:ext cx="6164053" cy="1917705"/>
          </a:xfrm>
          <a:prstGeom prst="rect">
            <a:avLst/>
          </a:prstGeom>
        </p:spPr>
      </p:pic>
      <p:sp>
        <p:nvSpPr>
          <p:cNvPr id="22" name="TextBox 9">
            <a:extLst>
              <a:ext uri="{FF2B5EF4-FFF2-40B4-BE49-F238E27FC236}">
                <a16:creationId xmlns:a16="http://schemas.microsoft.com/office/drawing/2014/main" id="{AA613E21-1CF4-2FE0-ABC6-0B710BFD3624}"/>
              </a:ext>
            </a:extLst>
          </p:cNvPr>
          <p:cNvSpPr txBox="1"/>
          <p:nvPr/>
        </p:nvSpPr>
        <p:spPr>
          <a:xfrm>
            <a:off x="1371600" y="12827000"/>
            <a:ext cx="101600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cap="all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Virtual staining for histology by deep learning </a:t>
            </a:r>
            <a:endParaRPr lang="en-US" sz="2666" b="0" i="0" u="none" strike="noStrike" cap="all" dirty="0">
              <a:solidFill>
                <a:srgbClr val="787878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  <p:pic>
        <p:nvPicPr>
          <p:cNvPr id="23" name="그림 22" descr="Generated 1">
            <a:extLst>
              <a:ext uri="{FF2B5EF4-FFF2-40B4-BE49-F238E27FC236}">
                <a16:creationId xmlns:a16="http://schemas.microsoft.com/office/drawing/2014/main" id="{96C4B19C-3619-917A-BB2C-41CA95D34B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3900" y="3960923"/>
            <a:ext cx="15316200" cy="854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692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304FA-AD58-088F-B8A3-0D3C4CAD6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17F5825-E9CD-8382-8FD7-54BF0B540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900" y="12522200"/>
            <a:ext cx="21666200" cy="381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E9DB793F-EA0D-E2F2-269B-6232B2761D40}"/>
              </a:ext>
            </a:extLst>
          </p:cNvPr>
          <p:cNvSpPr txBox="1"/>
          <p:nvPr/>
        </p:nvSpPr>
        <p:spPr>
          <a:xfrm>
            <a:off x="20027900" y="12827000"/>
            <a:ext cx="29845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2666" b="0" i="0" u="none" strike="noStrike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Page 9</a:t>
            </a:r>
            <a:r>
              <a:rPr lang="en-US" sz="2666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/11</a:t>
            </a:r>
            <a:endParaRPr lang="en-US" sz="2666" b="0" i="0" u="none" strike="noStrike" dirty="0">
              <a:solidFill>
                <a:srgbClr val="787878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  <p:pic>
        <p:nvPicPr>
          <p:cNvPr id="16" name="Picture 16">
            <a:extLst>
              <a:ext uri="{FF2B5EF4-FFF2-40B4-BE49-F238E27FC236}">
                <a16:creationId xmlns:a16="http://schemas.microsoft.com/office/drawing/2014/main" id="{FB80D4AE-BDE1-522D-3AEC-A963157888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900" y="1270000"/>
            <a:ext cx="21666200" cy="381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21E6792E-7D6B-830A-F0D3-5912E2C45E58}"/>
              </a:ext>
            </a:extLst>
          </p:cNvPr>
          <p:cNvSpPr txBox="1"/>
          <p:nvPr/>
        </p:nvSpPr>
        <p:spPr>
          <a:xfrm>
            <a:off x="1371600" y="495300"/>
            <a:ext cx="85217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cap="all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05. Limitations </a:t>
            </a:r>
            <a:endParaRPr lang="en-US" sz="2666" b="0" i="0" u="none" strike="noStrike" cap="all" dirty="0">
              <a:solidFill>
                <a:srgbClr val="787878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E47438B-9EBB-E748-D534-3F02C5B0A742}"/>
              </a:ext>
            </a:extLst>
          </p:cNvPr>
          <p:cNvSpPr/>
          <p:nvPr/>
        </p:nvSpPr>
        <p:spPr>
          <a:xfrm>
            <a:off x="1044488" y="3357587"/>
            <a:ext cx="21666199" cy="2603432"/>
          </a:xfrm>
          <a:prstGeom prst="roundRect">
            <a:avLst/>
          </a:prstGeom>
          <a:solidFill>
            <a:srgbClr val="EAF3FA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AutoNum type="arabicPeriod"/>
            </a:pPr>
            <a:r>
              <a:rPr lang="en-US" altLang="ko-KR" sz="3600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Validation and Generalization</a:t>
            </a:r>
          </a:p>
          <a:p>
            <a:r>
              <a:rPr lang="en-US" altLang="ko-KR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Requires strong validation; performance may vary across stains, tissues, proteins, and pathologies.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586D8C6-7B49-E255-56CE-C0A62F0DDA6F}"/>
              </a:ext>
            </a:extLst>
          </p:cNvPr>
          <p:cNvSpPr/>
          <p:nvPr/>
        </p:nvSpPr>
        <p:spPr>
          <a:xfrm>
            <a:off x="1044489" y="6330670"/>
            <a:ext cx="21666198" cy="2603432"/>
          </a:xfrm>
          <a:prstGeom prst="roundRect">
            <a:avLst/>
          </a:prstGeom>
          <a:solidFill>
            <a:srgbClr val="EAF3FA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600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Data &amp; Imaging Issues</a:t>
            </a:r>
            <a:br>
              <a:rPr lang="en-US" altLang="ko-KR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Needs large representative datasets; unstained tissues are low-contrast and difficult to scan.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2B4C95A-A511-2FB0-C5DB-B113BDE5EF40}"/>
              </a:ext>
            </a:extLst>
          </p:cNvPr>
          <p:cNvSpPr/>
          <p:nvPr/>
        </p:nvSpPr>
        <p:spPr>
          <a:xfrm>
            <a:off x="1044488" y="9303753"/>
            <a:ext cx="21666197" cy="2603432"/>
          </a:xfrm>
          <a:prstGeom prst="roundRect">
            <a:avLst/>
          </a:prstGeom>
          <a:solidFill>
            <a:srgbClr val="EAF3FA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600" b="1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Technical &amp; AI artifacts</a:t>
            </a:r>
            <a:br>
              <a:rPr lang="en-US" altLang="ko-KR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Tiling, registration errors, and hallucinations can produce misleading virtual staining results</a:t>
            </a:r>
          </a:p>
        </p:txBody>
      </p:sp>
      <p:sp>
        <p:nvSpPr>
          <p:cNvPr id="25" name="TextBox 17">
            <a:extLst>
              <a:ext uri="{FF2B5EF4-FFF2-40B4-BE49-F238E27FC236}">
                <a16:creationId xmlns:a16="http://schemas.microsoft.com/office/drawing/2014/main" id="{4848565C-C971-D56F-8D9E-3D0CE3EAF86F}"/>
              </a:ext>
            </a:extLst>
          </p:cNvPr>
          <p:cNvSpPr txBox="1"/>
          <p:nvPr/>
        </p:nvSpPr>
        <p:spPr>
          <a:xfrm>
            <a:off x="20417824" y="513748"/>
            <a:ext cx="2607276" cy="4318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cap="all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Seoeun Jang</a:t>
            </a:r>
            <a:endParaRPr lang="en-US" sz="2666" b="0" i="0" u="none" strike="noStrike" cap="all" dirty="0">
              <a:solidFill>
                <a:srgbClr val="787878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  <p:sp>
        <p:nvSpPr>
          <p:cNvPr id="27" name="TextBox 4">
            <a:extLst>
              <a:ext uri="{FF2B5EF4-FFF2-40B4-BE49-F238E27FC236}">
                <a16:creationId xmlns:a16="http://schemas.microsoft.com/office/drawing/2014/main" id="{95A97CA0-33AF-3839-440D-B411E191CF3C}"/>
              </a:ext>
            </a:extLst>
          </p:cNvPr>
          <p:cNvSpPr txBox="1"/>
          <p:nvPr/>
        </p:nvSpPr>
        <p:spPr>
          <a:xfrm>
            <a:off x="1358900" y="1698524"/>
            <a:ext cx="19367500" cy="1231900"/>
          </a:xfrm>
          <a:prstGeom prst="rect">
            <a:avLst/>
          </a:prstGeom>
        </p:spPr>
        <p:txBody>
          <a:bodyPr lIns="0" tIns="74844" rIns="0" bIns="0" rtlCol="0" anchor="t"/>
          <a:lstStyle/>
          <a:p>
            <a:pPr lvl="0" algn="l">
              <a:lnSpc>
                <a:spcPct val="102089"/>
              </a:lnSpc>
            </a:pPr>
            <a:r>
              <a:rPr lang="en-US" sz="6933" b="1" i="0" strike="noStrike" dirty="0">
                <a:solidFill>
                  <a:srgbClr val="0070C0"/>
                </a:solidFill>
                <a:latin typeface="Arial" panose="020B0604020202020204" pitchFamily="34" charset="0"/>
                <a:ea typeface="Pretendard ExtraBold"/>
                <a:cs typeface="Arial" panose="020B0604020202020204" pitchFamily="34" charset="0"/>
              </a:rPr>
              <a:t>Limitations</a:t>
            </a: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CBD822D2-752E-DB2F-9EBC-08A848A8E977}"/>
              </a:ext>
            </a:extLst>
          </p:cNvPr>
          <p:cNvSpPr txBox="1"/>
          <p:nvPr/>
        </p:nvSpPr>
        <p:spPr>
          <a:xfrm>
            <a:off x="1371600" y="12827000"/>
            <a:ext cx="101600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cap="all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Virtual staining for histology by deep learning </a:t>
            </a:r>
            <a:endParaRPr lang="en-US" sz="2666" b="0" i="0" u="none" strike="noStrike" cap="all" dirty="0">
              <a:solidFill>
                <a:srgbClr val="787878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344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79704-EE9E-3401-5417-A56D753E0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8D3DD17-F6C1-8E52-CB71-D901B1179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900" y="12522200"/>
            <a:ext cx="21666200" cy="381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E421ACFF-3D95-DBE1-9D20-A549747AC188}"/>
              </a:ext>
            </a:extLst>
          </p:cNvPr>
          <p:cNvSpPr txBox="1"/>
          <p:nvPr/>
        </p:nvSpPr>
        <p:spPr>
          <a:xfrm>
            <a:off x="20027900" y="12827000"/>
            <a:ext cx="29845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2666" b="0" i="0" u="none" strike="noStrike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Page </a:t>
            </a:r>
            <a:r>
              <a:rPr lang="en-US" sz="2666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10/11</a:t>
            </a:r>
            <a:endParaRPr lang="en-US" sz="2666" b="0" i="0" u="none" strike="noStrike" dirty="0">
              <a:solidFill>
                <a:srgbClr val="787878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  <p:pic>
        <p:nvPicPr>
          <p:cNvPr id="16" name="Picture 16">
            <a:extLst>
              <a:ext uri="{FF2B5EF4-FFF2-40B4-BE49-F238E27FC236}">
                <a16:creationId xmlns:a16="http://schemas.microsoft.com/office/drawing/2014/main" id="{3E75C83E-499A-F2C3-115F-B4D125F34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900" y="1270000"/>
            <a:ext cx="21666200" cy="381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DCC2D5B1-AA42-EE79-8238-1177298730B0}"/>
              </a:ext>
            </a:extLst>
          </p:cNvPr>
          <p:cNvSpPr txBox="1"/>
          <p:nvPr/>
        </p:nvSpPr>
        <p:spPr>
          <a:xfrm>
            <a:off x="1371600" y="495300"/>
            <a:ext cx="85217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cap="all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06. Future directions </a:t>
            </a:r>
            <a:endParaRPr lang="en-US" sz="2666" b="0" i="0" u="none" strike="noStrike" cap="all" dirty="0">
              <a:solidFill>
                <a:srgbClr val="787878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484AB0-1F07-E7D6-1F8C-AC82CE1519B1}"/>
              </a:ext>
            </a:extLst>
          </p:cNvPr>
          <p:cNvSpPr txBox="1"/>
          <p:nvPr/>
        </p:nvSpPr>
        <p:spPr>
          <a:xfrm>
            <a:off x="1371600" y="3823595"/>
            <a:ext cx="216535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dirty="0">
                <a:latin typeface="Arial" panose="020B0604020202020204" pitchFamily="34" charset="0"/>
                <a:cs typeface="Arial" panose="020B0604020202020204" pitchFamily="34" charset="0"/>
              </a:rPr>
              <a:t>Most Promising Target: H&amp;E</a:t>
            </a:r>
          </a:p>
          <a:p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- H&amp;E is the routine standard and the most developed virtual staining target.</a:t>
            </a:r>
          </a:p>
          <a:p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- Reliable virtual H&amp;E can support expansion to other stains.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5BBBEA-926E-622B-9BBD-77BC38058561}"/>
              </a:ext>
            </a:extLst>
          </p:cNvPr>
          <p:cNvSpPr txBox="1"/>
          <p:nvPr/>
        </p:nvSpPr>
        <p:spPr>
          <a:xfrm>
            <a:off x="1358900" y="6011798"/>
            <a:ext cx="216535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dirty="0">
                <a:latin typeface="Arial" panose="020B0604020202020204" pitchFamily="34" charset="0"/>
                <a:cs typeface="Arial" panose="020B0604020202020204" pitchFamily="34" charset="0"/>
              </a:rPr>
              <a:t>Requirements for Broader Applications</a:t>
            </a:r>
          </a:p>
          <a:p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- Standardization: Different scanners, resolutions, evaluation methods make model comparison difficult. </a:t>
            </a:r>
          </a:p>
          <a:p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- Open WSI datasets: Can improve reproducibility and generalization</a:t>
            </a:r>
          </a:p>
          <a:p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- Hardware optimization: Scanners should be optimized for low-contrast unstained tissues, with faster inference for clinical use.</a:t>
            </a:r>
          </a:p>
        </p:txBody>
      </p:sp>
      <p:sp>
        <p:nvSpPr>
          <p:cNvPr id="7" name="TextBox 17">
            <a:extLst>
              <a:ext uri="{FF2B5EF4-FFF2-40B4-BE49-F238E27FC236}">
                <a16:creationId xmlns:a16="http://schemas.microsoft.com/office/drawing/2014/main" id="{95BFD882-1B8F-B4EB-DDCF-A00C86711AD4}"/>
              </a:ext>
            </a:extLst>
          </p:cNvPr>
          <p:cNvSpPr txBox="1"/>
          <p:nvPr/>
        </p:nvSpPr>
        <p:spPr>
          <a:xfrm>
            <a:off x="20417824" y="513748"/>
            <a:ext cx="2607276" cy="4318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cap="all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Seoeun Jang</a:t>
            </a:r>
            <a:endParaRPr lang="en-US" sz="2666" b="0" i="0" u="none" strike="noStrike" cap="all" dirty="0">
              <a:solidFill>
                <a:srgbClr val="787878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AE35614F-E212-2CB0-2D60-59EEDE9C3E74}"/>
              </a:ext>
            </a:extLst>
          </p:cNvPr>
          <p:cNvSpPr txBox="1"/>
          <p:nvPr/>
        </p:nvSpPr>
        <p:spPr>
          <a:xfrm>
            <a:off x="1358900" y="1698524"/>
            <a:ext cx="19367500" cy="1231900"/>
          </a:xfrm>
          <a:prstGeom prst="rect">
            <a:avLst/>
          </a:prstGeom>
        </p:spPr>
        <p:txBody>
          <a:bodyPr lIns="0" tIns="74844" rIns="0" bIns="0" rtlCol="0" anchor="t"/>
          <a:lstStyle/>
          <a:p>
            <a:pPr lvl="0" algn="l">
              <a:lnSpc>
                <a:spcPct val="102089"/>
              </a:lnSpc>
            </a:pPr>
            <a:endParaRPr lang="en-US" sz="6933" b="1" i="0" strike="noStrike" dirty="0">
              <a:solidFill>
                <a:srgbClr val="0070C0"/>
              </a:solidFill>
              <a:latin typeface="Arial" panose="020B0604020202020204" pitchFamily="34" charset="0"/>
              <a:ea typeface="Pretendard ExtraBold"/>
              <a:cs typeface="Arial" panose="020B0604020202020204" pitchFamily="34" charset="0"/>
            </a:endParaRP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D4C64D54-E624-FF63-B64D-131C040C2790}"/>
              </a:ext>
            </a:extLst>
          </p:cNvPr>
          <p:cNvSpPr txBox="1"/>
          <p:nvPr/>
        </p:nvSpPr>
        <p:spPr>
          <a:xfrm>
            <a:off x="2152650" y="4672665"/>
            <a:ext cx="19367500" cy="1231900"/>
          </a:xfrm>
          <a:prstGeom prst="rect">
            <a:avLst/>
          </a:prstGeom>
        </p:spPr>
        <p:txBody>
          <a:bodyPr lIns="0" tIns="74844" rIns="0" bIns="0" rtlCol="0" anchor="t"/>
          <a:lstStyle/>
          <a:p>
            <a:pPr lvl="0">
              <a:lnSpc>
                <a:spcPct val="102089"/>
              </a:lnSpc>
            </a:pPr>
            <a:endParaRPr lang="en-US" altLang="ko-KR" sz="6933" b="1" dirty="0">
              <a:latin typeface="Arial" panose="020B0604020202020204" pitchFamily="34" charset="0"/>
              <a:ea typeface="Pretendard ExtraBold"/>
              <a:cs typeface="Arial" panose="020B0604020202020204" pitchFamily="34" charset="0"/>
            </a:endParaRPr>
          </a:p>
        </p:txBody>
      </p:sp>
      <p:sp>
        <p:nvSpPr>
          <p:cNvPr id="20" name="TextBox 4">
            <a:extLst>
              <a:ext uri="{FF2B5EF4-FFF2-40B4-BE49-F238E27FC236}">
                <a16:creationId xmlns:a16="http://schemas.microsoft.com/office/drawing/2014/main" id="{0D381096-E4B0-E284-EEC6-5BBC13B177DE}"/>
              </a:ext>
            </a:extLst>
          </p:cNvPr>
          <p:cNvSpPr txBox="1"/>
          <p:nvPr/>
        </p:nvSpPr>
        <p:spPr>
          <a:xfrm>
            <a:off x="1358900" y="1698524"/>
            <a:ext cx="19367500" cy="1231900"/>
          </a:xfrm>
          <a:prstGeom prst="rect">
            <a:avLst/>
          </a:prstGeom>
        </p:spPr>
        <p:txBody>
          <a:bodyPr lIns="0" tIns="74844" rIns="0" bIns="0" rtlCol="0" anchor="t"/>
          <a:lstStyle/>
          <a:p>
            <a:pPr lvl="0">
              <a:lnSpc>
                <a:spcPct val="102089"/>
              </a:lnSpc>
            </a:pPr>
            <a:r>
              <a:rPr lang="en-US" sz="6933" b="1" i="0" strike="noStrike" dirty="0">
                <a:solidFill>
                  <a:srgbClr val="0070C0"/>
                </a:solidFill>
                <a:latin typeface="Arial" panose="020B0604020202020204" pitchFamily="34" charset="0"/>
                <a:ea typeface="Pretendard ExtraBold"/>
                <a:cs typeface="Arial" panose="020B0604020202020204" pitchFamily="34" charset="0"/>
              </a:rPr>
              <a:t>Future Directions</a:t>
            </a: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8514468B-4802-24F2-0C02-FC889D1B0027}"/>
              </a:ext>
            </a:extLst>
          </p:cNvPr>
          <p:cNvSpPr txBox="1"/>
          <p:nvPr/>
        </p:nvSpPr>
        <p:spPr>
          <a:xfrm>
            <a:off x="1371600" y="12827000"/>
            <a:ext cx="101600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cap="all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Virtual staining for histology by deep learning </a:t>
            </a:r>
            <a:endParaRPr lang="en-US" sz="2666" b="0" i="0" u="none" strike="noStrike" cap="all" dirty="0">
              <a:solidFill>
                <a:srgbClr val="787878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B55E7C-413E-3FDF-66D9-FBC741E8703F}"/>
              </a:ext>
            </a:extLst>
          </p:cNvPr>
          <p:cNvSpPr txBox="1"/>
          <p:nvPr/>
        </p:nvSpPr>
        <p:spPr>
          <a:xfrm>
            <a:off x="1371600" y="9320705"/>
            <a:ext cx="21945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dirty="0">
                <a:latin typeface="Arial" panose="020B0604020202020204" pitchFamily="34" charset="0"/>
                <a:cs typeface="Arial" panose="020B0604020202020204" pitchFamily="34" charset="0"/>
              </a:rPr>
              <a:t>Example Approach: </a:t>
            </a:r>
            <a:r>
              <a:rPr lang="en-US" altLang="ko-K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ViT</a:t>
            </a:r>
            <a:r>
              <a:rPr lang="en-US" altLang="ko-KR" sz="3600" b="1" dirty="0">
                <a:latin typeface="Arial" panose="020B0604020202020204" pitchFamily="34" charset="0"/>
                <a:cs typeface="Arial" panose="020B0604020202020204" pitchFamily="34" charset="0"/>
              </a:rPr>
              <a:t>-Stain</a:t>
            </a:r>
          </a:p>
          <a:p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- Uses patch tokens and global self-attention to understand the overall tissue </a:t>
            </a:r>
            <a:r>
              <a:rPr lang="en-US" altLang="ko-KR" sz="3600" dirty="0" err="1">
                <a:latin typeface="Arial" panose="020B0604020202020204" pitchFamily="34" charset="0"/>
                <a:cs typeface="Arial" panose="020B0604020202020204" pitchFamily="34" charset="0"/>
              </a:rPr>
              <a:t>stucture</a:t>
            </a:r>
            <a:endParaRPr lang="en-US" altLang="ko-K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- Connects distant tissue regions to understand the whole tissue structure</a:t>
            </a:r>
          </a:p>
          <a:p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- Helps prevent false tissue details and makes the virtual stain more consistent</a:t>
            </a:r>
            <a:endParaRPr lang="ko-KR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236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9975E-2A7C-1F4A-C5CF-885704917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517762A-01A4-CB32-A626-DDC5D444C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900" y="12522200"/>
            <a:ext cx="21666200" cy="381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818618B1-30F7-826C-7125-A543C7CADE4E}"/>
              </a:ext>
            </a:extLst>
          </p:cNvPr>
          <p:cNvSpPr txBox="1"/>
          <p:nvPr/>
        </p:nvSpPr>
        <p:spPr>
          <a:xfrm>
            <a:off x="20027900" y="12827000"/>
            <a:ext cx="29845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2666" b="0" i="0" u="none" strike="noStrike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Page 11/1</a:t>
            </a:r>
            <a:r>
              <a:rPr lang="en-US" sz="2666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1</a:t>
            </a:r>
            <a:endParaRPr lang="en-US" sz="2666" b="0" i="0" u="none" strike="noStrike" dirty="0">
              <a:solidFill>
                <a:srgbClr val="787878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  <p:pic>
        <p:nvPicPr>
          <p:cNvPr id="16" name="Picture 16">
            <a:extLst>
              <a:ext uri="{FF2B5EF4-FFF2-40B4-BE49-F238E27FC236}">
                <a16:creationId xmlns:a16="http://schemas.microsoft.com/office/drawing/2014/main" id="{8490DD3E-DF0F-7AC4-E516-008E6C5D48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900" y="1270000"/>
            <a:ext cx="21666200" cy="38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ABE255-9D75-6179-4034-2AA0D8C33D40}"/>
              </a:ext>
            </a:extLst>
          </p:cNvPr>
          <p:cNvSpPr txBox="1"/>
          <p:nvPr/>
        </p:nvSpPr>
        <p:spPr>
          <a:xfrm>
            <a:off x="1358900" y="3986827"/>
            <a:ext cx="21640800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3200" dirty="0">
                <a:latin typeface="Arial" panose="020B0604020202020204" pitchFamily="34" charset="0"/>
                <a:cs typeface="Arial" panose="020B0604020202020204" pitchFamily="34" charset="0"/>
              </a:rPr>
              <a:t>Fischer, A. H., Jacobson, K. A., Rose, J., &amp; Zeller, R. (2008). Hematoxylin and eosin staining of tissue and cell sections. </a:t>
            </a:r>
            <a:r>
              <a:rPr lang="en-US" altLang="ko-KR" sz="3200" i="1" dirty="0">
                <a:latin typeface="Arial" panose="020B0604020202020204" pitchFamily="34" charset="0"/>
                <a:cs typeface="Arial" panose="020B0604020202020204" pitchFamily="34" charset="0"/>
              </a:rPr>
              <a:t>Cold Spring Harbor Protocols, 2008</a:t>
            </a:r>
            <a:r>
              <a:rPr lang="en-US" altLang="ko-KR" sz="3200" dirty="0">
                <a:latin typeface="Arial" panose="020B0604020202020204" pitchFamily="34" charset="0"/>
                <a:cs typeface="Arial" panose="020B0604020202020204" pitchFamily="34" charset="0"/>
              </a:rPr>
              <a:t>(5), pdb.prot4986. </a:t>
            </a:r>
            <a:r>
              <a:rPr lang="en-US" altLang="ko-KR" sz="3200" u="sng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https://doi.org/10.1101/pdb.prot4986</a:t>
            </a:r>
            <a:endParaRPr lang="ko-KR" altLang="ko-K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1"/>
            <a:r>
              <a:rPr lang="en-US" altLang="ko-KR" sz="3200" dirty="0">
                <a:latin typeface="Arial" panose="020B0604020202020204" pitchFamily="34" charset="0"/>
                <a:cs typeface="Arial" panose="020B0604020202020204" pitchFamily="34" charset="0"/>
              </a:rPr>
              <a:t>Hussain, M. A., Waris, M. A., Akram, M. U., Khan, M. J., Asaf, M. Z., Javaid, A., Gilani, S. O., &amp; </a:t>
            </a:r>
            <a:r>
              <a:rPr lang="en-US" altLang="ko-KR" sz="3200" dirty="0" err="1">
                <a:latin typeface="Arial" panose="020B0604020202020204" pitchFamily="34" charset="0"/>
                <a:cs typeface="Arial" panose="020B0604020202020204" pitchFamily="34" charset="0"/>
              </a:rPr>
              <a:t>Hazzazi</a:t>
            </a:r>
            <a:r>
              <a:rPr lang="en-US" altLang="ko-KR" sz="3200" dirty="0">
                <a:latin typeface="Arial" panose="020B0604020202020204" pitchFamily="34" charset="0"/>
                <a:cs typeface="Arial" panose="020B0604020202020204" pitchFamily="34" charset="0"/>
              </a:rPr>
              <a:t>, F. (2026). </a:t>
            </a:r>
            <a:r>
              <a:rPr lang="en-US" altLang="ko-KR" sz="3200" dirty="0" err="1">
                <a:latin typeface="Arial" panose="020B0604020202020204" pitchFamily="34" charset="0"/>
                <a:cs typeface="Arial" panose="020B0604020202020204" pitchFamily="34" charset="0"/>
              </a:rPr>
              <a:t>ViT</a:t>
            </a:r>
            <a:r>
              <a:rPr lang="en-US" altLang="ko-KR" sz="3200" dirty="0">
                <a:latin typeface="Arial" panose="020B0604020202020204" pitchFamily="34" charset="0"/>
                <a:cs typeface="Arial" panose="020B0604020202020204" pitchFamily="34" charset="0"/>
              </a:rPr>
              <a:t>-Stain: Vision transformer-driven virtual staining for skin histopathology via global contextual learning. </a:t>
            </a:r>
            <a:r>
              <a:rPr lang="en-US" altLang="ko-KR" sz="3200" i="1" dirty="0">
                <a:latin typeface="Arial" panose="020B0604020202020204" pitchFamily="34" charset="0"/>
                <a:cs typeface="Arial" panose="020B0604020202020204" pitchFamily="34" charset="0"/>
              </a:rPr>
              <a:t>PLOS One, 21</a:t>
            </a:r>
            <a:r>
              <a:rPr lang="en-US" altLang="ko-KR" sz="3200" dirty="0">
                <a:latin typeface="Arial" panose="020B0604020202020204" pitchFamily="34" charset="0"/>
                <a:cs typeface="Arial" panose="020B0604020202020204" pitchFamily="34" charset="0"/>
              </a:rPr>
              <a:t>(2), e0341311. </a:t>
            </a:r>
            <a:r>
              <a:rPr lang="en-US" altLang="ko-KR" sz="3200" u="sng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https://doi.org/10.1371/journal.pone.0341311</a:t>
            </a:r>
            <a:endParaRPr lang="ko-KR" altLang="ko-K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1"/>
            <a:r>
              <a:rPr lang="en-US" altLang="ko-KR" sz="3200" dirty="0">
                <a:latin typeface="Arial" panose="020B0604020202020204" pitchFamily="34" charset="0"/>
                <a:cs typeface="Arial" panose="020B0604020202020204" pitchFamily="34" charset="0"/>
              </a:rPr>
              <a:t>Isola, P., Zhu, J.-Y., Zhou, T., &amp; Efros, A. A. (2017). Image-to-image translation with conditional adversarial networks. In </a:t>
            </a:r>
            <a:r>
              <a:rPr lang="en-US" altLang="ko-KR" sz="3200" i="1" dirty="0">
                <a:latin typeface="Arial" panose="020B0604020202020204" pitchFamily="34" charset="0"/>
                <a:cs typeface="Arial" panose="020B0604020202020204" pitchFamily="34" charset="0"/>
              </a:rPr>
              <a:t>Proceedings of the IEEE Conference on Computer Vision and Pattern Recognition (CVPR)</a:t>
            </a:r>
            <a:r>
              <a:rPr lang="en-US" altLang="ko-KR" sz="3200" dirty="0">
                <a:latin typeface="Arial" panose="020B0604020202020204" pitchFamily="34" charset="0"/>
                <a:cs typeface="Arial" panose="020B0604020202020204" pitchFamily="34" charset="0"/>
              </a:rPr>
              <a:t> (pp. 1125–1134). </a:t>
            </a:r>
            <a:r>
              <a:rPr lang="en-US" altLang="ko-KR" sz="3200" u="sng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https://doi.org/10.1109/CVPR.2017.632</a:t>
            </a:r>
            <a:endParaRPr lang="ko-KR" altLang="ko-K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1"/>
            <a:r>
              <a:rPr lang="en-US" altLang="ko-KR" sz="3200" dirty="0" err="1">
                <a:latin typeface="Arial" panose="020B0604020202020204" pitchFamily="34" charset="0"/>
                <a:cs typeface="Arial" panose="020B0604020202020204" pitchFamily="34" charset="0"/>
              </a:rPr>
              <a:t>Magaki</a:t>
            </a:r>
            <a:r>
              <a:rPr lang="en-US" altLang="ko-KR" sz="3200" dirty="0">
                <a:latin typeface="Arial" panose="020B0604020202020204" pitchFamily="34" charset="0"/>
                <a:cs typeface="Arial" panose="020B0604020202020204" pitchFamily="34" charset="0"/>
              </a:rPr>
              <a:t>, S., </a:t>
            </a:r>
            <a:r>
              <a:rPr lang="en-US" altLang="ko-KR" sz="3200" dirty="0" err="1">
                <a:latin typeface="Arial" panose="020B0604020202020204" pitchFamily="34" charset="0"/>
                <a:cs typeface="Arial" panose="020B0604020202020204" pitchFamily="34" charset="0"/>
              </a:rPr>
              <a:t>Hojat</a:t>
            </a:r>
            <a:r>
              <a:rPr lang="en-US" altLang="ko-KR" sz="3200" dirty="0">
                <a:latin typeface="Arial" panose="020B0604020202020204" pitchFamily="34" charset="0"/>
                <a:cs typeface="Arial" panose="020B0604020202020204" pitchFamily="34" charset="0"/>
              </a:rPr>
              <a:t>, S. A., Wei, B., So, A., &amp; Yong, W. H. (2019). An introduction to the performance of immunohistochemistry. </a:t>
            </a:r>
            <a:r>
              <a:rPr lang="en-US" altLang="ko-KR" sz="3200" i="1" dirty="0">
                <a:latin typeface="Arial" panose="020B0604020202020204" pitchFamily="34" charset="0"/>
                <a:cs typeface="Arial" panose="020B0604020202020204" pitchFamily="34" charset="0"/>
              </a:rPr>
              <a:t>Methods in Molecular Biology, 1897</a:t>
            </a:r>
            <a:r>
              <a:rPr lang="en-US" altLang="ko-KR" sz="3200" dirty="0">
                <a:latin typeface="Arial" panose="020B0604020202020204" pitchFamily="34" charset="0"/>
                <a:cs typeface="Arial" panose="020B0604020202020204" pitchFamily="34" charset="0"/>
              </a:rPr>
              <a:t>, 289–298. </a:t>
            </a:r>
            <a:r>
              <a:rPr lang="en-US" altLang="ko-KR" sz="3200" u="sng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https://doi.org/10.1007/978-1-4939-8935-5_25</a:t>
            </a:r>
            <a:endParaRPr lang="ko-KR" altLang="ko-K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1"/>
            <a:r>
              <a:rPr lang="en-US" altLang="ko-KR" sz="3200" dirty="0">
                <a:latin typeface="Arial" panose="020B0604020202020204" pitchFamily="34" charset="0"/>
                <a:cs typeface="Arial" panose="020B0604020202020204" pitchFamily="34" charset="0"/>
              </a:rPr>
              <a:t>Manoj, M. G., &amp; Shelly, D. (2016). Periodic acid Schiff’s: A definitive stain in histopathological diagnosis of </a:t>
            </a:r>
            <a:r>
              <a:rPr lang="en-US" altLang="ko-KR" sz="3200" dirty="0" err="1">
                <a:latin typeface="Arial" panose="020B0604020202020204" pitchFamily="34" charset="0"/>
                <a:cs typeface="Arial" panose="020B0604020202020204" pitchFamily="34" charset="0"/>
              </a:rPr>
              <a:t>cylindroma</a:t>
            </a:r>
            <a:r>
              <a:rPr lang="en-US" altLang="ko-KR" sz="3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ko-KR" sz="3200" i="1" dirty="0">
                <a:latin typeface="Arial" panose="020B0604020202020204" pitchFamily="34" charset="0"/>
                <a:cs typeface="Arial" panose="020B0604020202020204" pitchFamily="34" charset="0"/>
              </a:rPr>
              <a:t>Medical Journal Armed Forces India, 72</a:t>
            </a:r>
            <a:r>
              <a:rPr lang="en-US" altLang="ko-KR" sz="3200" dirty="0">
                <a:latin typeface="Arial" panose="020B0604020202020204" pitchFamily="34" charset="0"/>
                <a:cs typeface="Arial" panose="020B0604020202020204" pitchFamily="34" charset="0"/>
              </a:rPr>
              <a:t>(4), 404–406. </a:t>
            </a:r>
            <a:r>
              <a:rPr lang="en-US" altLang="ko-KR" sz="3200" u="sng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https://doi.org/10.1016/j.mjafi.2016.07.007</a:t>
            </a:r>
            <a:endParaRPr lang="ko-KR" altLang="ko-K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atinLnBrk="1"/>
            <a:r>
              <a:rPr lang="en-US" altLang="ko-KR" sz="3200" dirty="0">
                <a:latin typeface="Arial" panose="020B0604020202020204" pitchFamily="34" charset="0"/>
                <a:cs typeface="Arial" panose="020B0604020202020204" pitchFamily="34" charset="0"/>
              </a:rPr>
              <a:t>Zhu, J.-Y., Park, T., Isola, P., &amp; Efros, A. A. (2017). Unpaired image-to-image translation using cycle-consistent adversarial networks. In </a:t>
            </a:r>
            <a:r>
              <a:rPr lang="en-US" altLang="ko-KR" sz="3200" i="1" dirty="0">
                <a:latin typeface="Arial" panose="020B0604020202020204" pitchFamily="34" charset="0"/>
                <a:cs typeface="Arial" panose="020B0604020202020204" pitchFamily="34" charset="0"/>
              </a:rPr>
              <a:t>Proceedings of the IEEE International Conference on Computer Vision (ICCV)</a:t>
            </a:r>
            <a:r>
              <a:rPr lang="en-US" altLang="ko-KR" sz="3200" dirty="0">
                <a:latin typeface="Arial" panose="020B0604020202020204" pitchFamily="34" charset="0"/>
                <a:cs typeface="Arial" panose="020B0604020202020204" pitchFamily="34" charset="0"/>
              </a:rPr>
              <a:t> (pp. 2223–2232). </a:t>
            </a:r>
            <a:r>
              <a:rPr lang="en-US" altLang="ko-KR" sz="3200" u="sng" dirty="0"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https://doi.org/10.1109/ICCV.2017.244</a:t>
            </a:r>
            <a:endParaRPr lang="ko-KR" altLang="ko-K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E1321993-0ADE-A6B9-637E-7F568B325BA4}"/>
              </a:ext>
            </a:extLst>
          </p:cNvPr>
          <p:cNvSpPr txBox="1"/>
          <p:nvPr/>
        </p:nvSpPr>
        <p:spPr>
          <a:xfrm>
            <a:off x="1358900" y="1698524"/>
            <a:ext cx="19367500" cy="1231900"/>
          </a:xfrm>
          <a:prstGeom prst="rect">
            <a:avLst/>
          </a:prstGeom>
        </p:spPr>
        <p:txBody>
          <a:bodyPr lIns="0" tIns="74844" rIns="0" bIns="0" rtlCol="0" anchor="t"/>
          <a:lstStyle/>
          <a:p>
            <a:pPr lvl="0" algn="l">
              <a:lnSpc>
                <a:spcPct val="102089"/>
              </a:lnSpc>
            </a:pPr>
            <a:r>
              <a:rPr lang="en-US" sz="6933" b="1" dirty="0">
                <a:solidFill>
                  <a:srgbClr val="595959"/>
                </a:solidFill>
                <a:latin typeface="Arial" panose="020B0604020202020204" pitchFamily="34" charset="0"/>
                <a:ea typeface="Pretendard ExtraBold"/>
                <a:cs typeface="Arial" panose="020B0604020202020204" pitchFamily="34" charset="0"/>
              </a:rPr>
              <a:t>References</a:t>
            </a:r>
            <a:endParaRPr lang="en-US" sz="6933" b="1" i="0" strike="noStrike" dirty="0">
              <a:solidFill>
                <a:srgbClr val="0070C0"/>
              </a:solidFill>
              <a:latin typeface="Arial" panose="020B0604020202020204" pitchFamily="34" charset="0"/>
              <a:ea typeface="Pretendard ExtraBold"/>
              <a:cs typeface="Arial" panose="020B0604020202020204" pitchFamily="34" charset="0"/>
            </a:endParaRP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F6E441E7-F52B-B353-CC86-6E0546BC849C}"/>
              </a:ext>
            </a:extLst>
          </p:cNvPr>
          <p:cNvSpPr txBox="1"/>
          <p:nvPr/>
        </p:nvSpPr>
        <p:spPr>
          <a:xfrm>
            <a:off x="1371600" y="12827000"/>
            <a:ext cx="10160000" cy="469900"/>
          </a:xfrm>
          <a:prstGeom prst="rect">
            <a:avLst/>
          </a:prstGeom>
        </p:spPr>
        <p:txBody>
          <a:bodyPr lIns="0" tIns="3386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66" cap="all" dirty="0">
                <a:solidFill>
                  <a:srgbClr val="787878"/>
                </a:solidFill>
                <a:latin typeface="Arial" panose="020B0604020202020204" pitchFamily="34" charset="0"/>
                <a:ea typeface="Pretendard Regular"/>
                <a:cs typeface="Arial" panose="020B0604020202020204" pitchFamily="34" charset="0"/>
              </a:rPr>
              <a:t>Virtual staining for histology by deep learning </a:t>
            </a:r>
            <a:endParaRPr lang="en-US" sz="2666" b="0" i="0" u="none" strike="noStrike" cap="all" dirty="0">
              <a:solidFill>
                <a:srgbClr val="787878"/>
              </a:solidFill>
              <a:latin typeface="Arial" panose="020B0604020202020204" pitchFamily="34" charset="0"/>
              <a:ea typeface="Pretendard Regular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140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7397</TotalTime>
  <Words>1076</Words>
  <Application>Microsoft Office PowerPoint</Application>
  <PresentationFormat>사용자 지정</PresentationFormat>
  <Paragraphs>142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Jang Seo Eun</dc:creator>
  <cp:lastModifiedBy>Subin Hyun</cp:lastModifiedBy>
  <cp:revision>95</cp:revision>
  <dcterms:created xsi:type="dcterms:W3CDTF">2006-08-16T00:00:00Z</dcterms:created>
  <dcterms:modified xsi:type="dcterms:W3CDTF">2026-06-25T14:54:44Z</dcterms:modified>
</cp:coreProperties>
</file>