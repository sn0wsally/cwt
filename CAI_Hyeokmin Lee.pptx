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7" r:id="rId21"/>
    <p:sldId id="271" r:id="rId22"/>
    <p:sldId id="276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6F4BA-A918-4625-808C-E93D9E06E8FA}" v="30" dt="2026-06-21T12:28:37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0" autoAdjust="0"/>
  </p:normalViewPr>
  <p:slideViewPr>
    <p:cSldViewPr snapToGrid="0">
      <p:cViewPr varScale="1">
        <p:scale>
          <a:sx n="113" d="100"/>
          <a:sy n="113" d="100"/>
        </p:scale>
        <p:origin x="282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o Eun Lim" userId="8b06cba2-c532-4854-aaf5-1a65544c75ff" providerId="ADAL" clId="{1F34E83E-8F73-410B-B842-E26E12A8D28D}"/>
    <pc:docChg chg="undo custSel modSld sldOrd modMainMaster">
      <pc:chgData name="Hyo Eun Lim" userId="8b06cba2-c532-4854-aaf5-1a65544c75ff" providerId="ADAL" clId="{1F34E83E-8F73-410B-B842-E26E12A8D28D}" dt="2026-06-21T12:33:24.097" v="395" actId="1076"/>
      <pc:docMkLst>
        <pc:docMk/>
      </pc:docMkLst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56"/>
        </pc:sldMkLst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57"/>
        </pc:sldMkLst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58"/>
        </pc:sldMkLst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59"/>
        </pc:sldMkLst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60"/>
        </pc:sldMkLst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61"/>
        </pc:sldMkLst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62"/>
        </pc:sldMkLst>
      </pc:sldChg>
      <pc:sldChg chg="modNotes modNotesTx">
        <pc:chgData name="Hyo Eun Lim" userId="8b06cba2-c532-4854-aaf5-1a65544c75ff" providerId="ADAL" clId="{1F34E83E-8F73-410B-B842-E26E12A8D28D}" dt="2026-06-21T10:51:20.319" v="70"/>
        <pc:sldMkLst>
          <pc:docMk/>
          <pc:sldMk cId="0" sldId="263"/>
        </pc:sldMkLst>
      </pc:sldChg>
      <pc:sldChg chg="modNotes modNotesTx">
        <pc:chgData name="Hyo Eun Lim" userId="8b06cba2-c532-4854-aaf5-1a65544c75ff" providerId="ADAL" clId="{1F34E83E-8F73-410B-B842-E26E12A8D28D}" dt="2026-06-21T10:51:37.288" v="73" actId="20577"/>
        <pc:sldMkLst>
          <pc:docMk/>
          <pc:sldMk cId="0" sldId="264"/>
        </pc:sldMkLst>
      </pc:sldChg>
      <pc:sldChg chg="modNotes modNotesTx">
        <pc:chgData name="Hyo Eun Lim" userId="8b06cba2-c532-4854-aaf5-1a65544c75ff" providerId="ADAL" clId="{1F34E83E-8F73-410B-B842-E26E12A8D28D}" dt="2026-06-21T10:55:44.200" v="86" actId="20577"/>
        <pc:sldMkLst>
          <pc:docMk/>
          <pc:sldMk cId="0" sldId="265"/>
        </pc:sldMkLst>
      </pc:sldChg>
      <pc:sldChg chg="modNotes modNotesTx">
        <pc:chgData name="Hyo Eun Lim" userId="8b06cba2-c532-4854-aaf5-1a65544c75ff" providerId="ADAL" clId="{1F34E83E-8F73-410B-B842-E26E12A8D28D}" dt="2026-06-21T10:52:08.375" v="77" actId="20577"/>
        <pc:sldMkLst>
          <pc:docMk/>
          <pc:sldMk cId="0" sldId="266"/>
        </pc:sldMkLst>
      </pc:sldChg>
      <pc:sldChg chg="modSp mod modNotes">
        <pc:chgData name="Hyo Eun Lim" userId="8b06cba2-c532-4854-aaf5-1a65544c75ff" providerId="ADAL" clId="{1F34E83E-8F73-410B-B842-E26E12A8D28D}" dt="2026-06-21T10:45:37.659" v="18" actId="27636"/>
        <pc:sldMkLst>
          <pc:docMk/>
          <pc:sldMk cId="0" sldId="267"/>
        </pc:sldMkLst>
        <pc:spChg chg="mod">
          <ac:chgData name="Hyo Eun Lim" userId="8b06cba2-c532-4854-aaf5-1a65544c75ff" providerId="ADAL" clId="{1F34E83E-8F73-410B-B842-E26E12A8D28D}" dt="2026-06-21T10:45:37.659" v="18" actId="27636"/>
          <ac:spMkLst>
            <pc:docMk/>
            <pc:sldMk cId="0" sldId="267"/>
            <ac:spMk id="212" creationId="{00000000-0000-0000-0000-000000000000}"/>
          </ac:spMkLst>
        </pc:spChg>
      </pc:sldChg>
      <pc:sldChg chg="modSp mod modNotes">
        <pc:chgData name="Hyo Eun Lim" userId="8b06cba2-c532-4854-aaf5-1a65544c75ff" providerId="ADAL" clId="{1F34E83E-8F73-410B-B842-E26E12A8D28D}" dt="2026-06-21T10:45:37.673" v="19" actId="27636"/>
        <pc:sldMkLst>
          <pc:docMk/>
          <pc:sldMk cId="0" sldId="268"/>
        </pc:sldMkLst>
        <pc:spChg chg="mod">
          <ac:chgData name="Hyo Eun Lim" userId="8b06cba2-c532-4854-aaf5-1a65544c75ff" providerId="ADAL" clId="{1F34E83E-8F73-410B-B842-E26E12A8D28D}" dt="2026-06-21T10:45:37.673" v="19" actId="27636"/>
          <ac:spMkLst>
            <pc:docMk/>
            <pc:sldMk cId="0" sldId="268"/>
            <ac:spMk id="219" creationId="{00000000-0000-0000-0000-000000000000}"/>
          </ac:spMkLst>
        </pc:spChg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69"/>
        </pc:sldMkLst>
      </pc:sldChg>
      <pc:sldChg chg="modSp mod ord modNotes">
        <pc:chgData name="Hyo Eun Lim" userId="8b06cba2-c532-4854-aaf5-1a65544c75ff" providerId="ADAL" clId="{1F34E83E-8F73-410B-B842-E26E12A8D28D}" dt="2026-06-21T10:49:18.328" v="66"/>
        <pc:sldMkLst>
          <pc:docMk/>
          <pc:sldMk cId="0" sldId="270"/>
        </pc:sldMkLst>
        <pc:spChg chg="mod">
          <ac:chgData name="Hyo Eun Lim" userId="8b06cba2-c532-4854-aaf5-1a65544c75ff" providerId="ADAL" clId="{1F34E83E-8F73-410B-B842-E26E12A8D28D}" dt="2026-06-21T10:45:37.677" v="20" actId="27636"/>
          <ac:spMkLst>
            <pc:docMk/>
            <pc:sldMk cId="0" sldId="270"/>
            <ac:spMk id="251" creationId="{00000000-0000-0000-0000-000000000000}"/>
          </ac:spMkLst>
        </pc:spChg>
      </pc:sldChg>
      <pc:sldChg chg="modSp mod ord modNotes modNotesTx">
        <pc:chgData name="Hyo Eun Lim" userId="8b06cba2-c532-4854-aaf5-1a65544c75ff" providerId="ADAL" clId="{1F34E83E-8F73-410B-B842-E26E12A8D28D}" dt="2026-06-21T10:53:20.896" v="83"/>
        <pc:sldMkLst>
          <pc:docMk/>
          <pc:sldMk cId="0" sldId="271"/>
        </pc:sldMkLst>
        <pc:spChg chg="mod">
          <ac:chgData name="Hyo Eun Lim" userId="8b06cba2-c532-4854-aaf5-1a65544c75ff" providerId="ADAL" clId="{1F34E83E-8F73-410B-B842-E26E12A8D28D}" dt="2026-06-21T10:45:37.221" v="13" actId="20577"/>
          <ac:spMkLst>
            <pc:docMk/>
            <pc:sldMk cId="0" sldId="271"/>
            <ac:spMk id="2" creationId="{00E60066-0C05-840B-D4A4-A5B12E5C3013}"/>
          </ac:spMkLst>
        </pc:spChg>
        <pc:spChg chg="mod">
          <ac:chgData name="Hyo Eun Lim" userId="8b06cba2-c532-4854-aaf5-1a65544c75ff" providerId="ADAL" clId="{1F34E83E-8F73-410B-B842-E26E12A8D28D}" dt="2026-06-21T10:48:39.153" v="64" actId="1076"/>
          <ac:spMkLst>
            <pc:docMk/>
            <pc:sldMk cId="0" sldId="271"/>
            <ac:spMk id="259" creationId="{00000000-0000-0000-0000-000000000000}"/>
          </ac:spMkLst>
        </pc:spChg>
      </pc:sldChg>
      <pc:sldChg chg="modSp mod modNotes">
        <pc:chgData name="Hyo Eun Lim" userId="8b06cba2-c532-4854-aaf5-1a65544c75ff" providerId="ADAL" clId="{1F34E83E-8F73-410B-B842-E26E12A8D28D}" dt="2026-06-21T10:45:37.653" v="16" actId="27636"/>
        <pc:sldMkLst>
          <pc:docMk/>
          <pc:sldMk cId="0" sldId="272"/>
        </pc:sldMkLst>
        <pc:spChg chg="mod">
          <ac:chgData name="Hyo Eun Lim" userId="8b06cba2-c532-4854-aaf5-1a65544c75ff" providerId="ADAL" clId="{1F34E83E-8F73-410B-B842-E26E12A8D28D}" dt="2026-06-21T10:45:37.653" v="16" actId="27636"/>
          <ac:spMkLst>
            <pc:docMk/>
            <pc:sldMk cId="0" sldId="272"/>
            <ac:spMk id="266" creationId="{00000000-0000-0000-0000-000000000000}"/>
          </ac:spMkLst>
        </pc:spChg>
      </pc:sldChg>
      <pc:sldChg chg="modNotes">
        <pc:chgData name="Hyo Eun Lim" userId="8b06cba2-c532-4854-aaf5-1a65544c75ff" providerId="ADAL" clId="{1F34E83E-8F73-410B-B842-E26E12A8D28D}" dt="2026-06-21T10:45:37.638" v="15"/>
        <pc:sldMkLst>
          <pc:docMk/>
          <pc:sldMk cId="0" sldId="273"/>
        </pc:sldMkLst>
      </pc:sldChg>
      <pc:sldChg chg="modSp mod modNotes">
        <pc:chgData name="Hyo Eun Lim" userId="8b06cba2-c532-4854-aaf5-1a65544c75ff" providerId="ADAL" clId="{1F34E83E-8F73-410B-B842-E26E12A8D28D}" dt="2026-06-21T10:45:37.659" v="17" actId="27636"/>
        <pc:sldMkLst>
          <pc:docMk/>
          <pc:sldMk cId="0" sldId="274"/>
        </pc:sldMkLst>
        <pc:spChg chg="mod">
          <ac:chgData name="Hyo Eun Lim" userId="8b06cba2-c532-4854-aaf5-1a65544c75ff" providerId="ADAL" clId="{1F34E83E-8F73-410B-B842-E26E12A8D28D}" dt="2026-06-21T10:45:37.659" v="17" actId="27636"/>
          <ac:spMkLst>
            <pc:docMk/>
            <pc:sldMk cId="0" sldId="274"/>
            <ac:spMk id="285" creationId="{00000000-0000-0000-0000-000000000000}"/>
          </ac:spMkLst>
        </pc:spChg>
      </pc:sldChg>
      <pc:sldChg chg="modNotes modNotesTx">
        <pc:chgData name="Hyo Eun Lim" userId="8b06cba2-c532-4854-aaf5-1a65544c75ff" providerId="ADAL" clId="{1F34E83E-8F73-410B-B842-E26E12A8D28D}" dt="2026-06-21T10:49:43.947" v="69" actId="6549"/>
        <pc:sldMkLst>
          <pc:docMk/>
          <pc:sldMk cId="0" sldId="275"/>
        </pc:sldMkLst>
      </pc:sldChg>
      <pc:sldChg chg="modNotes modNotesTx">
        <pc:chgData name="Hyo Eun Lim" userId="8b06cba2-c532-4854-aaf5-1a65544c75ff" providerId="ADAL" clId="{1F34E83E-8F73-410B-B842-E26E12A8D28D}" dt="2026-06-21T10:49:40.022" v="68" actId="6549"/>
        <pc:sldMkLst>
          <pc:docMk/>
          <pc:sldMk cId="0" sldId="276"/>
        </pc:sldMkLst>
      </pc:sldChg>
      <pc:sldChg chg="addSp modSp mod ord modNotes modNotesTx">
        <pc:chgData name="Hyo Eun Lim" userId="8b06cba2-c532-4854-aaf5-1a65544c75ff" providerId="ADAL" clId="{1F34E83E-8F73-410B-B842-E26E12A8D28D}" dt="2026-06-21T12:33:24.097" v="395" actId="1076"/>
        <pc:sldMkLst>
          <pc:docMk/>
          <pc:sldMk cId="0" sldId="277"/>
        </pc:sldMkLst>
        <pc:spChg chg="add mod">
          <ac:chgData name="Hyo Eun Lim" userId="8b06cba2-c532-4854-aaf5-1a65544c75ff" providerId="ADAL" clId="{1F34E83E-8F73-410B-B842-E26E12A8D28D}" dt="2026-06-21T12:33:10.252" v="394" actId="1038"/>
          <ac:spMkLst>
            <pc:docMk/>
            <pc:sldMk cId="0" sldId="277"/>
            <ac:spMk id="5" creationId="{6F7FE457-C15D-79EE-1F09-658AECC6616C}"/>
          </ac:spMkLst>
        </pc:spChg>
        <pc:spChg chg="add mod">
          <ac:chgData name="Hyo Eun Lim" userId="8b06cba2-c532-4854-aaf5-1a65544c75ff" providerId="ADAL" clId="{1F34E83E-8F73-410B-B842-E26E12A8D28D}" dt="2026-06-21T12:33:10.252" v="394" actId="1038"/>
          <ac:spMkLst>
            <pc:docMk/>
            <pc:sldMk cId="0" sldId="277"/>
            <ac:spMk id="7" creationId="{4F23C1F9-3ECA-7EB1-1371-A3DD39C73E62}"/>
          </ac:spMkLst>
        </pc:spChg>
        <pc:graphicFrameChg chg="add mod modGraphic">
          <ac:chgData name="Hyo Eun Lim" userId="8b06cba2-c532-4854-aaf5-1a65544c75ff" providerId="ADAL" clId="{1F34E83E-8F73-410B-B842-E26E12A8D28D}" dt="2026-06-21T12:33:24.097" v="395" actId="1076"/>
          <ac:graphicFrameMkLst>
            <pc:docMk/>
            <pc:sldMk cId="0" sldId="277"/>
            <ac:graphicFrameMk id="4" creationId="{3003A18F-CE16-A818-E081-FF670138C805}"/>
          </ac:graphicFrameMkLst>
        </pc:graphicFrameChg>
        <pc:picChg chg="add mod">
          <ac:chgData name="Hyo Eun Lim" userId="8b06cba2-c532-4854-aaf5-1a65544c75ff" providerId="ADAL" clId="{1F34E83E-8F73-410B-B842-E26E12A8D28D}" dt="2026-06-21T12:33:10.252" v="394" actId="1038"/>
          <ac:picMkLst>
            <pc:docMk/>
            <pc:sldMk cId="0" sldId="277"/>
            <ac:picMk id="6" creationId="{BEEC0345-8203-D00F-DFFC-C321C4AF254B}"/>
          </ac:picMkLst>
        </pc:picChg>
        <pc:picChg chg="add mod">
          <ac:chgData name="Hyo Eun Lim" userId="8b06cba2-c532-4854-aaf5-1a65544c75ff" providerId="ADAL" clId="{1F34E83E-8F73-410B-B842-E26E12A8D28D}" dt="2026-06-21T12:28:59.234" v="370" actId="1076"/>
          <ac:picMkLst>
            <pc:docMk/>
            <pc:sldMk cId="0" sldId="277"/>
            <ac:picMk id="8" creationId="{D519D3DB-C936-160C-911A-E26DA1CF0691}"/>
          </ac:picMkLst>
        </pc:picChg>
      </pc:sldChg>
      <pc:sldMasterChg chg="modSldLayout">
        <pc:chgData name="Hyo Eun Lim" userId="8b06cba2-c532-4854-aaf5-1a65544c75ff" providerId="ADAL" clId="{1F34E83E-8F73-410B-B842-E26E12A8D28D}" dt="2026-06-21T10:47:06.282" v="23" actId="20577"/>
        <pc:sldMasterMkLst>
          <pc:docMk/>
          <pc:sldMasterMk cId="0" sldId="2147483659"/>
        </pc:sldMasterMkLst>
        <pc:sldLayoutChg chg="modSp mod">
          <pc:chgData name="Hyo Eun Lim" userId="8b06cba2-c532-4854-aaf5-1a65544c75ff" providerId="ADAL" clId="{1F34E83E-8F73-410B-B842-E26E12A8D28D}" dt="2026-06-21T10:47:06.282" v="23" actId="20577"/>
          <pc:sldLayoutMkLst>
            <pc:docMk/>
            <pc:sldMasterMk cId="0" sldId="2147483659"/>
            <pc:sldLayoutMk cId="0" sldId="2147483650"/>
          </pc:sldLayoutMkLst>
          <pc:spChg chg="mod">
            <ac:chgData name="Hyo Eun Lim" userId="8b06cba2-c532-4854-aaf5-1a65544c75ff" providerId="ADAL" clId="{1F34E83E-8F73-410B-B842-E26E12A8D28D}" dt="2026-06-21T10:47:06.282" v="23" actId="20577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127b46d0c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127b46d0c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127b46d0c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127b46d0c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127b46d0c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127b46d0c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13bc0dbe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13bc0dbe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127b46d0c_2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127b46d0c_2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127b46d0c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127b46d0c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127b46d0c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127b46d0c_2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0a775b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20a775b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174934cf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174934cf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174934c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174934cf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74934cf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174934cf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3bc0dbe0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13bc0dbe0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3bc0dbe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13bc0dbe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13bc0dbe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13bc0dbe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13bc0dbe0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13bc0dbe0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13bc0dbe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13bc0dbe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15c17227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15c17227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127b46d0c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127b46d0c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127b46d0c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127b46d0c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e1983126d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ee1983126d_2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13bc0dbe0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13bc0dbe0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e1983126d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e1983126d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/>
              <a:t>‹#›</a:t>
            </a:fld>
            <a:r>
              <a:rPr lang="en" dirty="0"/>
              <a:t>/22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watch?v=uTUVhsxdGS8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nap.stanford.edu/class/cs224w-2025/slides/01-intro.pdf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nap.stanford.edu/class/cs224w-2025/slides/01-intro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watch?v=uTUVhsxdGS8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watch?v=uTUVhsxdGS8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watch?v=uTUVhsxdGS8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forum?id=SJU4ayYg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review.net/forum?id=SJU4ayYg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nap.stanford.edu/class/cs224w-2019/slides/18-limitations.pdf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nap.stanford.edu/class/cs224w-2019/slides/18-limitations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nap.stanford.edu/class/cs224w-2019/slides/18-limitations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i.org/10.48550/arXiv.1710.10903" TargetMode="Externa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8550/arXiv.1805.10988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hyperlink" Target="https://doi.org/10.48550/arXiv.1710.10903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TUVhsxdGS8" TargetMode="External"/><Relationship Id="rId3" Type="http://schemas.openxmlformats.org/officeDocument/2006/relationships/hyperlink" Target="https://doi.org/10.1016/0893-6080(91)90009-T" TargetMode="External"/><Relationship Id="rId7" Type="http://schemas.openxmlformats.org/officeDocument/2006/relationships/hyperlink" Target="https://snap.stanford.edu/class/cs224w-2025/slides/01-intro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nap.stanford.edu/class/cs224w-2019/slides/18-limitations.pdf" TargetMode="External"/><Relationship Id="rId11" Type="http://schemas.openxmlformats.org/officeDocument/2006/relationships/hyperlink" Target="https://doi.org/10.48550/arXiv.1810.00826" TargetMode="External"/><Relationship Id="rId5" Type="http://schemas.openxmlformats.org/officeDocument/2006/relationships/hyperlink" Target="https://doi.org/10.48550/arXiv.1609.02907" TargetMode="External"/><Relationship Id="rId10" Type="http://schemas.openxmlformats.org/officeDocument/2006/relationships/hyperlink" Target="https://doi.org/10.48550/arXiv.1710.10903" TargetMode="External"/><Relationship Id="rId4" Type="http://schemas.openxmlformats.org/officeDocument/2006/relationships/hyperlink" Target="https://doi.org/10.1016/0893-6080(89)90020-8" TargetMode="External"/><Relationship Id="rId9" Type="http://schemas.openxmlformats.org/officeDocument/2006/relationships/hyperlink" Target="https://doi.org/10.48550/arXiv.1805.10988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openreview.net/forum?id=SJU4ayYgl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review.net/forum?id=ryGs6iA5K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hyperlink" Target="https://doi.org/10.48550/arXiv.1710.10903" TargetMode="External"/><Relationship Id="rId4" Type="http://schemas.openxmlformats.org/officeDocument/2006/relationships/hyperlink" Target="https://doi.org/10.48550/arXiv.1805.1098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2317672"/>
            <a:ext cx="9144000" cy="6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940"/>
              <a:buFont typeface="Arial"/>
              <a:buNone/>
            </a:pPr>
            <a:r>
              <a:rPr lang="en" sz="2680" b="1"/>
              <a:t>Graph Neural Networks</a:t>
            </a:r>
            <a:endParaRPr sz="268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36940"/>
              <a:buNone/>
            </a:pPr>
            <a:r>
              <a:rPr lang="en" sz="2680" b="1"/>
              <a:t>for Molecular Property Prediction</a:t>
            </a:r>
            <a:endParaRPr sz="2680"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2985942"/>
            <a:ext cx="91440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Hyeokmin Lee &amp; Hyoeun Lim</a:t>
            </a:r>
            <a:endParaRPr sz="1600"/>
          </a:p>
        </p:txBody>
      </p:sp>
      <p:cxnSp>
        <p:nvCxnSpPr>
          <p:cNvPr id="56" name="Google Shape;56;p13"/>
          <p:cNvCxnSpPr/>
          <p:nvPr/>
        </p:nvCxnSpPr>
        <p:spPr>
          <a:xfrm>
            <a:off x="1917018" y="2975385"/>
            <a:ext cx="547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A26699-F82D-DB5F-E2C4-DA3DDA1E96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graphs?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764599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775" y="1561042"/>
            <a:ext cx="4701525" cy="1703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980900" y="4881900"/>
            <a:ext cx="716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5"/>
              </a:rPr>
              <a:t>Ron &amp; Math, "Spectral Graph Theory For Dummies," YouTube (2024)</a:t>
            </a:r>
            <a:endParaRPr sz="500"/>
          </a:p>
        </p:txBody>
      </p:sp>
      <p:sp>
        <p:nvSpPr>
          <p:cNvPr id="65" name="Google Shape;65;p14"/>
          <p:cNvSpPr txBox="1"/>
          <p:nvPr/>
        </p:nvSpPr>
        <p:spPr>
          <a:xfrm>
            <a:off x="4227775" y="3264863"/>
            <a:ext cx="4579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700"/>
              <a:buChar char="●"/>
            </a:pPr>
            <a:r>
              <a:rPr lang="en" sz="1700">
                <a:solidFill>
                  <a:srgbClr val="202122"/>
                </a:solidFill>
              </a:rPr>
              <a:t>A graph is a set of vertices (V) and edges (E).</a:t>
            </a:r>
            <a:endParaRPr sz="1700">
              <a:solidFill>
                <a:srgbClr val="202122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700"/>
              <a:buChar char="●"/>
            </a:pPr>
            <a:r>
              <a:rPr lang="en" sz="1700">
                <a:solidFill>
                  <a:srgbClr val="202122"/>
                </a:solidFill>
              </a:rPr>
              <a:t>The relationship between vertices are represented by edges.</a:t>
            </a:r>
            <a:endParaRPr sz="1700">
              <a:solidFill>
                <a:srgbClr val="202122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37E2A8-C9A8-A15B-0944-6D79F1F7FD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graphs?</a:t>
            </a:r>
            <a:endParaRPr/>
          </a:p>
        </p:txBody>
      </p:sp>
      <p:grpSp>
        <p:nvGrpSpPr>
          <p:cNvPr id="71" name="Google Shape;71;p15"/>
          <p:cNvGrpSpPr/>
          <p:nvPr/>
        </p:nvGrpSpPr>
        <p:grpSpPr>
          <a:xfrm>
            <a:off x="1417480" y="1017725"/>
            <a:ext cx="6309046" cy="3884625"/>
            <a:chOff x="1368855" y="954075"/>
            <a:chExt cx="6309046" cy="3884625"/>
          </a:xfrm>
        </p:grpSpPr>
        <p:pic>
          <p:nvPicPr>
            <p:cNvPr id="72" name="Google Shape;72;p15"/>
            <p:cNvPicPr preferRelativeResize="0"/>
            <p:nvPr/>
          </p:nvPicPr>
          <p:blipFill rotWithShape="1">
            <a:blip r:embed="rId3">
              <a:alphaModFix/>
            </a:blip>
            <a:srcRect l="29023"/>
            <a:stretch/>
          </p:blipFill>
          <p:spPr>
            <a:xfrm>
              <a:off x="3269075" y="1017725"/>
              <a:ext cx="4408825" cy="3820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5"/>
            <p:cNvPicPr preferRelativeResize="0"/>
            <p:nvPr/>
          </p:nvPicPr>
          <p:blipFill rotWithShape="1">
            <a:blip r:embed="rId3">
              <a:alphaModFix/>
            </a:blip>
            <a:srcRect t="47534"/>
            <a:stretch/>
          </p:blipFill>
          <p:spPr>
            <a:xfrm>
              <a:off x="1466300" y="2833975"/>
              <a:ext cx="6211599" cy="2004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68855" y="954075"/>
              <a:ext cx="1900221" cy="1816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" name="Google Shape;75;p15"/>
          <p:cNvSpPr txBox="1"/>
          <p:nvPr/>
        </p:nvSpPr>
        <p:spPr>
          <a:xfrm>
            <a:off x="2537400" y="4881900"/>
            <a:ext cx="6606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5"/>
              </a:rPr>
              <a:t>Jure Leskovec, Stanford CS224W: Machine Learning with Graphs (Fall 2025)</a:t>
            </a:r>
            <a:endParaRPr sz="5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1834205-7593-CC1B-A311-26B9597D12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graphs?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700" y="1017725"/>
            <a:ext cx="636457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2537400" y="4881900"/>
            <a:ext cx="6606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4"/>
              </a:rPr>
              <a:t>Jure Leskovec, Stanford CS224W: Machine Learning with Graphs (Fall 2025)</a:t>
            </a:r>
            <a:endParaRPr sz="5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15F105-AACC-4AEB-4EE9-9A30E9B91B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graphs represented in discrete form?</a:t>
            </a:r>
            <a:endParaRPr/>
          </a:p>
        </p:txBody>
      </p:sp>
      <p:grpSp>
        <p:nvGrpSpPr>
          <p:cNvPr id="88" name="Google Shape;88;p17"/>
          <p:cNvGrpSpPr/>
          <p:nvPr/>
        </p:nvGrpSpPr>
        <p:grpSpPr>
          <a:xfrm>
            <a:off x="4475231" y="1017775"/>
            <a:ext cx="4019873" cy="3561913"/>
            <a:chOff x="152400" y="1170125"/>
            <a:chExt cx="4312243" cy="3820975"/>
          </a:xfrm>
        </p:grpSpPr>
        <p:pic>
          <p:nvPicPr>
            <p:cNvPr id="89" name="Google Shape;89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170125"/>
              <a:ext cx="4312243" cy="382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7"/>
            <p:cNvPicPr preferRelativeResize="0"/>
            <p:nvPr/>
          </p:nvPicPr>
          <p:blipFill rotWithShape="1">
            <a:blip r:embed="rId4">
              <a:alphaModFix/>
            </a:blip>
            <a:srcRect l="74546" t="30744" r="14739" b="6112"/>
            <a:stretch/>
          </p:blipFill>
          <p:spPr>
            <a:xfrm>
              <a:off x="3733125" y="2497226"/>
              <a:ext cx="391025" cy="2412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7"/>
            <p:cNvPicPr preferRelativeResize="0"/>
            <p:nvPr/>
          </p:nvPicPr>
          <p:blipFill rotWithShape="1">
            <a:blip r:embed="rId4">
              <a:alphaModFix/>
            </a:blip>
            <a:srcRect l="9652" t="27488" r="81007" b="6115"/>
            <a:stretch/>
          </p:blipFill>
          <p:spPr>
            <a:xfrm>
              <a:off x="825500" y="2372900"/>
              <a:ext cx="340901" cy="25369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017725"/>
            <a:ext cx="376459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5647875" y="4510875"/>
            <a:ext cx="199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Feature matrix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980900" y="4881900"/>
            <a:ext cx="716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6"/>
              </a:rPr>
              <a:t>Ron &amp; Math, "Spectral Graph Theory For Dummies," YouTube (2024)</a:t>
            </a:r>
            <a:endParaRPr sz="5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35C6BE-656B-B7E1-6EA2-58F60F3ADF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graphs represented in discrete form?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764599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017725"/>
            <a:ext cx="364942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5301525" y="4528225"/>
            <a:ext cx="199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Adjacency matrix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1980900" y="4881900"/>
            <a:ext cx="716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5"/>
              </a:rPr>
              <a:t>Ron &amp; Math, "Spectral Graph Theory For Dummies," YouTube (2024)</a:t>
            </a:r>
            <a:endParaRPr sz="5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A0AD8C2-02AF-BE30-7A08-0B86EA12C3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graphs represented in discrete form?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17725"/>
            <a:ext cx="362238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376459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5301525" y="4528225"/>
            <a:ext cx="199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Degree matrix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1980900" y="4881900"/>
            <a:ext cx="716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5"/>
              </a:rPr>
              <a:t>Ron &amp; Math, "Spectral Graph Theory For Dummies," YouTube (2024)</a:t>
            </a:r>
            <a:endParaRPr sz="5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4EE98E-812F-D6D9-2AA2-A6C8EF31E1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311700" y="35743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E293B"/>
                </a:solidFill>
              </a:rPr>
              <a:t>Pipeline</a:t>
            </a:r>
            <a:endParaRPr sz="2400"/>
          </a:p>
        </p:txBody>
      </p:sp>
      <p:sp>
        <p:nvSpPr>
          <p:cNvPr id="118" name="Google Shape;118;p20"/>
          <p:cNvSpPr/>
          <p:nvPr/>
        </p:nvSpPr>
        <p:spPr>
          <a:xfrm>
            <a:off x="421591" y="1818850"/>
            <a:ext cx="1136700" cy="9540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11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575" tIns="112575" rIns="112575" bIns="112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4"/>
              <a:t>SMILES string</a:t>
            </a:r>
            <a:endParaRPr sz="1724"/>
          </a:p>
        </p:txBody>
      </p:sp>
      <p:sp>
        <p:nvSpPr>
          <p:cNvPr id="119" name="Google Shape;119;p20"/>
          <p:cNvSpPr/>
          <p:nvPr/>
        </p:nvSpPr>
        <p:spPr>
          <a:xfrm>
            <a:off x="2085025" y="1818850"/>
            <a:ext cx="1136700" cy="9540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11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575" tIns="112575" rIns="112575" bIns="112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4"/>
              <a:t>RDkit</a:t>
            </a:r>
            <a:endParaRPr sz="172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4"/>
              <a:t>passing</a:t>
            </a:r>
            <a:endParaRPr sz="1724"/>
          </a:p>
        </p:txBody>
      </p:sp>
      <p:sp>
        <p:nvSpPr>
          <p:cNvPr id="120" name="Google Shape;120;p20"/>
          <p:cNvSpPr/>
          <p:nvPr/>
        </p:nvSpPr>
        <p:spPr>
          <a:xfrm>
            <a:off x="3764070" y="1800843"/>
            <a:ext cx="1179900" cy="9900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12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825" tIns="116825" rIns="116825" bIns="116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89"/>
              <a:t>GCN layers</a:t>
            </a:r>
            <a:endParaRPr sz="1789"/>
          </a:p>
        </p:txBody>
      </p:sp>
      <p:sp>
        <p:nvSpPr>
          <p:cNvPr id="121" name="Google Shape;121;p20"/>
          <p:cNvSpPr/>
          <p:nvPr/>
        </p:nvSpPr>
        <p:spPr>
          <a:xfrm>
            <a:off x="5447599" y="1800843"/>
            <a:ext cx="1332600" cy="9900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12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825" tIns="116825" rIns="116825" bIns="116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89"/>
              <a:t>Readout &amp; MLP</a:t>
            </a:r>
            <a:endParaRPr sz="1789"/>
          </a:p>
        </p:txBody>
      </p:sp>
      <p:sp>
        <p:nvSpPr>
          <p:cNvPr id="122" name="Google Shape;122;p20"/>
          <p:cNvSpPr/>
          <p:nvPr/>
        </p:nvSpPr>
        <p:spPr>
          <a:xfrm>
            <a:off x="7283736" y="1800843"/>
            <a:ext cx="1332600" cy="99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825" tIns="116825" rIns="116825" bIns="116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89"/>
              <a:t>Predicted property</a:t>
            </a:r>
            <a:endParaRPr sz="1789"/>
          </a:p>
        </p:txBody>
      </p:sp>
      <p:sp>
        <p:nvSpPr>
          <p:cNvPr id="123" name="Google Shape;123;p20"/>
          <p:cNvSpPr/>
          <p:nvPr/>
        </p:nvSpPr>
        <p:spPr>
          <a:xfrm>
            <a:off x="1681422" y="2098484"/>
            <a:ext cx="280200" cy="394500"/>
          </a:xfrm>
          <a:prstGeom prst="rightArrow">
            <a:avLst>
              <a:gd name="adj1" fmla="val 50000"/>
              <a:gd name="adj2" fmla="val 54908"/>
            </a:avLst>
          </a:prstGeom>
          <a:solidFill>
            <a:schemeClr val="dk2"/>
          </a:solidFill>
          <a:ln w="11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575" tIns="112575" rIns="112575" bIns="112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24"/>
          </a:p>
        </p:txBody>
      </p:sp>
      <p:sp>
        <p:nvSpPr>
          <p:cNvPr id="124" name="Google Shape;124;p20"/>
          <p:cNvSpPr/>
          <p:nvPr/>
        </p:nvSpPr>
        <p:spPr>
          <a:xfrm>
            <a:off x="3345128" y="2091105"/>
            <a:ext cx="291000" cy="409500"/>
          </a:xfrm>
          <a:prstGeom prst="rightArrow">
            <a:avLst>
              <a:gd name="adj1" fmla="val 50000"/>
              <a:gd name="adj2" fmla="val 54908"/>
            </a:avLst>
          </a:prstGeom>
          <a:solidFill>
            <a:schemeClr val="dk2"/>
          </a:solidFill>
          <a:ln w="12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825" tIns="116825" rIns="116825" bIns="116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9"/>
          </a:p>
        </p:txBody>
      </p:sp>
      <p:sp>
        <p:nvSpPr>
          <p:cNvPr id="125" name="Google Shape;125;p20"/>
          <p:cNvSpPr/>
          <p:nvPr/>
        </p:nvSpPr>
        <p:spPr>
          <a:xfrm>
            <a:off x="5050210" y="2091105"/>
            <a:ext cx="291000" cy="409500"/>
          </a:xfrm>
          <a:prstGeom prst="rightArrow">
            <a:avLst>
              <a:gd name="adj1" fmla="val 50000"/>
              <a:gd name="adj2" fmla="val 54908"/>
            </a:avLst>
          </a:prstGeom>
          <a:solidFill>
            <a:schemeClr val="dk2"/>
          </a:solidFill>
          <a:ln w="12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825" tIns="116825" rIns="116825" bIns="116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9"/>
          </a:p>
        </p:txBody>
      </p:sp>
      <p:sp>
        <p:nvSpPr>
          <p:cNvPr id="126" name="Google Shape;126;p20"/>
          <p:cNvSpPr/>
          <p:nvPr/>
        </p:nvSpPr>
        <p:spPr>
          <a:xfrm>
            <a:off x="6907914" y="2091105"/>
            <a:ext cx="291000" cy="409500"/>
          </a:xfrm>
          <a:prstGeom prst="rightArrow">
            <a:avLst>
              <a:gd name="adj1" fmla="val 50000"/>
              <a:gd name="adj2" fmla="val 54908"/>
            </a:avLst>
          </a:prstGeom>
          <a:solidFill>
            <a:schemeClr val="dk2"/>
          </a:solidFill>
          <a:ln w="12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6825" tIns="116825" rIns="116825" bIns="1168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9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0D90D3-C860-272D-06E9-5EA3FB2C8F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SMILES to a Molecular Graph</a:t>
            </a:r>
            <a:endParaRPr/>
          </a:p>
        </p:txBody>
      </p:sp>
      <p:pic>
        <p:nvPicPr>
          <p:cNvPr id="132" name="Google Shape;132;p21" title="stru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192" y="1854688"/>
            <a:ext cx="2190420" cy="164474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3690162" y="1521633"/>
            <a:ext cx="24396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925" tIns="79925" rIns="79925" bIns="79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&lt;Molecular Structure&gt;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311700" y="1521633"/>
            <a:ext cx="2790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&lt;SMILES&gt;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3909" y="1771137"/>
            <a:ext cx="2367820" cy="181184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/>
        </p:nvSpPr>
        <p:spPr>
          <a:xfrm>
            <a:off x="6418094" y="1521633"/>
            <a:ext cx="24396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925" tIns="79925" rIns="79925" bIns="79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&lt;Molecular Graph&gt;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015" y="1922001"/>
            <a:ext cx="30438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723151" y="4118125"/>
            <a:ext cx="7697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D9488"/>
                </a:solidFill>
              </a:rPr>
              <a:t>Parse  ➡  Featurize  ➡  Build the graph  (G = (V, E))</a:t>
            </a:r>
            <a:endParaRPr sz="2400" b="1">
              <a:solidFill>
                <a:srgbClr val="0D9488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415998" y="184825"/>
            <a:ext cx="2790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D9488"/>
                </a:solidFill>
              </a:rPr>
              <a:t>STEP 1 · CONVERSION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6169443" y="2479817"/>
            <a:ext cx="280200" cy="394500"/>
          </a:xfrm>
          <a:prstGeom prst="rightArrow">
            <a:avLst>
              <a:gd name="adj1" fmla="val 50000"/>
              <a:gd name="adj2" fmla="val 54908"/>
            </a:avLst>
          </a:prstGeom>
          <a:solidFill>
            <a:schemeClr val="dk2"/>
          </a:solidFill>
          <a:ln w="11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2575" tIns="112575" rIns="112575" bIns="112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24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9437FD-E4F1-3B5E-BC15-52B10ED00B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93B"/>
                </a:solidFill>
              </a:rPr>
              <a:t>How a Graph Convolution Layer Works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416000" y="3588175"/>
            <a:ext cx="3186600" cy="6660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rgbClr val="1E293B"/>
                </a:solidFill>
              </a:rPr>
              <a:t>Atom v aggregates messages </a:t>
            </a:r>
            <a:endParaRPr sz="1250" b="1">
              <a:solidFill>
                <a:srgbClr val="1E293B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>
                <a:solidFill>
                  <a:srgbClr val="1E293B"/>
                </a:solidFill>
              </a:rPr>
              <a:t>from its bonded neighbors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415998" y="184825"/>
            <a:ext cx="2790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D9488"/>
                </a:solidFill>
              </a:rPr>
              <a:t>STEP 2 · THE GCN LAYER</a:t>
            </a:r>
            <a:endParaRPr sz="1200" b="1">
              <a:solidFill>
                <a:srgbClr val="0D9488"/>
              </a:solidFill>
            </a:endParaRPr>
          </a:p>
        </p:txBody>
      </p:sp>
      <p:grpSp>
        <p:nvGrpSpPr>
          <p:cNvPr id="148" name="Google Shape;148;p22"/>
          <p:cNvGrpSpPr/>
          <p:nvPr/>
        </p:nvGrpSpPr>
        <p:grpSpPr>
          <a:xfrm>
            <a:off x="240342" y="1579833"/>
            <a:ext cx="7724327" cy="1380620"/>
            <a:chOff x="240342" y="1579833"/>
            <a:chExt cx="7724327" cy="1380620"/>
          </a:xfrm>
        </p:grpSpPr>
        <p:grpSp>
          <p:nvGrpSpPr>
            <p:cNvPr id="149" name="Google Shape;149;p22"/>
            <p:cNvGrpSpPr/>
            <p:nvPr/>
          </p:nvGrpSpPr>
          <p:grpSpPr>
            <a:xfrm>
              <a:off x="240342" y="1644665"/>
              <a:ext cx="1991400" cy="1230273"/>
              <a:chOff x="4639985" y="1644665"/>
              <a:chExt cx="1991400" cy="1230273"/>
            </a:xfrm>
          </p:grpSpPr>
          <p:sp>
            <p:nvSpPr>
              <p:cNvPr id="150" name="Google Shape;150;p22"/>
              <p:cNvSpPr/>
              <p:nvPr/>
            </p:nvSpPr>
            <p:spPr>
              <a:xfrm>
                <a:off x="5165628" y="2076453"/>
                <a:ext cx="940170" cy="798485"/>
              </a:xfrm>
              <a:prstGeom prst="rect">
                <a:avLst/>
              </a:prstGeom>
              <a:solidFill>
                <a:srgbClr val="F4CCCC"/>
              </a:solidFill>
              <a:ln w="89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5475" tIns="85475" rIns="85475" bIns="854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9"/>
              </a:p>
            </p:txBody>
          </p:sp>
          <p:sp>
            <p:nvSpPr>
              <p:cNvPr id="151" name="Google Shape;151;p22"/>
              <p:cNvSpPr txBox="1"/>
              <p:nvPr/>
            </p:nvSpPr>
            <p:spPr>
              <a:xfrm>
                <a:off x="4639985" y="1644665"/>
                <a:ext cx="1991400" cy="4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5475" tIns="85475" rIns="85475" bIns="8547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83">
                    <a:solidFill>
                      <a:schemeClr val="dk2"/>
                    </a:solidFill>
                  </a:rPr>
                  <a:t>Adjacency matrix</a:t>
                </a:r>
                <a:endParaRPr sz="1683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52" name="Google Shape;152;p22"/>
            <p:cNvGrpSpPr/>
            <p:nvPr/>
          </p:nvGrpSpPr>
          <p:grpSpPr>
            <a:xfrm>
              <a:off x="2080644" y="1579833"/>
              <a:ext cx="4214584" cy="1380620"/>
              <a:chOff x="311715" y="1579833"/>
              <a:chExt cx="4214584" cy="1380620"/>
            </a:xfrm>
          </p:grpSpPr>
          <p:grpSp>
            <p:nvGrpSpPr>
              <p:cNvPr id="153" name="Google Shape;153;p22"/>
              <p:cNvGrpSpPr/>
              <p:nvPr/>
            </p:nvGrpSpPr>
            <p:grpSpPr>
              <a:xfrm>
                <a:off x="311715" y="1579833"/>
                <a:ext cx="1796893" cy="1279606"/>
                <a:chOff x="-347468" y="1987405"/>
                <a:chExt cx="1921400" cy="1368270"/>
              </a:xfrm>
            </p:grpSpPr>
            <p:sp>
              <p:nvSpPr>
                <p:cNvPr id="154" name="Google Shape;154;p22"/>
                <p:cNvSpPr/>
                <p:nvPr/>
              </p:nvSpPr>
              <p:spPr>
                <a:xfrm rot="5400000">
                  <a:off x="740686" y="2188475"/>
                  <a:ext cx="656400" cy="981600"/>
                </a:xfrm>
                <a:prstGeom prst="bracePair">
                  <a:avLst/>
                </a:prstGeom>
                <a:noFill/>
                <a:ln w="89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5475" tIns="85475" rIns="85475" bIns="8547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309"/>
                </a:p>
              </p:txBody>
            </p:sp>
            <p:sp>
              <p:nvSpPr>
                <p:cNvPr id="155" name="Google Shape;155;p22"/>
                <p:cNvSpPr/>
                <p:nvPr/>
              </p:nvSpPr>
              <p:spPr>
                <a:xfrm>
                  <a:off x="411275" y="2534575"/>
                  <a:ext cx="601200" cy="821100"/>
                </a:xfrm>
                <a:prstGeom prst="bracePair">
                  <a:avLst/>
                </a:prstGeom>
                <a:noFill/>
                <a:ln w="89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5475" tIns="85475" rIns="85475" bIns="8547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309"/>
                </a:p>
              </p:txBody>
            </p:sp>
            <p:sp>
              <p:nvSpPr>
                <p:cNvPr id="156" name="Google Shape;156;p22"/>
                <p:cNvSpPr/>
                <p:nvPr/>
              </p:nvSpPr>
              <p:spPr>
                <a:xfrm>
                  <a:off x="564550" y="2501725"/>
                  <a:ext cx="1005300" cy="853800"/>
                </a:xfrm>
                <a:prstGeom prst="rect">
                  <a:avLst/>
                </a:prstGeom>
                <a:solidFill>
                  <a:srgbClr val="D0E0E3"/>
                </a:solidFill>
                <a:ln w="89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5475" tIns="85475" rIns="85475" bIns="8547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309"/>
                    <a:t>H</a:t>
                  </a:r>
                  <a:r>
                    <a:rPr lang="en" sz="1309" baseline="-25000"/>
                    <a:t>l</a:t>
                  </a:r>
                  <a:endParaRPr sz="1309" baseline="-25000"/>
                </a:p>
              </p:txBody>
            </p:sp>
            <p:sp>
              <p:nvSpPr>
                <p:cNvPr id="157" name="Google Shape;157;p22"/>
                <p:cNvSpPr txBox="1"/>
                <p:nvPr/>
              </p:nvSpPr>
              <p:spPr>
                <a:xfrm>
                  <a:off x="540432" y="1987405"/>
                  <a:ext cx="1033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5475" tIns="85475" rIns="85475" bIns="8547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83">
                      <a:solidFill>
                        <a:schemeClr val="dk2"/>
                      </a:solidFill>
                    </a:rPr>
                    <a:t>features</a:t>
                  </a:r>
                  <a:endParaRPr sz="1683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58" name="Google Shape;158;p22"/>
                <p:cNvSpPr txBox="1"/>
                <p:nvPr/>
              </p:nvSpPr>
              <p:spPr>
                <a:xfrm>
                  <a:off x="-347468" y="2665276"/>
                  <a:ext cx="1033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5475" tIns="85475" rIns="85475" bIns="8547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83">
                      <a:solidFill>
                        <a:schemeClr val="dk2"/>
                      </a:solidFill>
                    </a:rPr>
                    <a:t>atoms</a:t>
                  </a:r>
                  <a:endParaRPr sz="1683">
                    <a:solidFill>
                      <a:schemeClr val="dk2"/>
                    </a:solidFill>
                  </a:endParaRPr>
                </a:p>
              </p:txBody>
            </p:sp>
          </p:grpSp>
          <p:grpSp>
            <p:nvGrpSpPr>
              <p:cNvPr id="159" name="Google Shape;159;p22"/>
              <p:cNvGrpSpPr/>
              <p:nvPr/>
            </p:nvGrpSpPr>
            <p:grpSpPr>
              <a:xfrm>
                <a:off x="2590549" y="1596315"/>
                <a:ext cx="1935750" cy="1364138"/>
                <a:chOff x="1858708" y="2112780"/>
                <a:chExt cx="2069848" cy="1458638"/>
              </a:xfrm>
            </p:grpSpPr>
            <p:sp>
              <p:nvSpPr>
                <p:cNvPr id="160" name="Google Shape;160;p22"/>
                <p:cNvSpPr/>
                <p:nvPr/>
              </p:nvSpPr>
              <p:spPr>
                <a:xfrm rot="5400000">
                  <a:off x="3095311" y="2313850"/>
                  <a:ext cx="656400" cy="981600"/>
                </a:xfrm>
                <a:prstGeom prst="bracePair">
                  <a:avLst/>
                </a:prstGeom>
                <a:noFill/>
                <a:ln w="89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5475" tIns="85475" rIns="85475" bIns="8547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309"/>
                </a:p>
              </p:txBody>
            </p:sp>
            <p:sp>
              <p:nvSpPr>
                <p:cNvPr id="161" name="Google Shape;161;p22"/>
                <p:cNvSpPr/>
                <p:nvPr/>
              </p:nvSpPr>
              <p:spPr>
                <a:xfrm>
                  <a:off x="2765900" y="2659950"/>
                  <a:ext cx="601200" cy="821100"/>
                </a:xfrm>
                <a:prstGeom prst="bracePair">
                  <a:avLst/>
                </a:prstGeom>
                <a:noFill/>
                <a:ln w="89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5475" tIns="85475" rIns="85475" bIns="8547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309"/>
                </a:p>
              </p:txBody>
            </p:sp>
            <p:sp>
              <p:nvSpPr>
                <p:cNvPr id="162" name="Google Shape;162;p22"/>
                <p:cNvSpPr/>
                <p:nvPr/>
              </p:nvSpPr>
              <p:spPr>
                <a:xfrm>
                  <a:off x="2919175" y="2627100"/>
                  <a:ext cx="1005300" cy="853800"/>
                </a:xfrm>
                <a:prstGeom prst="rect">
                  <a:avLst/>
                </a:prstGeom>
                <a:solidFill>
                  <a:srgbClr val="FFF2CC"/>
                </a:solidFill>
                <a:ln w="8900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85475" tIns="85475" rIns="85475" bIns="8547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309"/>
                </a:p>
              </p:txBody>
            </p:sp>
            <p:sp>
              <p:nvSpPr>
                <p:cNvPr id="163" name="Google Shape;163;p22"/>
                <p:cNvSpPr txBox="1"/>
                <p:nvPr/>
              </p:nvSpPr>
              <p:spPr>
                <a:xfrm>
                  <a:off x="2895057" y="2112780"/>
                  <a:ext cx="1033500" cy="461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5475" tIns="85475" rIns="85475" bIns="8547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83">
                      <a:solidFill>
                        <a:schemeClr val="dk2"/>
                      </a:solidFill>
                    </a:rPr>
                    <a:t>Weight</a:t>
                  </a:r>
                  <a:endParaRPr sz="1683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64" name="Google Shape;164;p22"/>
                <p:cNvSpPr txBox="1"/>
                <p:nvPr/>
              </p:nvSpPr>
              <p:spPr>
                <a:xfrm>
                  <a:off x="1858708" y="2555618"/>
                  <a:ext cx="1033500" cy="101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85475" tIns="85475" rIns="85475" bIns="8547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683">
                      <a:solidFill>
                        <a:schemeClr val="dk2"/>
                      </a:solidFill>
                    </a:rPr>
                    <a:t>Number of features</a:t>
                  </a:r>
                  <a:endParaRPr sz="1683">
                    <a:solidFill>
                      <a:schemeClr val="dk2"/>
                    </a:solidFill>
                  </a:endParaRPr>
                </a:p>
              </p:txBody>
            </p:sp>
          </p:grpSp>
          <p:sp>
            <p:nvSpPr>
              <p:cNvPr id="165" name="Google Shape;165;p22"/>
              <p:cNvSpPr/>
              <p:nvPr/>
            </p:nvSpPr>
            <p:spPr>
              <a:xfrm>
                <a:off x="2265646" y="2345622"/>
                <a:ext cx="274206" cy="257044"/>
              </a:xfrm>
              <a:prstGeom prst="mathMultiply">
                <a:avLst>
                  <a:gd name="adj1" fmla="val 23520"/>
                </a:avLst>
              </a:prstGeom>
              <a:solidFill>
                <a:schemeClr val="dk2"/>
              </a:solidFill>
              <a:ln w="89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5475" tIns="85475" rIns="85475" bIns="854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9"/>
              </a:p>
            </p:txBody>
          </p:sp>
        </p:grpSp>
        <p:sp>
          <p:nvSpPr>
            <p:cNvPr id="166" name="Google Shape;166;p22"/>
            <p:cNvSpPr/>
            <p:nvPr/>
          </p:nvSpPr>
          <p:spPr>
            <a:xfrm>
              <a:off x="1798756" y="2317460"/>
              <a:ext cx="274200" cy="257100"/>
            </a:xfrm>
            <a:prstGeom prst="mathMultiply">
              <a:avLst>
                <a:gd name="adj1" fmla="val 23520"/>
              </a:avLst>
            </a:prstGeom>
            <a:solidFill>
              <a:schemeClr val="dk2"/>
            </a:solidFill>
            <a:ln w="89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5475" tIns="85475" rIns="85475" bIns="854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9"/>
            </a:p>
          </p:txBody>
        </p:sp>
        <p:grpSp>
          <p:nvGrpSpPr>
            <p:cNvPr id="167" name="Google Shape;167;p22"/>
            <p:cNvGrpSpPr/>
            <p:nvPr/>
          </p:nvGrpSpPr>
          <p:grpSpPr>
            <a:xfrm>
              <a:off x="6499455" y="2053705"/>
              <a:ext cx="1465213" cy="798368"/>
              <a:chOff x="627500" y="3093745"/>
              <a:chExt cx="1323589" cy="721200"/>
            </a:xfrm>
          </p:grpSpPr>
          <p:sp>
            <p:nvSpPr>
              <p:cNvPr id="168" name="Google Shape;168;p22"/>
              <p:cNvSpPr/>
              <p:nvPr/>
            </p:nvSpPr>
            <p:spPr>
              <a:xfrm>
                <a:off x="1101789" y="3093745"/>
                <a:ext cx="849300" cy="721200"/>
              </a:xfrm>
              <a:prstGeom prst="rect">
                <a:avLst/>
              </a:prstGeom>
              <a:solidFill>
                <a:srgbClr val="D0E0E3"/>
              </a:solidFill>
              <a:ln w="89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85475" tIns="85475" rIns="85475" bIns="8547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9"/>
                  <a:t>Next layer (H</a:t>
                </a:r>
                <a:r>
                  <a:rPr lang="en" sz="1309" baseline="-25000"/>
                  <a:t>l+1</a:t>
                </a:r>
                <a:r>
                  <a:rPr lang="en" sz="1309"/>
                  <a:t>)</a:t>
                </a:r>
                <a:endParaRPr sz="1309" baseline="-25000"/>
              </a:p>
            </p:txBody>
          </p:sp>
          <p:sp>
            <p:nvSpPr>
              <p:cNvPr id="169" name="Google Shape;169;p22"/>
              <p:cNvSpPr/>
              <p:nvPr/>
            </p:nvSpPr>
            <p:spPr>
              <a:xfrm>
                <a:off x="627500" y="3328950"/>
                <a:ext cx="280800" cy="250800"/>
              </a:xfrm>
              <a:prstGeom prst="mathEqual">
                <a:avLst>
                  <a:gd name="adj1" fmla="val 23520"/>
                  <a:gd name="adj2" fmla="val 11760"/>
                </a:avLst>
              </a:prstGeom>
              <a:solidFill>
                <a:schemeClr val="dk2"/>
              </a:solidFill>
              <a:ln w="105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01200" tIns="101200" rIns="101200" bIns="10120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50"/>
              </a:p>
            </p:txBody>
          </p:sp>
        </p:grpSp>
      </p:grpSp>
      <p:sp>
        <p:nvSpPr>
          <p:cNvPr id="170" name="Google Shape;170;p22"/>
          <p:cNvSpPr txBox="1"/>
          <p:nvPr/>
        </p:nvSpPr>
        <p:spPr>
          <a:xfrm>
            <a:off x="311700" y="1225038"/>
            <a:ext cx="382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0D9488"/>
                </a:solidFill>
              </a:rPr>
              <a:t>Layer-wise propagation rule</a:t>
            </a:r>
            <a:endParaRPr sz="1800" b="1">
              <a:solidFill>
                <a:schemeClr val="dk2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0" y="488190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3"/>
              </a:rPr>
              <a:t>Kipf &amp; Welling, "Semi-Supervised Classification with Graph Convolutional Networks", ICLR 2017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4664250" y="3799850"/>
            <a:ext cx="548700" cy="5727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 baseline="-25000"/>
              <a:t>v</a:t>
            </a:r>
            <a:endParaRPr baseline="-25000"/>
          </a:p>
        </p:txBody>
      </p:sp>
      <p:sp>
        <p:nvSpPr>
          <p:cNvPr id="173" name="Google Shape;173;p22"/>
          <p:cNvSpPr/>
          <p:nvPr/>
        </p:nvSpPr>
        <p:spPr>
          <a:xfrm>
            <a:off x="4044288" y="3178375"/>
            <a:ext cx="458400" cy="461700"/>
          </a:xfrm>
          <a:prstGeom prst="ellipse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</a:t>
            </a:r>
            <a:r>
              <a:rPr lang="en" sz="1200" baseline="-25000"/>
              <a:t>6</a:t>
            </a:r>
            <a:endParaRPr sz="1200" baseline="-25000"/>
          </a:p>
        </p:txBody>
      </p:sp>
      <p:cxnSp>
        <p:nvCxnSpPr>
          <p:cNvPr id="174" name="Google Shape;174;p22"/>
          <p:cNvCxnSpPr>
            <a:stCxn id="173" idx="5"/>
            <a:endCxn id="172" idx="1"/>
          </p:cNvCxnSpPr>
          <p:nvPr/>
        </p:nvCxnSpPr>
        <p:spPr>
          <a:xfrm>
            <a:off x="4435556" y="3572461"/>
            <a:ext cx="309000" cy="31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" name="Google Shape;175;p22"/>
          <p:cNvSpPr/>
          <p:nvPr/>
        </p:nvSpPr>
        <p:spPr>
          <a:xfrm>
            <a:off x="5293038" y="3271775"/>
            <a:ext cx="458400" cy="4617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</a:t>
            </a:r>
            <a:r>
              <a:rPr lang="en" sz="1200" baseline="-25000"/>
              <a:t>2</a:t>
            </a:r>
            <a:endParaRPr sz="1200" baseline="-25000"/>
          </a:p>
        </p:txBody>
      </p:sp>
      <p:cxnSp>
        <p:nvCxnSpPr>
          <p:cNvPr id="176" name="Google Shape;176;p22"/>
          <p:cNvCxnSpPr>
            <a:stCxn id="175" idx="3"/>
            <a:endCxn id="172" idx="7"/>
          </p:cNvCxnSpPr>
          <p:nvPr/>
        </p:nvCxnSpPr>
        <p:spPr>
          <a:xfrm flipH="1">
            <a:off x="5132469" y="3665861"/>
            <a:ext cx="2277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" name="Google Shape;177;p22"/>
          <p:cNvSpPr/>
          <p:nvPr/>
        </p:nvSpPr>
        <p:spPr>
          <a:xfrm>
            <a:off x="4709388" y="3035600"/>
            <a:ext cx="458400" cy="461700"/>
          </a:xfrm>
          <a:prstGeom prst="ellipse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</a:t>
            </a:r>
            <a:r>
              <a:rPr lang="en" sz="1200" baseline="-25000"/>
              <a:t>1</a:t>
            </a:r>
            <a:endParaRPr sz="1200" baseline="-25000"/>
          </a:p>
        </p:txBody>
      </p:sp>
      <p:cxnSp>
        <p:nvCxnSpPr>
          <p:cNvPr id="178" name="Google Shape;178;p22"/>
          <p:cNvCxnSpPr>
            <a:stCxn id="177" idx="4"/>
            <a:endCxn id="172" idx="0"/>
          </p:cNvCxnSpPr>
          <p:nvPr/>
        </p:nvCxnSpPr>
        <p:spPr>
          <a:xfrm>
            <a:off x="4938588" y="3497300"/>
            <a:ext cx="0" cy="30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9" name="Google Shape;179;p22"/>
          <p:cNvSpPr/>
          <p:nvPr/>
        </p:nvSpPr>
        <p:spPr>
          <a:xfrm>
            <a:off x="3742563" y="3910850"/>
            <a:ext cx="458400" cy="461700"/>
          </a:xfrm>
          <a:prstGeom prst="ellipse">
            <a:avLst/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</a:t>
            </a:r>
            <a:r>
              <a:rPr lang="en" sz="1200" baseline="-25000"/>
              <a:t>5</a:t>
            </a:r>
            <a:endParaRPr sz="1200" baseline="-25000"/>
          </a:p>
        </p:txBody>
      </p:sp>
      <p:cxnSp>
        <p:nvCxnSpPr>
          <p:cNvPr id="180" name="Google Shape;180;p22"/>
          <p:cNvCxnSpPr>
            <a:stCxn id="179" idx="6"/>
            <a:endCxn id="172" idx="2"/>
          </p:cNvCxnSpPr>
          <p:nvPr/>
        </p:nvCxnSpPr>
        <p:spPr>
          <a:xfrm rot="10800000" flipH="1">
            <a:off x="4200963" y="4086200"/>
            <a:ext cx="463200" cy="5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1" name="Google Shape;181;p22"/>
          <p:cNvSpPr/>
          <p:nvPr/>
        </p:nvSpPr>
        <p:spPr>
          <a:xfrm>
            <a:off x="4197738" y="4495850"/>
            <a:ext cx="458400" cy="461700"/>
          </a:xfrm>
          <a:prstGeom prst="ellipse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</a:t>
            </a:r>
            <a:r>
              <a:rPr lang="en" sz="1200" baseline="-25000"/>
              <a:t>4</a:t>
            </a:r>
            <a:endParaRPr sz="1200" baseline="-25000"/>
          </a:p>
        </p:txBody>
      </p:sp>
      <p:sp>
        <p:nvSpPr>
          <p:cNvPr id="182" name="Google Shape;182;p22"/>
          <p:cNvSpPr/>
          <p:nvPr/>
        </p:nvSpPr>
        <p:spPr>
          <a:xfrm>
            <a:off x="5322988" y="4463875"/>
            <a:ext cx="458400" cy="461700"/>
          </a:xfrm>
          <a:prstGeom prst="ellipse">
            <a:avLst/>
          </a:prstGeom>
          <a:solidFill>
            <a:srgbClr val="CC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</a:t>
            </a:r>
            <a:r>
              <a:rPr lang="en" sz="1200" baseline="-25000"/>
              <a:t>3</a:t>
            </a:r>
            <a:endParaRPr sz="1200" baseline="-25000"/>
          </a:p>
        </p:txBody>
      </p:sp>
      <p:cxnSp>
        <p:nvCxnSpPr>
          <p:cNvPr id="183" name="Google Shape;183;p22"/>
          <p:cNvCxnSpPr>
            <a:stCxn id="182" idx="1"/>
            <a:endCxn id="172" idx="5"/>
          </p:cNvCxnSpPr>
          <p:nvPr/>
        </p:nvCxnSpPr>
        <p:spPr>
          <a:xfrm rot="10800000">
            <a:off x="5132719" y="4288789"/>
            <a:ext cx="257400" cy="2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22"/>
          <p:cNvCxnSpPr>
            <a:stCxn id="181" idx="7"/>
            <a:endCxn id="172" idx="3"/>
          </p:cNvCxnSpPr>
          <p:nvPr/>
        </p:nvCxnSpPr>
        <p:spPr>
          <a:xfrm rot="10800000" flipH="1">
            <a:off x="4589006" y="4288664"/>
            <a:ext cx="155700" cy="27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F77EE3-94E1-A34A-2123-5F6F894974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293B"/>
                </a:solidFill>
              </a:rPr>
              <a:t>Pooling Atoms into One Prediction</a:t>
            </a:r>
            <a:endParaRPr/>
          </a:p>
        </p:txBody>
      </p:sp>
      <p:pic>
        <p:nvPicPr>
          <p:cNvPr id="190" name="Google Shape;190;p23"/>
          <p:cNvPicPr preferRelativeResize="0"/>
          <p:nvPr/>
        </p:nvPicPr>
        <p:blipFill rotWithShape="1">
          <a:blip r:embed="rId3">
            <a:alphaModFix/>
          </a:blip>
          <a:srcRect l="6804" t="12947" r="77548" b="2765"/>
          <a:stretch/>
        </p:blipFill>
        <p:spPr>
          <a:xfrm>
            <a:off x="432125" y="1356200"/>
            <a:ext cx="1439827" cy="310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3052914" y="2131297"/>
            <a:ext cx="1483200" cy="13449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9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7"/>
              <a:t>h</a:t>
            </a:r>
            <a:r>
              <a:rPr lang="en" sz="1457" baseline="-25000"/>
              <a:t>g</a:t>
            </a:r>
            <a:endParaRPr sz="1457" baseline="-25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7"/>
              <a:t>(graph vector)</a:t>
            </a:r>
            <a:endParaRPr sz="1457"/>
          </a:p>
        </p:txBody>
      </p:sp>
      <p:sp>
        <p:nvSpPr>
          <p:cNvPr id="192" name="Google Shape;192;p23"/>
          <p:cNvSpPr/>
          <p:nvPr/>
        </p:nvSpPr>
        <p:spPr>
          <a:xfrm>
            <a:off x="5052207" y="2131350"/>
            <a:ext cx="1483200" cy="134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7"/>
              <a:t>MLP</a:t>
            </a:r>
            <a:endParaRPr sz="1457"/>
          </a:p>
        </p:txBody>
      </p:sp>
      <p:sp>
        <p:nvSpPr>
          <p:cNvPr id="193" name="Google Shape;193;p23"/>
          <p:cNvSpPr/>
          <p:nvPr/>
        </p:nvSpPr>
        <p:spPr>
          <a:xfrm>
            <a:off x="7179151" y="2131350"/>
            <a:ext cx="1481400" cy="13449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7"/>
              <a:t>Property</a:t>
            </a:r>
            <a:endParaRPr sz="1457"/>
          </a:p>
        </p:txBody>
      </p:sp>
      <p:sp>
        <p:nvSpPr>
          <p:cNvPr id="194" name="Google Shape;194;p23"/>
          <p:cNvSpPr/>
          <p:nvPr/>
        </p:nvSpPr>
        <p:spPr>
          <a:xfrm>
            <a:off x="1923645" y="2717650"/>
            <a:ext cx="972600" cy="172200"/>
          </a:xfrm>
          <a:prstGeom prst="rightArrow">
            <a:avLst>
              <a:gd name="adj1" fmla="val 14271"/>
              <a:gd name="adj2" fmla="val 49200"/>
            </a:avLst>
          </a:prstGeom>
          <a:solidFill>
            <a:schemeClr val="dk2"/>
          </a:solidFill>
          <a:ln w="9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/>
          </a:p>
        </p:txBody>
      </p:sp>
      <p:sp>
        <p:nvSpPr>
          <p:cNvPr id="195" name="Google Shape;195;p23"/>
          <p:cNvSpPr txBox="1"/>
          <p:nvPr/>
        </p:nvSpPr>
        <p:spPr>
          <a:xfrm>
            <a:off x="1817209" y="2359298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mean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3052900" y="3420325"/>
            <a:ext cx="14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Global pooling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5052200" y="3420325"/>
            <a:ext cx="14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2~3 layers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4612738" y="2717650"/>
            <a:ext cx="404700" cy="172200"/>
          </a:xfrm>
          <a:prstGeom prst="rightArrow">
            <a:avLst>
              <a:gd name="adj1" fmla="val 14271"/>
              <a:gd name="adj2" fmla="val 49200"/>
            </a:avLst>
          </a:prstGeom>
          <a:solidFill>
            <a:schemeClr val="dk2"/>
          </a:solidFill>
          <a:ln w="9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/>
          </a:p>
        </p:txBody>
      </p:sp>
      <p:sp>
        <p:nvSpPr>
          <p:cNvPr id="199" name="Google Shape;199;p23"/>
          <p:cNvSpPr/>
          <p:nvPr/>
        </p:nvSpPr>
        <p:spPr>
          <a:xfrm>
            <a:off x="6668248" y="2717650"/>
            <a:ext cx="404700" cy="172200"/>
          </a:xfrm>
          <a:prstGeom prst="rightArrow">
            <a:avLst>
              <a:gd name="adj1" fmla="val 14271"/>
              <a:gd name="adj2" fmla="val 49200"/>
            </a:avLst>
          </a:prstGeom>
          <a:solidFill>
            <a:schemeClr val="dk2"/>
          </a:solidFill>
          <a:ln w="99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5175" tIns="95175" rIns="95175" bIns="951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/>
          </a:p>
        </p:txBody>
      </p:sp>
      <p:sp>
        <p:nvSpPr>
          <p:cNvPr id="200" name="Google Shape;200;p23"/>
          <p:cNvSpPr/>
          <p:nvPr/>
        </p:nvSpPr>
        <p:spPr>
          <a:xfrm>
            <a:off x="2090175" y="4070175"/>
            <a:ext cx="3139800" cy="9180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rgbClr val="1E293B"/>
                </a:solidFill>
              </a:rPr>
              <a:t>Permutation invariance</a:t>
            </a:r>
            <a:endParaRPr sz="1150" b="1">
              <a:solidFill>
                <a:srgbClr val="1E293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1E293B"/>
                </a:solidFill>
              </a:rPr>
              <a:t>mean pooling gives the same result no matter how atoms are ordered </a:t>
            </a:r>
            <a:endParaRPr sz="1150">
              <a:solidFill>
                <a:srgbClr val="1E293B"/>
              </a:solidFill>
            </a:endParaRPr>
          </a:p>
        </p:txBody>
      </p:sp>
      <p:cxnSp>
        <p:nvCxnSpPr>
          <p:cNvPr id="201" name="Google Shape;201;p23"/>
          <p:cNvCxnSpPr>
            <a:stCxn id="195" idx="2"/>
          </p:cNvCxnSpPr>
          <p:nvPr/>
        </p:nvCxnSpPr>
        <p:spPr>
          <a:xfrm>
            <a:off x="2433409" y="2728598"/>
            <a:ext cx="392400" cy="128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2" name="Google Shape;202;p23"/>
          <p:cNvSpPr txBox="1"/>
          <p:nvPr/>
        </p:nvSpPr>
        <p:spPr>
          <a:xfrm>
            <a:off x="7124775" y="3420325"/>
            <a:ext cx="1483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solubility, toxicity, binding affinity, etc.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32125" y="1017725"/>
            <a:ext cx="170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Atom embeddings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15998" y="184825"/>
            <a:ext cx="2790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D9488"/>
                </a:solidFill>
              </a:rPr>
              <a:t>STEP 3· READOUT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0" y="488190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4"/>
              </a:rPr>
              <a:t>Kipf &amp; Welling, "Semi-Supervised Classification with Graph Convolutional Networks", ICLR 2017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D715CC4-61D2-1D68-DAD2-4921BE5B8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Injectivity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925" y="1270975"/>
            <a:ext cx="50101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>
            <a:spLocks noGrp="1"/>
          </p:cNvSpPr>
          <p:nvPr>
            <p:ph type="body" idx="1"/>
          </p:nvPr>
        </p:nvSpPr>
        <p:spPr>
          <a:xfrm>
            <a:off x="311700" y="3352600"/>
            <a:ext cx="85206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Injective function maps distinct elements of its domain to distinct elements of its codomain.</a:t>
            </a:r>
            <a:endParaRPr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D1CBC9A-FECE-6F0D-3E07-7E6B98D941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l="38066" t="34159" r="49279" b="42240"/>
          <a:stretch/>
        </p:blipFill>
        <p:spPr>
          <a:xfrm>
            <a:off x="7630515" y="3763000"/>
            <a:ext cx="1001349" cy="9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structure vulnerability (non-injectivity)</a:t>
            </a:r>
            <a:endParaRPr/>
          </a:p>
        </p:txBody>
      </p:sp>
      <p:sp>
        <p:nvSpPr>
          <p:cNvPr id="219" name="Google Shape;219;p25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Assuming input node features are uniform, some simple graph structures cannot be distinguished by GCN.</a:t>
            </a:r>
            <a:endParaRPr/>
          </a:p>
        </p:txBody>
      </p:sp>
      <p:grpSp>
        <p:nvGrpSpPr>
          <p:cNvPr id="220" name="Google Shape;220;p25"/>
          <p:cNvGrpSpPr/>
          <p:nvPr/>
        </p:nvGrpSpPr>
        <p:grpSpPr>
          <a:xfrm>
            <a:off x="424475" y="1913125"/>
            <a:ext cx="5531601" cy="2807542"/>
            <a:chOff x="666000" y="2016829"/>
            <a:chExt cx="5477917" cy="2780295"/>
          </a:xfrm>
        </p:grpSpPr>
        <p:pic>
          <p:nvPicPr>
            <p:cNvPr id="221" name="Google Shape;221;p25"/>
            <p:cNvPicPr preferRelativeResize="0"/>
            <p:nvPr/>
          </p:nvPicPr>
          <p:blipFill rotWithShape="1">
            <a:blip r:embed="rId4">
              <a:alphaModFix/>
            </a:blip>
            <a:srcRect r="3410" b="43455"/>
            <a:stretch/>
          </p:blipFill>
          <p:spPr>
            <a:xfrm>
              <a:off x="666000" y="2016829"/>
              <a:ext cx="5477917" cy="1628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25"/>
            <p:cNvSpPr/>
            <p:nvPr/>
          </p:nvSpPr>
          <p:spPr>
            <a:xfrm>
              <a:off x="1056925" y="3462875"/>
              <a:ext cx="1833000" cy="21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4"/>
            </a:p>
          </p:txBody>
        </p:sp>
        <p:sp>
          <p:nvSpPr>
            <p:cNvPr id="223" name="Google Shape;223;p25"/>
            <p:cNvSpPr/>
            <p:nvPr/>
          </p:nvSpPr>
          <p:spPr>
            <a:xfrm>
              <a:off x="3491100" y="3407850"/>
              <a:ext cx="2497500" cy="212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4"/>
            </a:p>
          </p:txBody>
        </p:sp>
        <p:pic>
          <p:nvPicPr>
            <p:cNvPr id="224" name="Google Shape;224;p25"/>
            <p:cNvPicPr preferRelativeResize="0"/>
            <p:nvPr/>
          </p:nvPicPr>
          <p:blipFill rotWithShape="1">
            <a:blip r:embed="rId5">
              <a:alphaModFix/>
            </a:blip>
            <a:srcRect l="43839"/>
            <a:stretch/>
          </p:blipFill>
          <p:spPr>
            <a:xfrm>
              <a:off x="3491100" y="3563738"/>
              <a:ext cx="2314849" cy="1201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5" name="Google Shape;225;p25"/>
            <p:cNvPicPr preferRelativeResize="0"/>
            <p:nvPr/>
          </p:nvPicPr>
          <p:blipFill rotWithShape="1">
            <a:blip r:embed="rId5">
              <a:alphaModFix/>
            </a:blip>
            <a:srcRect r="55309"/>
            <a:stretch/>
          </p:blipFill>
          <p:spPr>
            <a:xfrm>
              <a:off x="1056925" y="3531650"/>
              <a:ext cx="1940425" cy="1265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25"/>
          <p:cNvGrpSpPr/>
          <p:nvPr/>
        </p:nvGrpSpPr>
        <p:grpSpPr>
          <a:xfrm>
            <a:off x="6079525" y="1752100"/>
            <a:ext cx="2857500" cy="2010900"/>
            <a:chOff x="6203000" y="2104900"/>
            <a:chExt cx="2857500" cy="2010900"/>
          </a:xfrm>
        </p:grpSpPr>
        <p:sp>
          <p:nvSpPr>
            <p:cNvPr id="227" name="Google Shape;227;p25"/>
            <p:cNvSpPr/>
            <p:nvPr/>
          </p:nvSpPr>
          <p:spPr>
            <a:xfrm>
              <a:off x="6203000" y="2104900"/>
              <a:ext cx="2857500" cy="2010900"/>
            </a:xfrm>
            <a:prstGeom prst="wedgeEllipseCallout">
              <a:avLst>
                <a:gd name="adj1" fmla="val 5912"/>
                <a:gd name="adj2" fmla="val 57928"/>
              </a:avLst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8" name="Google Shape;228;p25"/>
            <p:cNvPicPr preferRelativeResize="0"/>
            <p:nvPr/>
          </p:nvPicPr>
          <p:blipFill rotWithShape="1">
            <a:blip r:embed="rId5">
              <a:alphaModFix/>
            </a:blip>
            <a:srcRect l="45958" t="15038"/>
            <a:stretch/>
          </p:blipFill>
          <p:spPr>
            <a:xfrm>
              <a:off x="6476400" y="2677100"/>
              <a:ext cx="2249326" cy="1030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5"/>
            <p:cNvPicPr preferRelativeResize="0"/>
            <p:nvPr/>
          </p:nvPicPr>
          <p:blipFill rotWithShape="1">
            <a:blip r:embed="rId5">
              <a:alphaModFix/>
            </a:blip>
            <a:srcRect l="4381" r="89573" b="81845"/>
            <a:stretch/>
          </p:blipFill>
          <p:spPr>
            <a:xfrm>
              <a:off x="6631075" y="2405425"/>
              <a:ext cx="265098" cy="2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5"/>
            <p:cNvPicPr preferRelativeResize="0"/>
            <p:nvPr/>
          </p:nvPicPr>
          <p:blipFill rotWithShape="1">
            <a:blip r:embed="rId5">
              <a:alphaModFix/>
            </a:blip>
            <a:srcRect l="3312" r="89572" b="81845"/>
            <a:stretch/>
          </p:blipFill>
          <p:spPr>
            <a:xfrm>
              <a:off x="7168700" y="2405425"/>
              <a:ext cx="311976" cy="2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 rotWithShape="1">
            <a:blip r:embed="rId5">
              <a:alphaModFix/>
            </a:blip>
            <a:srcRect l="3312" r="89572" b="81845"/>
            <a:stretch/>
          </p:blipFill>
          <p:spPr>
            <a:xfrm>
              <a:off x="7789250" y="2405425"/>
              <a:ext cx="311976" cy="2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5"/>
            <p:cNvPicPr preferRelativeResize="0"/>
            <p:nvPr/>
          </p:nvPicPr>
          <p:blipFill rotWithShape="1">
            <a:blip r:embed="rId5">
              <a:alphaModFix/>
            </a:blip>
            <a:srcRect l="3312" r="90642" b="81845"/>
            <a:stretch/>
          </p:blipFill>
          <p:spPr>
            <a:xfrm>
              <a:off x="8372074" y="2405425"/>
              <a:ext cx="265098" cy="23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3" name="Google Shape;233;p25"/>
          <p:cNvSpPr txBox="1"/>
          <p:nvPr/>
        </p:nvSpPr>
        <p:spPr>
          <a:xfrm>
            <a:off x="7896325" y="4497375"/>
            <a:ext cx="11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GCN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2369000" y="4720675"/>
            <a:ext cx="11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Desired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1563900" y="4866675"/>
            <a:ext cx="7580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6"/>
              </a:rPr>
              <a:t>Jure Leskovec, Stanford CS224W: Machine Learning with Graphs (Fall 2019)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DCFF3C9-EB31-F4F5-B5D4-4487772D6C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structure vulnerability (non-injectivity)</a:t>
            </a:r>
            <a:endParaRPr/>
          </a:p>
        </p:txBody>
      </p:sp>
      <p:pic>
        <p:nvPicPr>
          <p:cNvPr id="241" name="Google Shape;241;p26"/>
          <p:cNvPicPr preferRelativeResize="0"/>
          <p:nvPr/>
        </p:nvPicPr>
        <p:blipFill rotWithShape="1">
          <a:blip r:embed="rId3">
            <a:alphaModFix/>
          </a:blip>
          <a:srcRect b="14973"/>
          <a:stretch/>
        </p:blipFill>
        <p:spPr>
          <a:xfrm>
            <a:off x="433825" y="1072450"/>
            <a:ext cx="8119575" cy="32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1563900" y="4866675"/>
            <a:ext cx="7580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4"/>
              </a:rPr>
              <a:t>Jure Leskovec, Stanford CS224W: Machine Learning with Graphs (Fall 2019)</a:t>
            </a:r>
            <a:endParaRPr sz="500">
              <a:solidFill>
                <a:schemeClr val="dk2"/>
              </a:solidFill>
            </a:endParaRPr>
          </a:p>
        </p:txBody>
      </p:sp>
      <p:pic>
        <p:nvPicPr>
          <p:cNvPr id="243" name="Google Shape;243;p26"/>
          <p:cNvPicPr preferRelativeResize="0"/>
          <p:nvPr/>
        </p:nvPicPr>
        <p:blipFill rotWithShape="1">
          <a:blip r:embed="rId3">
            <a:alphaModFix/>
          </a:blip>
          <a:srcRect l="36570" t="84207" r="40899"/>
          <a:stretch/>
        </p:blipFill>
        <p:spPr>
          <a:xfrm>
            <a:off x="3578913" y="4229600"/>
            <a:ext cx="1829401" cy="6034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E243DE-8C98-81EB-DCD6-6023D9A02B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Isomorphism Networks (GIN)</a:t>
            </a:r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Solution: Model an injective multi-set function for aggregation.</a:t>
            </a:r>
            <a:endParaRPr/>
          </a:p>
        </p:txBody>
      </p:sp>
      <p:pic>
        <p:nvPicPr>
          <p:cNvPr id="250" name="Google Shape;250;p27"/>
          <p:cNvPicPr preferRelativeResize="0"/>
          <p:nvPr/>
        </p:nvPicPr>
        <p:blipFill rotWithShape="1">
          <a:blip r:embed="rId3">
            <a:alphaModFix/>
          </a:blip>
          <a:srcRect b="37512"/>
          <a:stretch/>
        </p:blipFill>
        <p:spPr>
          <a:xfrm>
            <a:off x="311700" y="1685674"/>
            <a:ext cx="5833625" cy="296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>
            <a:spLocks noGrp="1"/>
          </p:cNvSpPr>
          <p:nvPr>
            <p:ph type="body" idx="1"/>
          </p:nvPr>
        </p:nvSpPr>
        <p:spPr>
          <a:xfrm>
            <a:off x="6237175" y="1685675"/>
            <a:ext cx="2408700" cy="28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MLP is an universal approximator (Hornik et al., 1989; Hornik, 1991).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Φ and f are modelled by MLP.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1563900" y="4866675"/>
            <a:ext cx="7580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4"/>
              </a:rPr>
              <a:t>Jure Leskovec, Stanford CS224W: Machine Learning with Graphs (Fall 2019)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E50546-3DAE-F777-B404-BE61C392B2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Graph Attention Networks (GAT)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8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Problem: GCN gives every neighbor an equal vote, no matter what information (feature) it carries.</a:t>
            </a:r>
            <a:endParaRPr/>
          </a:p>
        </p:txBody>
      </p:sp>
      <p:pic>
        <p:nvPicPr>
          <p:cNvPr id="267" name="Google Shape;26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2052125"/>
            <a:ext cx="4153500" cy="18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9637" y="1589982"/>
            <a:ext cx="4026276" cy="234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9"/>
          <p:cNvSpPr txBox="1"/>
          <p:nvPr/>
        </p:nvSpPr>
        <p:spPr>
          <a:xfrm>
            <a:off x="311700" y="4206200"/>
            <a:ext cx="426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Nucleophilic attack on 2-carbon during the formation of acetyl-CoA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4806025" y="4206200"/>
            <a:ext cx="415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Nucleophilic attack on 2-carbon during the lactic acid fermentation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2248200" y="4881900"/>
            <a:ext cx="6895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5"/>
              </a:rPr>
              <a:t>Veličković et al., "Graph Attention Networks", ICLR 2018</a:t>
            </a:r>
            <a:endParaRPr sz="5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60271D6-021B-04D1-D28E-46C73DAE3C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Graph Attention Networks (GAT)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2248200" y="4639500"/>
            <a:ext cx="6895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 u="sng">
              <a:solidFill>
                <a:schemeClr val="hlink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Ryu et al., "Deeply Learning Molecular Structure-Property Relationships Using Attention- and Gate-Augmented Graph Convolutional Network", arXiv 2018</a:t>
            </a:r>
            <a:r>
              <a:rPr lang="en" sz="500"/>
              <a:t>, </a:t>
            </a:r>
            <a:r>
              <a:rPr lang="en" sz="500" u="sng">
                <a:solidFill>
                  <a:schemeClr val="hlink"/>
                </a:solidFill>
                <a:hlinkClick r:id="rId4"/>
              </a:rPr>
              <a:t>Veličković et al., "Graph Attention Networks", ICLR 2018</a:t>
            </a:r>
            <a:endParaRPr sz="500"/>
          </a:p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5">
            <a:alphaModFix/>
          </a:blip>
          <a:srcRect b="22427"/>
          <a:stretch/>
        </p:blipFill>
        <p:spPr>
          <a:xfrm>
            <a:off x="1017698" y="1217825"/>
            <a:ext cx="7108600" cy="27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0"/>
          <p:cNvSpPr txBox="1"/>
          <p:nvPr/>
        </p:nvSpPr>
        <p:spPr>
          <a:xfrm>
            <a:off x="678700" y="4089786"/>
            <a:ext cx="798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α</a:t>
            </a:r>
            <a:r>
              <a:rPr lang="en" sz="1700" baseline="-25000">
                <a:solidFill>
                  <a:schemeClr val="dk1"/>
                </a:solidFill>
              </a:rPr>
              <a:t>21</a:t>
            </a:r>
            <a:r>
              <a:rPr lang="en" sz="1700">
                <a:solidFill>
                  <a:schemeClr val="dk1"/>
                </a:solidFill>
              </a:rPr>
              <a:t> + α</a:t>
            </a:r>
            <a:r>
              <a:rPr lang="en" sz="1700" baseline="-25000">
                <a:solidFill>
                  <a:schemeClr val="dk1"/>
                </a:solidFill>
              </a:rPr>
              <a:t>22 </a:t>
            </a:r>
            <a:r>
              <a:rPr lang="en" sz="1700">
                <a:solidFill>
                  <a:schemeClr val="dk1"/>
                </a:solidFill>
              </a:rPr>
              <a:t>+ α</a:t>
            </a:r>
            <a:r>
              <a:rPr lang="en" sz="1700" baseline="-25000">
                <a:solidFill>
                  <a:schemeClr val="dk1"/>
                </a:solidFill>
              </a:rPr>
              <a:t>23 </a:t>
            </a:r>
            <a:r>
              <a:rPr lang="en" sz="1700">
                <a:solidFill>
                  <a:schemeClr val="dk1"/>
                </a:solidFill>
              </a:rPr>
              <a:t>+ α</a:t>
            </a:r>
            <a:r>
              <a:rPr lang="en" sz="1700" baseline="-25000">
                <a:solidFill>
                  <a:schemeClr val="dk1"/>
                </a:solidFill>
              </a:rPr>
              <a:t>24</a:t>
            </a:r>
            <a:r>
              <a:rPr lang="en" sz="1700">
                <a:solidFill>
                  <a:schemeClr val="dk1"/>
                </a:solidFill>
              </a:rPr>
              <a:t>= 1,  0 ≤ α</a:t>
            </a:r>
            <a:r>
              <a:rPr lang="en" sz="1700" baseline="-25000">
                <a:solidFill>
                  <a:schemeClr val="dk1"/>
                </a:solidFill>
              </a:rPr>
              <a:t>ij </a:t>
            </a:r>
            <a:r>
              <a:rPr lang="en" sz="1700">
                <a:solidFill>
                  <a:schemeClr val="dk1"/>
                </a:solidFill>
              </a:rPr>
              <a:t>≤ 1 by softmax()</a:t>
            </a:r>
            <a:endParaRPr sz="1700" baseline="-25000">
              <a:solidFill>
                <a:schemeClr val="dk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E2CD714-10FA-069E-CDF3-9BC985D96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85" name="Google Shape;285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Hornik, K. (1991). Approximation capabilities of multilayer feedforward networks. </a:t>
            </a:r>
            <a:r>
              <a:rPr lang="en" sz="1100" i="1">
                <a:solidFill>
                  <a:schemeClr val="dk1"/>
                </a:solidFill>
              </a:rPr>
              <a:t>Neural Networks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i="1">
                <a:solidFill>
                  <a:schemeClr val="dk1"/>
                </a:solidFill>
              </a:rPr>
              <a:t>4</a:t>
            </a:r>
            <a:r>
              <a:rPr lang="en" sz="1100">
                <a:solidFill>
                  <a:schemeClr val="dk1"/>
                </a:solidFill>
              </a:rPr>
              <a:t>(2), 251–257.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https://doi.org/10.1016/0893-6080(91)90009-T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Hornik, K., Stinchcombe, M., &amp; White, H. (1989). Multilayer feedforward networks are universal approximators. </a:t>
            </a:r>
            <a:r>
              <a:rPr lang="en" sz="1100" i="1">
                <a:solidFill>
                  <a:schemeClr val="dk1"/>
                </a:solidFill>
              </a:rPr>
              <a:t>Neural Networks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 i="1">
                <a:solidFill>
                  <a:schemeClr val="dk1"/>
                </a:solidFill>
              </a:rPr>
              <a:t>2</a:t>
            </a:r>
            <a:r>
              <a:rPr lang="en" sz="1100">
                <a:solidFill>
                  <a:schemeClr val="dk1"/>
                </a:solidFill>
              </a:rPr>
              <a:t>(5), 359–366.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https://doi.org/10.1016/0893-6080(89)90020-8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Kipf, T. N., &amp; Welling, M. (2017). Semi-supervised classification with graph convolutional networks. </a:t>
            </a:r>
            <a:r>
              <a:rPr lang="en" sz="1100" i="1">
                <a:solidFill>
                  <a:schemeClr val="dk1"/>
                </a:solidFill>
              </a:rPr>
              <a:t>In Proceedings of the 5th International Conference on Learning Representations (ICLR 2017)</a:t>
            </a:r>
            <a:r>
              <a:rPr lang="en" sz="1100">
                <a:solidFill>
                  <a:schemeClr val="dk1"/>
                </a:solidFill>
              </a:rPr>
              <a:t>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https://doi.org/10.48550/arXiv.1609.02907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Leskovec, J., &amp; Hu, W. (2019). </a:t>
            </a:r>
            <a:r>
              <a:rPr lang="en" sz="1100" i="1">
                <a:solidFill>
                  <a:schemeClr val="dk1"/>
                </a:solidFill>
              </a:rPr>
              <a:t>CS224W: Machine learning with graphs — Limitations of GNNs</a:t>
            </a:r>
            <a:r>
              <a:rPr lang="en" sz="1100">
                <a:solidFill>
                  <a:schemeClr val="dk1"/>
                </a:solidFill>
              </a:rPr>
              <a:t> [Lecture slides]. Stanford University.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https://snap.stanford.edu/class/cs224w-2019/slides/18-limitations.pdf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Leskovec, J., &amp; Kanatsoulis, C. (2025). </a:t>
            </a:r>
            <a:r>
              <a:rPr lang="en" sz="1100" i="1">
                <a:solidFill>
                  <a:schemeClr val="dk1"/>
                </a:solidFill>
              </a:rPr>
              <a:t>CS224W: Machine learning with graphs — Introduction</a:t>
            </a:r>
            <a:r>
              <a:rPr lang="en" sz="1100">
                <a:solidFill>
                  <a:schemeClr val="dk1"/>
                </a:solidFill>
              </a:rPr>
              <a:t> [Lecture slides]. Stanford University.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https://snap.stanford.edu/class/cs224w-2025/slides/01-intro.pdf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Ron &amp; Math. (2024, May 16). </a:t>
            </a:r>
            <a:r>
              <a:rPr lang="en" sz="1100" i="1">
                <a:solidFill>
                  <a:schemeClr val="dk1"/>
                </a:solidFill>
              </a:rPr>
              <a:t>Spectral graph theory for dummies</a:t>
            </a:r>
            <a:r>
              <a:rPr lang="en" sz="1100">
                <a:solidFill>
                  <a:schemeClr val="dk1"/>
                </a:solidFill>
              </a:rPr>
              <a:t> [Video]. YouTube.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8"/>
              </a:rPr>
              <a:t>https://www.youtube.com/watch?v=uTUVhsxdGS8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Ryu, S., Lim, J., Hong, S. H., &amp; Kim, W. Y. (2018). Deeply learning molecular structure-property relationships using attention- and gate-augmented graph convolutional network. </a:t>
            </a:r>
            <a:r>
              <a:rPr lang="en" sz="1100" i="1">
                <a:solidFill>
                  <a:schemeClr val="dk1"/>
                </a:solidFill>
              </a:rPr>
              <a:t>arXiv</a:t>
            </a:r>
            <a:r>
              <a:rPr lang="en" sz="1100">
                <a:solidFill>
                  <a:schemeClr val="dk1"/>
                </a:solidFill>
              </a:rPr>
              <a:t>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9"/>
              </a:rPr>
              <a:t>https://doi.org/10.48550/arXiv.1805.10988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Veličković, P., Cucurull, G., Casanova, A., Romero, A., Liò, P., &amp; Bengio, Y. (2018). Graph attention networks. </a:t>
            </a:r>
            <a:r>
              <a:rPr lang="en" sz="1100" i="1">
                <a:solidFill>
                  <a:schemeClr val="dk1"/>
                </a:solidFill>
              </a:rPr>
              <a:t>In Proceedings of the 6th International Conference on Learning Representations (ICLR 2018)</a:t>
            </a:r>
            <a:r>
              <a:rPr lang="en" sz="1100">
                <a:solidFill>
                  <a:schemeClr val="dk1"/>
                </a:solidFill>
              </a:rPr>
              <a:t>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https://doi.org/10.48550/arXiv.1710.10903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Xu, K., Hu, W., Leskovec, J., &amp; Jegelka, S. (2019). How powerful are graph neural networks? </a:t>
            </a:r>
            <a:r>
              <a:rPr lang="en" sz="1100" i="1">
                <a:solidFill>
                  <a:schemeClr val="dk1"/>
                </a:solidFill>
              </a:rPr>
              <a:t>In Proceedings of the 7th International Conference on Learning Representations (ICLR 2019)</a:t>
            </a:r>
            <a:r>
              <a:rPr lang="en" sz="1100">
                <a:solidFill>
                  <a:schemeClr val="dk1"/>
                </a:solidFill>
              </a:rPr>
              <a:t>.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11"/>
              </a:rPr>
              <a:t>https://doi.org/10.48550/arXiv.1810.00826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EB5BCC8-30F2-BD97-5AFC-E81ECD2CD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Layer-wise propagation rule</a:t>
            </a:r>
            <a:endParaRPr/>
          </a:p>
        </p:txBody>
      </p:sp>
      <p:pic>
        <p:nvPicPr>
          <p:cNvPr id="291" name="Google Shape;291;p32"/>
          <p:cNvPicPr preferRelativeResize="0"/>
          <p:nvPr/>
        </p:nvPicPr>
        <p:blipFill rotWithShape="1">
          <a:blip r:embed="rId3">
            <a:alphaModFix/>
          </a:blip>
          <a:srcRect t="27410"/>
          <a:stretch/>
        </p:blipFill>
        <p:spPr>
          <a:xfrm>
            <a:off x="152400" y="1902001"/>
            <a:ext cx="8839199" cy="19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2775" y="1096439"/>
            <a:ext cx="4025400" cy="7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/>
          <p:cNvPicPr preferRelativeResize="0"/>
          <p:nvPr/>
        </p:nvPicPr>
        <p:blipFill rotWithShape="1">
          <a:blip r:embed="rId5">
            <a:alphaModFix/>
          </a:blip>
          <a:srcRect b="62052"/>
          <a:stretch/>
        </p:blipFill>
        <p:spPr>
          <a:xfrm>
            <a:off x="152400" y="3650225"/>
            <a:ext cx="8839199" cy="1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2"/>
          <p:cNvSpPr txBox="1"/>
          <p:nvPr/>
        </p:nvSpPr>
        <p:spPr>
          <a:xfrm>
            <a:off x="0" y="488190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6"/>
              </a:rPr>
              <a:t>Kipf &amp; Welling, "Semi-Supervised Classification with Graph Convolutional Networks", ICLR 2017</a:t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8FE828-275B-AF29-14DD-E66C62D9AB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SMILES</a:t>
            </a:r>
            <a:endParaRPr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88AEC48-EF1D-D72F-3580-9735876D72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r>
              <a:rPr lang="en"/>
              <a:t>/22</a:t>
            </a:r>
            <a:endParaRPr lang="en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003A18F-CE16-A818-E081-FF670138C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492674"/>
              </p:ext>
            </p:extLst>
          </p:nvPr>
        </p:nvGraphicFramePr>
        <p:xfrm>
          <a:off x="4096873" y="161290"/>
          <a:ext cx="3056965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518">
                  <a:extLst>
                    <a:ext uri="{9D8B030D-6E8A-4147-A177-3AD203B41FA5}">
                      <a16:colId xmlns:a16="http://schemas.microsoft.com/office/drawing/2014/main" val="3415613144"/>
                    </a:ext>
                  </a:extLst>
                </a:gridCol>
                <a:gridCol w="1918447">
                  <a:extLst>
                    <a:ext uri="{9D8B030D-6E8A-4147-A177-3AD203B41FA5}">
                      <a16:colId xmlns:a16="http://schemas.microsoft.com/office/drawing/2014/main" val="96149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Sign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477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 bonded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51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Single bond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88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=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Double bond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55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#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Triple bond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02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$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Quadruple bond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88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: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Aromaticity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534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/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Trans structure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933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/>
                        <a:t>\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Cis structure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61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Xn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Ring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structure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495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Branch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23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Uppercase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Aliphatic atoms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285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Lowercase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r>
                        <a:rPr lang="ko-KR" altLang="ko-KR" dirty="0" err="1"/>
                        <a:t>romatic</a:t>
                      </a:r>
                      <a:r>
                        <a:rPr lang="ko-KR" altLang="ko-KR" dirty="0"/>
                        <a:t> </a:t>
                      </a:r>
                      <a:r>
                        <a:rPr lang="ko-KR" altLang="ko-KR" dirty="0" err="1"/>
                        <a:t>atoms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2710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7FE457-C15D-79EE-1F09-658AECC6616C}"/>
              </a:ext>
            </a:extLst>
          </p:cNvPr>
          <p:cNvSpPr txBox="1"/>
          <p:nvPr/>
        </p:nvSpPr>
        <p:spPr>
          <a:xfrm>
            <a:off x="309282" y="1017725"/>
            <a:ext cx="2429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H(hydrogen) is ignored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EC0345-8203-D00F-DFFC-C321C4AF2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82" y="1840205"/>
            <a:ext cx="2657846" cy="1000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23C1F9-3ECA-7EB1-1371-A3DD39C73E62}"/>
              </a:ext>
            </a:extLst>
          </p:cNvPr>
          <p:cNvSpPr txBox="1"/>
          <p:nvPr/>
        </p:nvSpPr>
        <p:spPr>
          <a:xfrm>
            <a:off x="309282" y="1590425"/>
            <a:ext cx="2429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ex.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19D3DB-C936-160C-911A-E26DA1CF0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65" y="2915931"/>
            <a:ext cx="2810267" cy="12098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Isomorphism Networks (GIN)</a:t>
            </a:r>
            <a:endParaRPr/>
          </a:p>
        </p:txBody>
      </p:sp>
      <p:pic>
        <p:nvPicPr>
          <p:cNvPr id="258" name="Google Shape;2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50" y="1186000"/>
            <a:ext cx="8107901" cy="34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 txBox="1"/>
          <p:nvPr/>
        </p:nvSpPr>
        <p:spPr>
          <a:xfrm>
            <a:off x="0" y="4580109"/>
            <a:ext cx="9144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2"/>
                </a:solidFill>
              </a:rPr>
              <a:t>Training set performance of GINs, less powerful GNN variants, and the WL subtree </a:t>
            </a:r>
            <a:r>
              <a:rPr lang="en-US" sz="1300" dirty="0">
                <a:solidFill>
                  <a:schemeClr val="dk2"/>
                </a:solidFill>
              </a:rPr>
              <a:t>kernel</a:t>
            </a:r>
            <a:r>
              <a:rPr lang="en" sz="1300" dirty="0">
                <a:solidFill>
                  <a:schemeClr val="dk2"/>
                </a:solidFill>
              </a:rPr>
              <a:t> </a:t>
            </a:r>
            <a:endParaRPr sz="1300" dirty="0">
              <a:solidFill>
                <a:schemeClr val="dk2"/>
              </a:solidFill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1402800" y="4881900"/>
            <a:ext cx="7741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hlink"/>
                </a:solidFill>
                <a:hlinkClick r:id="rId4"/>
              </a:rPr>
              <a:t>Xu, Hu, Leskovec &amp; Jegelka, "How Powerful are Graph Neural Networks?", ICLR 2019</a:t>
            </a:r>
            <a:endParaRPr sz="50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9C9DA7-0B1D-6853-5088-A2E2F5AEB9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3"/>
          <p:cNvPicPr preferRelativeResize="0"/>
          <p:nvPr/>
        </p:nvPicPr>
        <p:blipFill rotWithShape="1">
          <a:blip r:embed="rId3">
            <a:alphaModFix/>
          </a:blip>
          <a:srcRect l="48930"/>
          <a:stretch/>
        </p:blipFill>
        <p:spPr>
          <a:xfrm>
            <a:off x="2624377" y="1305321"/>
            <a:ext cx="3088025" cy="29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Graph Attention Networks (GAT)</a:t>
            </a:r>
            <a:endParaRPr/>
          </a:p>
        </p:txBody>
      </p:sp>
      <p:sp>
        <p:nvSpPr>
          <p:cNvPr id="301" name="Google Shape;301;p33"/>
          <p:cNvSpPr txBox="1"/>
          <p:nvPr/>
        </p:nvSpPr>
        <p:spPr>
          <a:xfrm>
            <a:off x="2248200" y="4639500"/>
            <a:ext cx="6895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500" u="sng">
              <a:solidFill>
                <a:schemeClr val="hlink"/>
              </a:solidFill>
            </a:endParaRPr>
          </a:p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Ryu et al., "Deeply Learning Molecular Structure-Property Relationships Using Attention- and Gate-Augmented Graph Convolutional Network", arXiv 2018</a:t>
            </a:r>
            <a:r>
              <a:rPr lang="en" sz="500"/>
              <a:t>, </a:t>
            </a:r>
            <a:r>
              <a:rPr lang="en" sz="500" u="sng">
                <a:solidFill>
                  <a:schemeClr val="hlink"/>
                </a:solidFill>
                <a:hlinkClick r:id="rId5"/>
              </a:rPr>
              <a:t>Veličković et al., "Graph Attention Networks", ICLR 2018</a:t>
            </a:r>
            <a:endParaRPr sz="500"/>
          </a:p>
        </p:txBody>
      </p:sp>
      <p:pic>
        <p:nvPicPr>
          <p:cNvPr id="302" name="Google Shape;302;p33"/>
          <p:cNvPicPr preferRelativeResize="0"/>
          <p:nvPr/>
        </p:nvPicPr>
        <p:blipFill rotWithShape="1">
          <a:blip r:embed="rId3">
            <a:alphaModFix/>
          </a:blip>
          <a:srcRect r="51303"/>
          <a:stretch/>
        </p:blipFill>
        <p:spPr>
          <a:xfrm>
            <a:off x="188375" y="1328625"/>
            <a:ext cx="2944624" cy="296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87811" y="2369175"/>
            <a:ext cx="3717476" cy="67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3C08F6-8BED-B6CB-CC20-AFD0F2328C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r>
              <a:rPr lang="en"/>
              <a:t>/22</a:t>
            </a:r>
            <a:endParaRPr lang="e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화면 슬라이드 쇼(16:9)</PresentationFormat>
  <Paragraphs>159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Arial</vt:lpstr>
      <vt:lpstr>Simple Light</vt:lpstr>
      <vt:lpstr>Graph Neural Networks for Molecular Property Prediction</vt:lpstr>
      <vt:lpstr>What are graphs?</vt:lpstr>
      <vt:lpstr>Why graphs?</vt:lpstr>
      <vt:lpstr>Why graphs?</vt:lpstr>
      <vt:lpstr>How are graphs represented in discrete form?</vt:lpstr>
      <vt:lpstr>How are graphs represented in discrete form?</vt:lpstr>
      <vt:lpstr>How are graphs represented in discrete form?</vt:lpstr>
      <vt:lpstr>Pipeline</vt:lpstr>
      <vt:lpstr>From SMILES to a Molecular Graph</vt:lpstr>
      <vt:lpstr>How a Graph Convolution Layer Works</vt:lpstr>
      <vt:lpstr>Pooling Atoms into One Prediction</vt:lpstr>
      <vt:lpstr>Injectivity</vt:lpstr>
      <vt:lpstr>Graph structure vulnerability (non-injectivity)</vt:lpstr>
      <vt:lpstr>Graph structure vulnerability (non-injectivity)</vt:lpstr>
      <vt:lpstr>Graph Isomorphism Networks (GIN)</vt:lpstr>
      <vt:lpstr>Graph Attention Networks (GAT) </vt:lpstr>
      <vt:lpstr>Graph Attention Networks (GAT) </vt:lpstr>
      <vt:lpstr>References</vt:lpstr>
      <vt:lpstr>Layer-wise propagation rule</vt:lpstr>
      <vt:lpstr>SMILES</vt:lpstr>
      <vt:lpstr>Graph Isomorphism Networks (GIN)</vt:lpstr>
      <vt:lpstr>Graph Attention Networks (GAT)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Subin Hyun</cp:lastModifiedBy>
  <cp:revision>2</cp:revision>
  <dcterms:modified xsi:type="dcterms:W3CDTF">2026-06-25T14:52:34Z</dcterms:modified>
</cp:coreProperties>
</file>