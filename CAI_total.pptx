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Light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Outfit" panose="020B0604020202020204" charset="0"/>
      <p:regular r:id="rId30"/>
      <p:bold r:id="rId31"/>
    </p:embeddedFont>
    <p:embeddedFont>
      <p:font typeface="Outfit ExtraBold" panose="020B0604020202020204" charset="0"/>
      <p:bold r:id="rId32"/>
    </p:embeddedFont>
    <p:embeddedFont>
      <p:font typeface="Outfit SemiBold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47C57E-7976-45F3-881B-9C3AD8AB43D1}">
  <a:tblStyle styleId="{6847C57E-7976-45F3-881B-9C3AD8AB43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8" name="Google Shape;3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E0809BA1-6B87-EEF5-25D8-DE5D707C8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A7193FD4-E3A2-4A61-63AD-6E76C5644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C585C09C-305D-36BC-665C-BA6A6FD819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697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6.png"/><Relationship Id="rId18" Type="http://schemas.openxmlformats.org/officeDocument/2006/relationships/hyperlink" Target="CAI%20slides/CAI_Hyunjin_Kim.pptx" TargetMode="External"/><Relationship Id="rId3" Type="http://schemas.openxmlformats.org/officeDocument/2006/relationships/image" Target="../media/image1.png"/><Relationship Id="rId21" Type="http://schemas.openxmlformats.org/officeDocument/2006/relationships/hyperlink" Target="CAI%20slides/CAI_EunseoChoi.pptx" TargetMode="External"/><Relationship Id="rId7" Type="http://schemas.openxmlformats.org/officeDocument/2006/relationships/hyperlink" Target="CAI%20slides/CAI_Geonmin%20KIM.pptx" TargetMode="External"/><Relationship Id="rId12" Type="http://schemas.openxmlformats.org/officeDocument/2006/relationships/image" Target="../media/image55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7.png"/><Relationship Id="rId20" Type="http://schemas.openxmlformats.org/officeDocument/2006/relationships/hyperlink" Target="CAI%20slides/CAI_Hyeokmin%20Lee.pptx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hyperlink" Target="CAI%20slides/CAI_Kyungbin%20Min.pptx" TargetMode="External"/><Relationship Id="rId5" Type="http://schemas.openxmlformats.org/officeDocument/2006/relationships/hyperlink" Target="CAI%20slides/CAI_Subin%20Hyun.pptx" TargetMode="External"/><Relationship Id="rId15" Type="http://schemas.openxmlformats.org/officeDocument/2006/relationships/hyperlink" Target="CAI%20slides/CAI_Jihun%20Kwon.pptx" TargetMode="External"/><Relationship Id="rId10" Type="http://schemas.openxmlformats.org/officeDocument/2006/relationships/image" Target="../media/image54.png"/><Relationship Id="rId19" Type="http://schemas.openxmlformats.org/officeDocument/2006/relationships/hyperlink" Target="CAI%20slides/CAI_Narim_Kim.pptx" TargetMode="External"/><Relationship Id="rId4" Type="http://schemas.openxmlformats.org/officeDocument/2006/relationships/image" Target="../media/image51.png"/><Relationship Id="rId9" Type="http://schemas.openxmlformats.org/officeDocument/2006/relationships/hyperlink" Target="CAI%20slides/CAI_Seoeun%20Jang.pptx" TargetMode="External"/><Relationship Id="rId14" Type="http://schemas.openxmlformats.org/officeDocument/2006/relationships/hyperlink" Target="CAI%20slides/CAI_JiyunLee.pptx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jp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2012" y="1595437"/>
            <a:ext cx="28479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135630" y="2243137"/>
            <a:ext cx="592074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CAI 2026 Opening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395662"/>
            <a:ext cx="762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From Learning Artificial Intelligence</a:t>
            </a:r>
            <a:endParaRPr sz="18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to Conducting Independent Research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381625" y="4786312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CWT AI Forum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4"/>
          <p:cNvGrpSpPr/>
          <p:nvPr/>
        </p:nvGrpSpPr>
        <p:grpSpPr>
          <a:xfrm>
            <a:off x="571500" y="1333500"/>
            <a:ext cx="11049000" cy="1047900"/>
            <a:chOff x="0" y="0"/>
            <a:chExt cx="11049000" cy="1047900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4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8125" y="190500"/>
              <a:ext cx="3810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4"/>
            <p:cNvSpPr txBox="1"/>
            <p:nvPr/>
          </p:nvSpPr>
          <p:spPr>
            <a:xfrm>
              <a:off x="809625" y="142875"/>
              <a:ext cx="1000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01. About CWT</a:t>
              </a:r>
              <a:endParaRPr sz="1800" b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Introduction to our student AI club, our mission, and our ultimate goals.</a:t>
              </a:r>
              <a:endParaRPr sz="13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571500" y="2524125"/>
            <a:ext cx="11049000" cy="1047900"/>
            <a:chOff x="0" y="0"/>
            <a:chExt cx="11049000" cy="1047900"/>
          </a:xfrm>
        </p:grpSpPr>
        <p:sp>
          <p:nvSpPr>
            <p:cNvPr id="99" name="Google Shape;99;p14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4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0" name="Google Shape;100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38125" y="190500"/>
              <a:ext cx="3429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4"/>
            <p:cNvSpPr txBox="1"/>
            <p:nvPr/>
          </p:nvSpPr>
          <p:spPr>
            <a:xfrm>
              <a:off x="809625" y="142875"/>
              <a:ext cx="1000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02. Semester 1 Overview</a:t>
              </a:r>
              <a:endParaRPr sz="1800" b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Building solid foundations through structured group studies and core theory sessions.</a:t>
              </a:r>
              <a:endParaRPr sz="13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571500" y="3714750"/>
            <a:ext cx="11049000" cy="1047900"/>
            <a:chOff x="0" y="0"/>
            <a:chExt cx="11049000" cy="1047900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4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4" name="Google Shape;104;p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38125" y="1905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4"/>
            <p:cNvSpPr txBox="1"/>
            <p:nvPr/>
          </p:nvSpPr>
          <p:spPr>
            <a:xfrm>
              <a:off x="809625" y="142875"/>
              <a:ext cx="1000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03. Semester 2 Overview</a:t>
              </a:r>
              <a:endParaRPr sz="1800" b="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Transitioning from pure learning to actively preparing for and conducting research.</a:t>
              </a:r>
              <a:endParaRPr sz="13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571500" y="4905375"/>
            <a:ext cx="11049000" cy="1047900"/>
            <a:chOff x="0" y="0"/>
            <a:chExt cx="11049000" cy="1047900"/>
          </a:xfrm>
        </p:grpSpPr>
        <p:sp>
          <p:nvSpPr>
            <p:cNvPr id="107" name="Google Shape;107;p14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name="adj" fmla="val 10909"/>
              </a:avLst>
            </a:prstGeom>
            <a:solidFill>
              <a:srgbClr val="1E293B">
                <a:alpha val="4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8" name="Google Shape;108;p1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38125" y="1905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4"/>
            <p:cNvSpPr txBox="1"/>
            <p:nvPr/>
          </p:nvSpPr>
          <p:spPr>
            <a:xfrm>
              <a:off x="809625" y="142875"/>
              <a:ext cx="1000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04. What is CAI?</a:t>
              </a:r>
              <a:endParaRPr sz="1800" b="0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An overview of the CWT AI Forum and what you can expect from today's event.</a:t>
              </a:r>
              <a:endParaRPr sz="135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0" name="Google Shape;110;p14"/>
          <p:cNvSpPr txBox="1"/>
          <p:nvPr/>
        </p:nvSpPr>
        <p:spPr>
          <a:xfrm>
            <a:off x="571500" y="4762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1461" y="3768779"/>
            <a:ext cx="2694076" cy="269407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2123182"/>
            <a:ext cx="56007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 student AI club dedicated to </a:t>
            </a:r>
            <a:r>
              <a:rPr lang="en-US" sz="24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learning</a:t>
            </a:r>
            <a:r>
              <a:rPr lang="en-US" sz="24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, </a:t>
            </a:r>
            <a:r>
              <a:rPr lang="en-US" sz="2400" b="0" i="0" u="none" strike="noStrike" cap="non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research</a:t>
            </a:r>
            <a:r>
              <a:rPr lang="en-US" sz="24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, and </a:t>
            </a:r>
            <a:r>
              <a:rPr lang="en-US" sz="24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collaboration</a:t>
            </a:r>
            <a:r>
              <a:rPr lang="en-US" sz="24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106042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Our primary goal is to provide a structured environment that helps members grow comprehensively in the field of Artificial Intelligence.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29400" y="597477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Learn AI Fundamentals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629400" y="1740477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Explore Diverse Fields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29400" y="2883477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Develop Research Interests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29400" y="4026477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Conduct Independent Projects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629400" y="5169477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Share Research Outcomes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0375" y="475863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2795587" y="5234880"/>
            <a:ext cx="8858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AI Growth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29400" y="1054677"/>
            <a:ext cx="4991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Establishing a strong baseline knowledge in machine learning and deep learning.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29400" y="2197677"/>
            <a:ext cx="4991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Discovering various AI sub-domains to find personal areas of passion.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629400" y="3340677"/>
            <a:ext cx="4991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Fostering academic curiosity and formulating unique research questions.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29400" y="4483677"/>
            <a:ext cx="4991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Applying theoretical knowledge to practical, hands-on self-projects.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629400" y="5626677"/>
            <a:ext cx="49911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Communicating findings effectively to peers and the broader community.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630814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177381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291681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405981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86500" y="520281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About CWT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4162"/>
            <a:ext cx="533400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585912"/>
            <a:ext cx="5334000" cy="2128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905250"/>
            <a:ext cx="5334000" cy="212883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1585912"/>
            <a:ext cx="5600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Group Study System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2157412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Five specialized study groups, each meticulously guided by a dedicated mentor:</a:t>
            </a:r>
            <a:endParaRPr/>
          </a:p>
        </p:txBody>
      </p:sp>
      <p:graphicFrame>
        <p:nvGraphicFramePr>
          <p:cNvPr id="147" name="Google Shape;147;p16"/>
          <p:cNvGraphicFramePr/>
          <p:nvPr/>
        </p:nvGraphicFramePr>
        <p:xfrm>
          <a:off x="581025" y="2833687"/>
          <a:ext cx="5314950" cy="3048000"/>
        </p:xfrm>
        <a:graphic>
          <a:graphicData uri="http://schemas.openxmlformats.org/drawingml/2006/table">
            <a:tbl>
              <a:tblPr firstRow="1" bandRow="1">
                <a:noFill/>
                <a:tableStyleId>{6847C57E-7976-45F3-881B-9C3AD8AB43D1}</a:tableStyleId>
              </a:tblPr>
              <a:tblGrid>
                <a:gridCol w="384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Study Group Focus Area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Abbrev.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Tabular Data Machine Learning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Computer Vision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Series 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TSA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Natural Language Processing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NLP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Reinforcement Learning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8" name="Google Shape;148;p16"/>
          <p:cNvSpPr txBox="1"/>
          <p:nvPr/>
        </p:nvSpPr>
        <p:spPr>
          <a:xfrm>
            <a:off x="6524625" y="1824037"/>
            <a:ext cx="51006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Theory Sessions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524625" y="4143375"/>
            <a:ext cx="51006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Self-Directed Learning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524625" y="4543425"/>
            <a:ext cx="48577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Members actively strengthened their understanding through curated online resources and rigorous independent study routines.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81025" y="3352800"/>
            <a:ext cx="384631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4427339" y="3352800"/>
            <a:ext cx="14686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185261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6619875" y="22240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715125" y="2224087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ML Basics, Data Types, and ML 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619875" y="25574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715125" y="2557462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Artificial Neural Networks (ANN)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619875" y="28908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715125" y="2890837"/>
            <a:ext cx="4667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Convolutional Neural Networks (CNN)</a:t>
            </a:r>
            <a:endParaRPr/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4625" y="41719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581025" y="3857625"/>
            <a:ext cx="384631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4427339" y="3857625"/>
            <a:ext cx="14686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581025" y="4362450"/>
            <a:ext cx="384631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4427339" y="4362450"/>
            <a:ext cx="14686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81025" y="4867275"/>
            <a:ext cx="384631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427339" y="4867275"/>
            <a:ext cx="14686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581025" y="5372100"/>
            <a:ext cx="384631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4427339" y="5372100"/>
            <a:ext cx="146863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Semester 1: Building Foundations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624130" y="3255999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6719380" y="3255999"/>
            <a:ext cx="4667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Alumni talk: Q&amp;A session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80;p17">
            <a:extLst>
              <a:ext uri="{FF2B5EF4-FFF2-40B4-BE49-F238E27FC236}">
                <a16:creationId xmlns:a16="http://schemas.microsoft.com/office/drawing/2014/main" id="{B93CA126-63D5-8242-7AA5-6F7B0C116732}"/>
              </a:ext>
            </a:extLst>
          </p:cNvPr>
          <p:cNvSpPr/>
          <p:nvPr/>
        </p:nvSpPr>
        <p:spPr>
          <a:xfrm>
            <a:off x="2260420" y="3397602"/>
            <a:ext cx="19200" cy="1000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90;p17" descr="image.png">
            <a:extLst>
              <a:ext uri="{FF2B5EF4-FFF2-40B4-BE49-F238E27FC236}">
                <a16:creationId xmlns:a16="http://schemas.microsoft.com/office/drawing/2014/main" id="{81BD11CF-F210-9A06-EF3F-6C05AE95D1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3745" y="4710359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571500" y="1309255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The pivotal transition phase: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From Learning to Research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2257425" y="2138795"/>
            <a:ext cx="19200" cy="1000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257425" y="4751265"/>
            <a:ext cx="19200" cy="1000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275" y="184352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2714625" y="1786370"/>
            <a:ext cx="7800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Reading AI Research Papers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2714625" y="2087064"/>
            <a:ext cx="74295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Learning the methodology of dissecting, understanding, and critiquing academic literature in Artificial Intelligence.</a:t>
            </a:r>
            <a:endParaRPr dirty="0"/>
          </a:p>
        </p:txBody>
      </p:sp>
      <p:pic>
        <p:nvPicPr>
          <p:cNvPr id="184" name="Google Shape;18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1225" y="327227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2714625" y="3215120"/>
            <a:ext cx="7800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Exploring Personal Interests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2714625" y="3515814"/>
            <a:ext cx="74295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Narrowing down broad AI topics to specific, actionable research questions that spark individual curiosity.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2714625" y="4398838"/>
            <a:ext cx="7800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Finding Teammates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2714625" y="4687582"/>
            <a:ext cx="74295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Networking within the club to form cohesive research groups with members sharing similar academic interests.</a:t>
            </a:r>
            <a:endParaRPr dirty="0"/>
          </a:p>
        </p:txBody>
      </p:sp>
      <p:pic>
        <p:nvPicPr>
          <p:cNvPr id="190" name="Google Shape;19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5848884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2714625" y="5498892"/>
            <a:ext cx="7800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Conducting Self-Projects</a:t>
            </a:r>
            <a:endParaRPr dirty="0"/>
          </a:p>
        </p:txBody>
      </p:sp>
      <p:sp>
        <p:nvSpPr>
          <p:cNvPr id="192" name="Google Shape;192;p17"/>
          <p:cNvSpPr txBox="1"/>
          <p:nvPr/>
        </p:nvSpPr>
        <p:spPr>
          <a:xfrm>
            <a:off x="2714625" y="5793610"/>
            <a:ext cx="74295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Designing experiments, writing code, and executing independent projects. 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This process successfully helped members transition from learners to researchers.</a:t>
            </a:r>
            <a:endParaRPr dirty="0"/>
          </a:p>
        </p:txBody>
      </p:sp>
      <p:sp>
        <p:nvSpPr>
          <p:cNvPr id="193" name="Google Shape;193;p17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Semester 2: Preparing for Research</a:t>
            </a:r>
            <a:endParaRPr/>
          </a:p>
        </p:txBody>
      </p:sp>
      <p:pic>
        <p:nvPicPr>
          <p:cNvPr id="194" name="Google Shape;19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47875" y="1710170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47875" y="3138920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47875" y="5392813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57412" y="4503796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047875" y="4370446"/>
            <a:ext cx="43815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110490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71850"/>
            <a:ext cx="5429250" cy="1404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371850"/>
            <a:ext cx="5429250" cy="1404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67287"/>
            <a:ext cx="5429250" cy="1404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4967287"/>
            <a:ext cx="5429250" cy="140493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571500" y="28575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CAI provides a comprehensive platform where members actively: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05313" y="1485900"/>
            <a:ext cx="10981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CAI (CWT AI Forum: Crush on AI)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809750" y="1914525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 student research forum that uniquely combines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Biological Sciences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500" b="0" i="0" u="none" strike="noStrike" cap="none">
                <a:solidFill>
                  <a:srgbClr val="818C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Technologies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211" name="Google Shape;21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19437" y="353377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605789" y="3895725"/>
            <a:ext cx="5360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Present Projects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733425" y="4257675"/>
            <a:ext cx="51054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Showcase their hard work and methodologies to an engaged audience.</a:t>
            </a:r>
            <a:endParaRPr/>
          </a:p>
        </p:txBody>
      </p:sp>
      <p:pic>
        <p:nvPicPr>
          <p:cNvPr id="214" name="Google Shape;21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86812" y="353377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6225539" y="3895725"/>
            <a:ext cx="5360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Share Ideas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6353175" y="4257675"/>
            <a:ext cx="51054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Exchange innovative findings and discuss potential future directions.</a:t>
            </a:r>
            <a:endParaRPr/>
          </a:p>
        </p:txBody>
      </p:sp>
      <p:pic>
        <p:nvPicPr>
          <p:cNvPr id="217" name="Google Shape;21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19437" y="51292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605789" y="5491162"/>
            <a:ext cx="5360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Receive Feedback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733425" y="5853112"/>
            <a:ext cx="51054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Get constructive criticism and valuable insights from peers and mentors.</a:t>
            </a:r>
            <a:endParaRPr/>
          </a:p>
        </p:txBody>
      </p:sp>
      <p:pic>
        <p:nvPicPr>
          <p:cNvPr id="220" name="Google Shape;220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72525" y="51292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6225539" y="5491162"/>
            <a:ext cx="5360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Academic Experience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6353175" y="5853112"/>
            <a:ext cx="51054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Experience formal, academic-style research communication and defense.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What is CAI?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476875"/>
            <a:ext cx="110490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62200"/>
            <a:ext cx="5381625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362200"/>
            <a:ext cx="5381625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571500" y="176212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Collaborative Research Structure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723900" y="5629275"/>
            <a:ext cx="10744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Today, each presenter will share the remarkable outcome of this research journey.</a:t>
            </a:r>
            <a:endParaRPr/>
          </a:p>
        </p:txBody>
      </p:sp>
      <p:pic>
        <p:nvPicPr>
          <p:cNvPr id="234" name="Google Shape;23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6384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1162050" y="2628900"/>
            <a:ext cx="101012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Members</a:t>
            </a:r>
            <a:endParaRPr/>
          </a:p>
        </p:txBody>
      </p:sp>
      <p:pic>
        <p:nvPicPr>
          <p:cNvPr id="236" name="Google Shape;23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77000" y="26384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6829425" y="2628900"/>
            <a:ext cx="89011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Mentors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152525" y="3105150"/>
            <a:ext cx="4562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Carefully selected individual or group research topics.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1152525" y="3514725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Conducted rigorous projects under the guidance of mentors.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152525" y="4181475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Prepared comprehensive presentation materials for the forum.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6819900" y="3105150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Provided continuous advice and steered member projects.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819900" y="3771900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Conducted their own advanced research projects in parallel.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6819900" y="4438650"/>
            <a:ext cx="4562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Participated in cross-functional, collaborative advising sessions.</a:t>
            </a:r>
            <a:endParaRPr/>
          </a:p>
        </p:txBody>
      </p:sp>
      <p:pic>
        <p:nvPicPr>
          <p:cNvPr id="244" name="Google Shape;24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31384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35480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42148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77000" y="31384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77000" y="3805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77000" y="44719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How CAI Works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6129"/>
            <a:ext cx="11049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571500" y="457572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Today marks the final stage of this incredible journey.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571500" y="510912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We hope you deeply enjoy the presentations and engage in the discussions.</a:t>
            </a:r>
            <a:endParaRPr/>
          </a:p>
        </p:txBody>
      </p:sp>
      <p:pic>
        <p:nvPicPr>
          <p:cNvPr id="259" name="Google Shape;25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1650" y="24502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1017091" y="2983665"/>
            <a:ext cx="9501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Foundation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Learning</a:t>
            </a:r>
            <a:endParaRPr/>
          </a:p>
        </p:txBody>
      </p:sp>
      <p:pic>
        <p:nvPicPr>
          <p:cNvPr id="261" name="Google Shape;26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3101" y="24502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3023562" y="2983665"/>
            <a:ext cx="6201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Group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Studies</a:t>
            </a:r>
            <a:endParaRPr/>
          </a:p>
        </p:txBody>
      </p:sp>
      <p:pic>
        <p:nvPicPr>
          <p:cNvPr id="263" name="Google Shape;26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4551" y="24502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0"/>
          <p:cNvSpPr txBox="1"/>
          <p:nvPr/>
        </p:nvSpPr>
        <p:spPr>
          <a:xfrm>
            <a:off x="4825007" y="2983665"/>
            <a:ext cx="7002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Paper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Reading</a:t>
            </a:r>
            <a:endParaRPr/>
          </a:p>
        </p:txBody>
      </p:sp>
      <p:pic>
        <p:nvPicPr>
          <p:cNvPr id="265" name="Google Shape;26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6001" y="24502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 txBox="1"/>
          <p:nvPr/>
        </p:nvSpPr>
        <p:spPr>
          <a:xfrm>
            <a:off x="6531441" y="2983665"/>
            <a:ext cx="9702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Research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Exploration</a:t>
            </a:r>
            <a:endParaRPr/>
          </a:p>
        </p:txBody>
      </p:sp>
      <p:pic>
        <p:nvPicPr>
          <p:cNvPr id="267" name="Google Shape;26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452" y="24502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8522910" y="2983665"/>
            <a:ext cx="670200" cy="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Self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Projects</a:t>
            </a:r>
            <a:endParaRPr/>
          </a:p>
        </p:txBody>
      </p:sp>
      <p:pic>
        <p:nvPicPr>
          <p:cNvPr id="269" name="Google Shape;26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08902" y="245026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0"/>
          <p:cNvSpPr txBox="1"/>
          <p:nvPr/>
        </p:nvSpPr>
        <p:spPr>
          <a:xfrm>
            <a:off x="10169336" y="2983665"/>
            <a:ext cx="1060200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CAI 2026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 Presentation</a:t>
            </a:r>
            <a:endParaRPr/>
          </a:p>
        </p:txBody>
      </p:sp>
      <p:pic>
        <p:nvPicPr>
          <p:cNvPr id="271" name="Google Shape;27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35000" y="257409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47876" y="2574090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108376" y="257409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49826" y="257409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72227" y="2574090"/>
            <a:ext cx="1714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642252" y="2574090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The Research Journey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/>
        </p:nvSpPr>
        <p:spPr>
          <a:xfrm>
            <a:off x="571500" y="47625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Event Schedule</a:t>
            </a:r>
            <a:endParaRPr sz="3000" b="1">
              <a:solidFill>
                <a:srgbClr val="38BDF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84" name="Google Shape;284;p21"/>
          <p:cNvGrpSpPr/>
          <p:nvPr/>
        </p:nvGrpSpPr>
        <p:grpSpPr>
          <a:xfrm>
            <a:off x="571500" y="1524000"/>
            <a:ext cx="11049000" cy="3619425"/>
            <a:chOff x="0" y="0"/>
            <a:chExt cx="11049000" cy="3619425"/>
          </a:xfrm>
        </p:grpSpPr>
        <p:grpSp>
          <p:nvGrpSpPr>
            <p:cNvPr id="285" name="Google Shape;285;p21"/>
            <p:cNvGrpSpPr/>
            <p:nvPr/>
          </p:nvGrpSpPr>
          <p:grpSpPr>
            <a:xfrm>
              <a:off x="0" y="0"/>
              <a:ext cx="11049000" cy="523800"/>
              <a:chOff x="0" y="0"/>
              <a:chExt cx="11049000" cy="523800"/>
            </a:xfrm>
          </p:grpSpPr>
          <p:sp>
            <p:nvSpPr>
              <p:cNvPr id="286" name="Google Shape;286;p21"/>
              <p:cNvSpPr/>
              <p:nvPr/>
            </p:nvSpPr>
            <p:spPr>
              <a:xfrm>
                <a:off x="0" y="0"/>
                <a:ext cx="11049000" cy="523800"/>
              </a:xfrm>
              <a:prstGeom prst="roundRect">
                <a:avLst>
                  <a:gd name="adj" fmla="val 14545"/>
                </a:avLst>
              </a:prstGeom>
              <a:solidFill>
                <a:srgbClr val="1E293B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1"/>
              <p:cNvSpPr txBox="1"/>
              <p:nvPr/>
            </p:nvSpPr>
            <p:spPr>
              <a:xfrm>
                <a:off x="0" y="0"/>
                <a:ext cx="110490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381000" tIns="0" rIns="38100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818CF8"/>
                    </a:solidFill>
                    <a:latin typeface="Inter"/>
                    <a:ea typeface="Inter"/>
                    <a:cs typeface="Inter"/>
                    <a:sym typeface="Inter"/>
                  </a:rPr>
                  <a:t>10:30							</a:t>
                </a:r>
                <a:r>
                  <a:rPr lang="en-US" sz="1600" b="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Venue setup &amp; rehearsal</a:t>
                </a:r>
                <a:endParaRPr sz="1600" b="1">
                  <a:solidFill>
                    <a:srgbClr val="818C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88" name="Google Shape;288;p21"/>
            <p:cNvGrpSpPr/>
            <p:nvPr/>
          </p:nvGrpSpPr>
          <p:grpSpPr>
            <a:xfrm>
              <a:off x="0" y="619125"/>
              <a:ext cx="11049000" cy="523800"/>
              <a:chOff x="0" y="0"/>
              <a:chExt cx="11049000" cy="523800"/>
            </a:xfrm>
          </p:grpSpPr>
          <p:sp>
            <p:nvSpPr>
              <p:cNvPr id="289" name="Google Shape;289;p21"/>
              <p:cNvSpPr/>
              <p:nvPr/>
            </p:nvSpPr>
            <p:spPr>
              <a:xfrm>
                <a:off x="0" y="0"/>
                <a:ext cx="11049000" cy="523800"/>
              </a:xfrm>
              <a:prstGeom prst="roundRect">
                <a:avLst>
                  <a:gd name="adj" fmla="val 14545"/>
                </a:avLst>
              </a:prstGeom>
              <a:solidFill>
                <a:srgbClr val="1E293B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1"/>
              <p:cNvSpPr txBox="1"/>
              <p:nvPr/>
            </p:nvSpPr>
            <p:spPr>
              <a:xfrm>
                <a:off x="0" y="0"/>
                <a:ext cx="110490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381000" tIns="0" rIns="38100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818CF8"/>
                    </a:solidFill>
                    <a:latin typeface="Inter"/>
                    <a:ea typeface="Inter"/>
                    <a:cs typeface="Inter"/>
                    <a:sym typeface="Inter"/>
                  </a:rPr>
                  <a:t>11:00 - 11:05						</a:t>
                </a:r>
                <a:r>
                  <a:rPr lang="en-US" sz="1600" b="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Opening Ceremony</a:t>
                </a:r>
                <a:endParaRPr sz="1600" b="1">
                  <a:solidFill>
                    <a:srgbClr val="818C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1" name="Google Shape;291;p21"/>
            <p:cNvGrpSpPr/>
            <p:nvPr/>
          </p:nvGrpSpPr>
          <p:grpSpPr>
            <a:xfrm>
              <a:off x="0" y="1238250"/>
              <a:ext cx="11049000" cy="523800"/>
              <a:chOff x="0" y="0"/>
              <a:chExt cx="11049000" cy="523800"/>
            </a:xfrm>
          </p:grpSpPr>
          <p:sp>
            <p:nvSpPr>
              <p:cNvPr id="292" name="Google Shape;292;p21"/>
              <p:cNvSpPr/>
              <p:nvPr/>
            </p:nvSpPr>
            <p:spPr>
              <a:xfrm>
                <a:off x="0" y="0"/>
                <a:ext cx="11049000" cy="523800"/>
              </a:xfrm>
              <a:prstGeom prst="roundRect">
                <a:avLst>
                  <a:gd name="adj" fmla="val 14545"/>
                </a:avLst>
              </a:prstGeom>
              <a:solidFill>
                <a:srgbClr val="38BDF8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1"/>
              <p:cNvSpPr txBox="1"/>
              <p:nvPr/>
            </p:nvSpPr>
            <p:spPr>
              <a:xfrm>
                <a:off x="0" y="0"/>
                <a:ext cx="110490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381000" tIns="0" rIns="38100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 dirty="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11:05 - 12:30						</a:t>
                </a:r>
                <a:r>
                  <a:rPr lang="en-US" sz="1600" b="0" dirty="0">
                    <a:solidFill>
                      <a:srgbClr val="F8FAF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Session 1 Presentations</a:t>
                </a:r>
                <a:endParaRPr sz="16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4" name="Google Shape;294;p21"/>
            <p:cNvGrpSpPr/>
            <p:nvPr/>
          </p:nvGrpSpPr>
          <p:grpSpPr>
            <a:xfrm>
              <a:off x="0" y="1857375"/>
              <a:ext cx="11049000" cy="523800"/>
              <a:chOff x="0" y="0"/>
              <a:chExt cx="11049000" cy="523800"/>
            </a:xfrm>
          </p:grpSpPr>
          <p:sp>
            <p:nvSpPr>
              <p:cNvPr id="295" name="Google Shape;295;p21"/>
              <p:cNvSpPr/>
              <p:nvPr/>
            </p:nvSpPr>
            <p:spPr>
              <a:xfrm>
                <a:off x="0" y="0"/>
                <a:ext cx="11049000" cy="523800"/>
              </a:xfrm>
              <a:prstGeom prst="roundRect">
                <a:avLst>
                  <a:gd name="adj" fmla="val 14545"/>
                </a:avLst>
              </a:prstGeom>
              <a:solidFill>
                <a:srgbClr val="1E293B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1"/>
              <p:cNvSpPr txBox="1"/>
              <p:nvPr/>
            </p:nvSpPr>
            <p:spPr>
              <a:xfrm>
                <a:off x="0" y="0"/>
                <a:ext cx="110490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381000" tIns="0" rIns="38100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818CF8"/>
                    </a:solidFill>
                    <a:latin typeface="Inter"/>
                    <a:ea typeface="Inter"/>
                    <a:cs typeface="Inter"/>
                    <a:sym typeface="Inter"/>
                  </a:rPr>
                  <a:t>12:30 - 12:45						</a:t>
                </a:r>
                <a:r>
                  <a:rPr lang="en-US" sz="1600" b="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Intermission</a:t>
                </a:r>
                <a:endParaRPr sz="1600" b="1">
                  <a:solidFill>
                    <a:srgbClr val="818C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7" name="Google Shape;297;p21"/>
            <p:cNvGrpSpPr/>
            <p:nvPr/>
          </p:nvGrpSpPr>
          <p:grpSpPr>
            <a:xfrm>
              <a:off x="0" y="2476500"/>
              <a:ext cx="11049000" cy="523800"/>
              <a:chOff x="0" y="0"/>
              <a:chExt cx="11049000" cy="523800"/>
            </a:xfrm>
          </p:grpSpPr>
          <p:sp>
            <p:nvSpPr>
              <p:cNvPr id="298" name="Google Shape;298;p21"/>
              <p:cNvSpPr/>
              <p:nvPr/>
            </p:nvSpPr>
            <p:spPr>
              <a:xfrm>
                <a:off x="0" y="0"/>
                <a:ext cx="11049000" cy="523800"/>
              </a:xfrm>
              <a:prstGeom prst="roundRect">
                <a:avLst>
                  <a:gd name="adj" fmla="val 14545"/>
                </a:avLst>
              </a:prstGeom>
              <a:solidFill>
                <a:srgbClr val="38BDF8">
                  <a:alpha val="1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1"/>
              <p:cNvSpPr txBox="1"/>
              <p:nvPr/>
            </p:nvSpPr>
            <p:spPr>
              <a:xfrm>
                <a:off x="0" y="0"/>
                <a:ext cx="110490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381000" tIns="0" rIns="38100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12:45 - 14:00						</a:t>
                </a:r>
                <a:r>
                  <a:rPr lang="en-US" sz="1600" b="0">
                    <a:solidFill>
                      <a:srgbClr val="F8FAF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Session 2 Presentations</a:t>
                </a:r>
                <a:endParaRPr sz="16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0" name="Google Shape;300;p21"/>
            <p:cNvGrpSpPr/>
            <p:nvPr/>
          </p:nvGrpSpPr>
          <p:grpSpPr>
            <a:xfrm>
              <a:off x="0" y="3095625"/>
              <a:ext cx="11049000" cy="523800"/>
              <a:chOff x="0" y="0"/>
              <a:chExt cx="11049000" cy="523800"/>
            </a:xfrm>
          </p:grpSpPr>
          <p:sp>
            <p:nvSpPr>
              <p:cNvPr id="301" name="Google Shape;301;p21"/>
              <p:cNvSpPr/>
              <p:nvPr/>
            </p:nvSpPr>
            <p:spPr>
              <a:xfrm>
                <a:off x="0" y="0"/>
                <a:ext cx="11049000" cy="523800"/>
              </a:xfrm>
              <a:prstGeom prst="roundRect">
                <a:avLst>
                  <a:gd name="adj" fmla="val 14545"/>
                </a:avLst>
              </a:prstGeom>
              <a:solidFill>
                <a:srgbClr val="1E293B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1"/>
              <p:cNvSpPr txBox="1"/>
              <p:nvPr/>
            </p:nvSpPr>
            <p:spPr>
              <a:xfrm>
                <a:off x="0" y="0"/>
                <a:ext cx="11049000" cy="523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381000" tIns="0" rIns="38100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818CF8"/>
                    </a:solidFill>
                    <a:latin typeface="Inter"/>
                    <a:ea typeface="Inter"/>
                    <a:cs typeface="Inter"/>
                    <a:sym typeface="Inter"/>
                  </a:rPr>
                  <a:t>14:00 - 15:00						</a:t>
                </a:r>
                <a:r>
                  <a:rPr lang="en-US" sz="1600" b="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Networking &amp; Closing</a:t>
                </a:r>
                <a:endParaRPr sz="1600" b="1">
                  <a:solidFill>
                    <a:srgbClr val="818C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03" name="Google Shape;303;p21"/>
          <p:cNvGrpSpPr/>
          <p:nvPr/>
        </p:nvGrpSpPr>
        <p:grpSpPr>
          <a:xfrm>
            <a:off x="571500" y="5524500"/>
            <a:ext cx="11049000" cy="762000"/>
            <a:chOff x="0" y="0"/>
            <a:chExt cx="11049000" cy="762000"/>
          </a:xfrm>
        </p:grpSpPr>
        <p:sp>
          <p:nvSpPr>
            <p:cNvPr id="304" name="Google Shape;304;p21"/>
            <p:cNvSpPr/>
            <p:nvPr/>
          </p:nvSpPr>
          <p:spPr>
            <a:xfrm>
              <a:off x="0" y="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 txBox="1"/>
            <p:nvPr/>
          </p:nvSpPr>
          <p:spPr>
            <a:xfrm>
              <a:off x="0" y="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Each presentation consists of </a:t>
              </a:r>
              <a:r>
                <a:rPr lang="en-US" sz="1500" b="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10 minutes</a:t>
              </a:r>
              <a:r>
                <a:rPr lang="en-US" sz="15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of speaking and </a:t>
              </a:r>
              <a:r>
                <a:rPr lang="en-US" sz="1500" b="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 minutes</a:t>
              </a:r>
              <a:r>
                <a:rPr lang="en-US" sz="15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for Q&amp;A.</a:t>
              </a:r>
              <a:endParaRPr sz="15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9D5A52BE-86F0-1127-230D-C14C7D572471}"/>
              </a:ext>
            </a:extLst>
          </p:cNvPr>
          <p:cNvGrpSpPr/>
          <p:nvPr/>
        </p:nvGrpSpPr>
        <p:grpSpPr>
          <a:xfrm>
            <a:off x="569119" y="1807808"/>
            <a:ext cx="5381625" cy="921841"/>
            <a:chOff x="571500" y="1520428"/>
            <a:chExt cx="5381625" cy="921841"/>
          </a:xfrm>
        </p:grpSpPr>
        <p:pic>
          <p:nvPicPr>
            <p:cNvPr id="311" name="Google Shape;311;p22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500" y="1520428"/>
              <a:ext cx="5381625" cy="921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22"/>
            <p:cNvSpPr txBox="1"/>
            <p:nvPr/>
          </p:nvSpPr>
          <p:spPr>
            <a:xfrm>
              <a:off x="800100" y="1653778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33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Subin Hyun, Eugene Kim, Suah Kim</a:t>
              </a:r>
              <a:endParaRPr dirty="0"/>
            </a:p>
          </p:txBody>
        </p:sp>
        <p:sp>
          <p:nvSpPr>
            <p:cNvPr id="322" name="Google Shape;322;p22">
              <a:hlinkClick r:id="rId5" action="ppaction://hlinkpres?slideindex=1&amp;slidetitle="/>
            </p:cNvPr>
            <p:cNvSpPr txBox="1"/>
            <p:nvPr/>
          </p:nvSpPr>
          <p:spPr>
            <a:xfrm>
              <a:off x="800100" y="1882378"/>
              <a:ext cx="49626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Spatial Transcriptomics on Breast Cancer Dataset</a:t>
              </a:r>
              <a:endParaRPr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: Histology to Gene expression</a:t>
              </a:r>
              <a:endParaRPr dirty="0"/>
            </a:p>
          </p:txBody>
        </p:sp>
        <p:pic>
          <p:nvPicPr>
            <p:cNvPr id="341" name="Google Shape;341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00100" y="1672828"/>
              <a:ext cx="176212" cy="13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B4C643A-2135-7E60-50B3-5A36B93B34E1}"/>
              </a:ext>
            </a:extLst>
          </p:cNvPr>
          <p:cNvGrpSpPr/>
          <p:nvPr/>
        </p:nvGrpSpPr>
        <p:grpSpPr>
          <a:xfrm>
            <a:off x="569119" y="2876204"/>
            <a:ext cx="5381625" cy="921841"/>
            <a:chOff x="6238875" y="1520428"/>
            <a:chExt cx="5381625" cy="921841"/>
          </a:xfrm>
        </p:grpSpPr>
        <p:pic>
          <p:nvPicPr>
            <p:cNvPr id="312" name="Google Shape;312;p22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38875" y="1520428"/>
              <a:ext cx="5381625" cy="921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2"/>
            <p:cNvSpPr txBox="1"/>
            <p:nvPr/>
          </p:nvSpPr>
          <p:spPr>
            <a:xfrm>
              <a:off x="6467475" y="1653778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33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 dirty="0" err="1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Geonmin</a:t>
              </a:r>
              <a:r>
                <a:rPr lang="en-US" sz="1050" b="0" i="0" u="none" strike="noStrike" cap="none" dirty="0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 Kim, Jisoo Park</a:t>
              </a:r>
              <a:endParaRPr dirty="0"/>
            </a:p>
          </p:txBody>
        </p:sp>
        <p:sp>
          <p:nvSpPr>
            <p:cNvPr id="324" name="Google Shape;324;p22">
              <a:hlinkClick r:id="rId7" action="ppaction://hlinkpres?slideindex=1&amp;slidetitle="/>
            </p:cNvPr>
            <p:cNvSpPr txBox="1"/>
            <p:nvPr/>
          </p:nvSpPr>
          <p:spPr>
            <a:xfrm>
              <a:off x="6467475" y="1882378"/>
              <a:ext cx="49626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Reading DNA as Images</a:t>
              </a:r>
              <a:endParaRPr sz="12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: Overcoming Linear Data Limits with FCGR and CV</a:t>
              </a:r>
              <a:endParaRPr dirty="0"/>
            </a:p>
          </p:txBody>
        </p:sp>
        <p:pic>
          <p:nvPicPr>
            <p:cNvPr id="342" name="Google Shape;342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467475" y="1672828"/>
              <a:ext cx="176212" cy="13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510BC-16CB-CB93-E815-FD467799DEDF}"/>
              </a:ext>
            </a:extLst>
          </p:cNvPr>
          <p:cNvGrpSpPr/>
          <p:nvPr/>
        </p:nvGrpSpPr>
        <p:grpSpPr>
          <a:xfrm>
            <a:off x="569119" y="3944600"/>
            <a:ext cx="5381625" cy="708570"/>
            <a:chOff x="571500" y="2594669"/>
            <a:chExt cx="5381625" cy="708570"/>
          </a:xfrm>
        </p:grpSpPr>
        <p:pic>
          <p:nvPicPr>
            <p:cNvPr id="313" name="Google Shape;313;p22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1500" y="2594669"/>
              <a:ext cx="5381625" cy="708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2"/>
            <p:cNvSpPr txBox="1"/>
            <p:nvPr/>
          </p:nvSpPr>
          <p:spPr>
            <a:xfrm>
              <a:off x="800100" y="2728019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62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Seoeun Jang</a:t>
              </a:r>
              <a:endParaRPr/>
            </a:p>
          </p:txBody>
        </p:sp>
        <p:sp>
          <p:nvSpPr>
            <p:cNvPr id="326" name="Google Shape;326;p22">
              <a:hlinkClick r:id="rId9" action="ppaction://hlinkpres?slideindex=1&amp;slidetitle="/>
            </p:cNvPr>
            <p:cNvSpPr txBox="1"/>
            <p:nvPr/>
          </p:nvSpPr>
          <p:spPr>
            <a:xfrm>
              <a:off x="800100" y="2956619"/>
              <a:ext cx="4962525" cy="213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Virtual staining for histology by deep learning</a:t>
              </a:r>
              <a:endParaRPr dirty="0"/>
            </a:p>
          </p:txBody>
        </p:sp>
        <p:pic>
          <p:nvPicPr>
            <p:cNvPr id="343" name="Google Shape;343;p22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00100" y="2747069"/>
              <a:ext cx="119062" cy="13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2C6D89C-619C-4674-653E-FB6213B24A52}"/>
              </a:ext>
            </a:extLst>
          </p:cNvPr>
          <p:cNvGrpSpPr/>
          <p:nvPr/>
        </p:nvGrpSpPr>
        <p:grpSpPr>
          <a:xfrm>
            <a:off x="569119" y="4799725"/>
            <a:ext cx="5381625" cy="708570"/>
            <a:chOff x="6238875" y="2594669"/>
            <a:chExt cx="5381625" cy="708570"/>
          </a:xfrm>
        </p:grpSpPr>
        <p:pic>
          <p:nvPicPr>
            <p:cNvPr id="314" name="Google Shape;314;p22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238875" y="2594669"/>
              <a:ext cx="5381625" cy="708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22"/>
            <p:cNvSpPr txBox="1"/>
            <p:nvPr/>
          </p:nvSpPr>
          <p:spPr>
            <a:xfrm>
              <a:off x="6467475" y="2728019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33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Esther Ju, Kyungbin Min</a:t>
              </a:r>
              <a:endParaRPr/>
            </a:p>
          </p:txBody>
        </p:sp>
        <p:sp>
          <p:nvSpPr>
            <p:cNvPr id="328" name="Google Shape;328;p22">
              <a:hlinkClick r:id="rId11" action="ppaction://hlinkpres?slideindex=1&amp;slidetitle="/>
            </p:cNvPr>
            <p:cNvSpPr txBox="1"/>
            <p:nvPr/>
          </p:nvSpPr>
          <p:spPr>
            <a:xfrm>
              <a:off x="6467475" y="2956619"/>
              <a:ext cx="4962525" cy="213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Research flow of </a:t>
              </a:r>
              <a:r>
                <a:rPr lang="en-US" sz="1200" b="0" i="0" u="none" strike="noStrike" cap="none" dirty="0" err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Alphafold</a:t>
              </a: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: from </a:t>
              </a:r>
              <a:r>
                <a:rPr lang="en-US" sz="1200" b="0" i="0" u="none" strike="noStrike" cap="none" dirty="0" err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Alphafold</a:t>
              </a: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1 to </a:t>
              </a:r>
              <a:r>
                <a:rPr lang="en-US" sz="1200" b="0" i="0" u="none" strike="noStrike" cap="none" dirty="0" err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Alphafold</a:t>
              </a: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3</a:t>
              </a:r>
              <a:endParaRPr dirty="0"/>
            </a:p>
          </p:txBody>
        </p:sp>
        <p:pic>
          <p:nvPicPr>
            <p:cNvPr id="344" name="Google Shape;344;p22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467475" y="2747069"/>
              <a:ext cx="176212" cy="13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6D12597-F523-C5FD-6D91-4B98F7F250D6}"/>
              </a:ext>
            </a:extLst>
          </p:cNvPr>
          <p:cNvGrpSpPr/>
          <p:nvPr/>
        </p:nvGrpSpPr>
        <p:grpSpPr>
          <a:xfrm>
            <a:off x="569119" y="5654851"/>
            <a:ext cx="5381625" cy="708570"/>
            <a:chOff x="571500" y="3455640"/>
            <a:chExt cx="5381625" cy="708570"/>
          </a:xfrm>
        </p:grpSpPr>
        <p:pic>
          <p:nvPicPr>
            <p:cNvPr id="315" name="Google Shape;315;p22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71500" y="3455640"/>
              <a:ext cx="5381625" cy="708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22"/>
            <p:cNvSpPr txBox="1"/>
            <p:nvPr/>
          </p:nvSpPr>
          <p:spPr>
            <a:xfrm>
              <a:off x="800100" y="3588990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33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Dokyeong Kim, Jiyun Lee</a:t>
              </a:r>
              <a:endParaRPr/>
            </a:p>
          </p:txBody>
        </p:sp>
        <p:sp>
          <p:nvSpPr>
            <p:cNvPr id="330" name="Google Shape;330;p22">
              <a:hlinkClick r:id="rId14" action="ppaction://hlinkpres?slideindex=1&amp;slidetitle="/>
            </p:cNvPr>
            <p:cNvSpPr txBox="1"/>
            <p:nvPr/>
          </p:nvSpPr>
          <p:spPr>
            <a:xfrm>
              <a:off x="800100" y="3817590"/>
              <a:ext cx="4962525" cy="213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B-cell Epitope Identification Using Deep Learning Models</a:t>
              </a:r>
              <a:endParaRPr dirty="0"/>
            </a:p>
          </p:txBody>
        </p:sp>
        <p:pic>
          <p:nvPicPr>
            <p:cNvPr id="345" name="Google Shape;345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00100" y="3608040"/>
              <a:ext cx="176212" cy="13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6D921D1-E1C7-B5F1-1937-D521EB475B71}"/>
              </a:ext>
            </a:extLst>
          </p:cNvPr>
          <p:cNvGrpSpPr/>
          <p:nvPr/>
        </p:nvGrpSpPr>
        <p:grpSpPr>
          <a:xfrm>
            <a:off x="6278628" y="1824943"/>
            <a:ext cx="5381625" cy="708570"/>
            <a:chOff x="6278628" y="1537563"/>
            <a:chExt cx="5381625" cy="708570"/>
          </a:xfrm>
        </p:grpSpPr>
        <p:pic>
          <p:nvPicPr>
            <p:cNvPr id="316" name="Google Shape;316;p22" descr="image.png"/>
            <p:cNvPicPr preferRelativeResize="0"/>
            <p:nvPr/>
          </p:nvPicPr>
          <p:blipFill rotWithShape="1">
            <a:blip r:embed="rId13">
              <a:alphaModFix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6278628" y="1537563"/>
              <a:ext cx="5381625" cy="708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22"/>
            <p:cNvSpPr txBox="1"/>
            <p:nvPr/>
          </p:nvSpPr>
          <p:spPr>
            <a:xfrm>
              <a:off x="6507228" y="1670913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62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Jihun Kwon</a:t>
              </a:r>
              <a:endParaRPr/>
            </a:p>
          </p:txBody>
        </p:sp>
        <p:sp>
          <p:nvSpPr>
            <p:cNvPr id="332" name="Google Shape;332;p22">
              <a:hlinkClick r:id="rId15" action="ppaction://hlinkpres?slideindex=1&amp;slidetitle="/>
            </p:cNvPr>
            <p:cNvSpPr txBox="1"/>
            <p:nvPr/>
          </p:nvSpPr>
          <p:spPr>
            <a:xfrm>
              <a:off x="6507228" y="1899513"/>
              <a:ext cx="4962525" cy="213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De novo Design of alternative enzyme of </a:t>
              </a:r>
              <a:r>
                <a:rPr lang="en-US" sz="1200" b="0" i="0" u="none" strike="noStrike" cap="none" dirty="0" err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GCase</a:t>
              </a: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and screening</a:t>
              </a:r>
              <a:endParaRPr dirty="0"/>
            </a:p>
          </p:txBody>
        </p:sp>
        <p:pic>
          <p:nvPicPr>
            <p:cNvPr id="346" name="Google Shape;346;p22" descr="image.pn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6507228" y="1689963"/>
              <a:ext cx="119062" cy="13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F7C346C-7E98-01A6-F2FB-55A3E9BB9520}"/>
              </a:ext>
            </a:extLst>
          </p:cNvPr>
          <p:cNvGrpSpPr/>
          <p:nvPr/>
        </p:nvGrpSpPr>
        <p:grpSpPr>
          <a:xfrm>
            <a:off x="6278628" y="2676714"/>
            <a:ext cx="5381625" cy="921841"/>
            <a:chOff x="6278628" y="2356132"/>
            <a:chExt cx="5381625" cy="921841"/>
          </a:xfrm>
        </p:grpSpPr>
        <p:pic>
          <p:nvPicPr>
            <p:cNvPr id="317" name="Google Shape;317;p22" descr="image.png"/>
            <p:cNvPicPr preferRelativeResize="0"/>
            <p:nvPr/>
          </p:nvPicPr>
          <p:blipFill rotWithShape="1">
            <a:blip r:embed="rId17">
              <a:alphaModFix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6278628" y="2356132"/>
              <a:ext cx="5381625" cy="921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22"/>
            <p:cNvSpPr txBox="1"/>
            <p:nvPr/>
          </p:nvSpPr>
          <p:spPr>
            <a:xfrm>
              <a:off x="6507228" y="2489482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33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Hyeonbon Khoo, Hyunjin Kim</a:t>
              </a:r>
              <a:endParaRPr/>
            </a:p>
          </p:txBody>
        </p:sp>
        <p:sp>
          <p:nvSpPr>
            <p:cNvPr id="334" name="Google Shape;334;p22">
              <a:hlinkClick r:id="rId18" action="ppaction://hlinkpres?slideindex=1&amp;slidetitle="/>
            </p:cNvPr>
            <p:cNvSpPr txBox="1"/>
            <p:nvPr/>
          </p:nvSpPr>
          <p:spPr>
            <a:xfrm>
              <a:off x="6507228" y="2718082"/>
              <a:ext cx="49626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 err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BoltzGen</a:t>
              </a: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: AI-Driven De Novo Binder Design and Its Potential in Pharmaceutical</a:t>
              </a:r>
              <a:r>
                <a:rPr lang="en-US" sz="1200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&amp; Biomarker Applications </a:t>
              </a:r>
              <a:endParaRPr dirty="0"/>
            </a:p>
          </p:txBody>
        </p:sp>
        <p:pic>
          <p:nvPicPr>
            <p:cNvPr id="347" name="Google Shape;347;p22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507228" y="2508532"/>
              <a:ext cx="176212" cy="13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6C427C9-EAF7-7517-87E2-CA8A2DF9C111}"/>
              </a:ext>
            </a:extLst>
          </p:cNvPr>
          <p:cNvGrpSpPr/>
          <p:nvPr/>
        </p:nvGrpSpPr>
        <p:grpSpPr>
          <a:xfrm>
            <a:off x="6278628" y="3741756"/>
            <a:ext cx="5381625" cy="941503"/>
            <a:chOff x="6278628" y="3472875"/>
            <a:chExt cx="5381625" cy="941503"/>
          </a:xfrm>
        </p:grpSpPr>
        <p:pic>
          <p:nvPicPr>
            <p:cNvPr id="318" name="Google Shape;318;p22" descr="image.png"/>
            <p:cNvPicPr preferRelativeResize="0"/>
            <p:nvPr/>
          </p:nvPicPr>
          <p:blipFill rotWithShape="1">
            <a:blip r:embed="rId8">
              <a:alphaModFix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6278628" y="3472875"/>
              <a:ext cx="5381625" cy="9415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22"/>
            <p:cNvSpPr txBox="1"/>
            <p:nvPr/>
          </p:nvSpPr>
          <p:spPr>
            <a:xfrm>
              <a:off x="6507228" y="3606226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62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Narim Kim</a:t>
              </a:r>
              <a:endParaRPr/>
            </a:p>
          </p:txBody>
        </p:sp>
        <p:sp>
          <p:nvSpPr>
            <p:cNvPr id="336" name="Google Shape;336;p22">
              <a:hlinkClick r:id="rId19" action="ppaction://hlinkpres?slideindex=1&amp;slidetitle="/>
            </p:cNvPr>
            <p:cNvSpPr txBox="1"/>
            <p:nvPr/>
          </p:nvSpPr>
          <p:spPr>
            <a:xfrm>
              <a:off x="6507229" y="3834826"/>
              <a:ext cx="4720298" cy="5170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39916"/>
                </a:lnSpc>
              </a:pPr>
              <a:r>
                <a:rPr lang="en-US" sz="1200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AI-guided gRNA Design for Optimized CRISPR-Cas-based Pathogen Detection</a:t>
              </a:r>
              <a:endParaRPr dirty="0"/>
            </a:p>
          </p:txBody>
        </p:sp>
        <p:pic>
          <p:nvPicPr>
            <p:cNvPr id="348" name="Google Shape;348;p22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507228" y="3625276"/>
              <a:ext cx="119062" cy="13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FAE256-3080-ED40-717D-23AEC96ED9E0}"/>
              </a:ext>
            </a:extLst>
          </p:cNvPr>
          <p:cNvGrpSpPr/>
          <p:nvPr/>
        </p:nvGrpSpPr>
        <p:grpSpPr>
          <a:xfrm>
            <a:off x="6278628" y="4826460"/>
            <a:ext cx="5381625" cy="708570"/>
            <a:chOff x="6278628" y="4578814"/>
            <a:chExt cx="5381625" cy="708570"/>
          </a:xfrm>
        </p:grpSpPr>
        <p:pic>
          <p:nvPicPr>
            <p:cNvPr id="319" name="Google Shape;319;p22" descr="image.png"/>
            <p:cNvPicPr preferRelativeResize="0"/>
            <p:nvPr/>
          </p:nvPicPr>
          <p:blipFill rotWithShape="1">
            <a:blip r:embed="rId13">
              <a:alphaModFix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6278628" y="4578814"/>
              <a:ext cx="5381625" cy="708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22"/>
            <p:cNvSpPr txBox="1"/>
            <p:nvPr/>
          </p:nvSpPr>
          <p:spPr>
            <a:xfrm>
              <a:off x="6507228" y="4712164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333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Hyoeun Lim, Hyeokmin Lee</a:t>
              </a:r>
              <a:endParaRPr/>
            </a:p>
          </p:txBody>
        </p:sp>
        <p:sp>
          <p:nvSpPr>
            <p:cNvPr id="338" name="Google Shape;338;p22">
              <a:hlinkClick r:id="rId20" action="ppaction://hlinkpres?slideindex=1&amp;slidetitle="/>
            </p:cNvPr>
            <p:cNvSpPr txBox="1"/>
            <p:nvPr/>
          </p:nvSpPr>
          <p:spPr>
            <a:xfrm>
              <a:off x="6507228" y="4940764"/>
              <a:ext cx="4962525" cy="213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 Graph Neural Network for Molecular Property Prediction</a:t>
              </a:r>
              <a:endParaRPr dirty="0"/>
            </a:p>
          </p:txBody>
        </p:sp>
        <p:pic>
          <p:nvPicPr>
            <p:cNvPr id="349" name="Google Shape;349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507228" y="4731214"/>
              <a:ext cx="176212" cy="133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B5C5FE0-4704-F98F-5A5E-7D7444E7A31F}"/>
              </a:ext>
            </a:extLst>
          </p:cNvPr>
          <p:cNvGrpSpPr/>
          <p:nvPr/>
        </p:nvGrpSpPr>
        <p:grpSpPr>
          <a:xfrm>
            <a:off x="6278628" y="5678232"/>
            <a:ext cx="5381625" cy="708570"/>
            <a:chOff x="6278628" y="5390852"/>
            <a:chExt cx="5381625" cy="708570"/>
          </a:xfrm>
        </p:grpSpPr>
        <p:pic>
          <p:nvPicPr>
            <p:cNvPr id="320" name="Google Shape;320;p22" descr="image.png"/>
            <p:cNvPicPr preferRelativeResize="0"/>
            <p:nvPr/>
          </p:nvPicPr>
          <p:blipFill rotWithShape="1">
            <a:blip r:embed="rId13">
              <a:alphaModFix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/>
          </p:blipFill>
          <p:spPr>
            <a:xfrm>
              <a:off x="6278628" y="5390852"/>
              <a:ext cx="5381625" cy="708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22"/>
            <p:cNvSpPr txBox="1"/>
            <p:nvPr/>
          </p:nvSpPr>
          <p:spPr>
            <a:xfrm>
              <a:off x="6507228" y="5524202"/>
              <a:ext cx="496252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62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u="none" strike="noStrike" cap="none">
                  <a:solidFill>
                    <a:srgbClr val="818CF8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Eunseo Choi</a:t>
              </a:r>
              <a:endParaRPr/>
            </a:p>
          </p:txBody>
        </p:sp>
        <p:sp>
          <p:nvSpPr>
            <p:cNvPr id="340" name="Google Shape;340;p22">
              <a:hlinkClick r:id="rId21" action="ppaction://hlinkpres?slideindex=1&amp;slidetitle="/>
            </p:cNvPr>
            <p:cNvSpPr txBox="1"/>
            <p:nvPr/>
          </p:nvSpPr>
          <p:spPr>
            <a:xfrm>
              <a:off x="6507228" y="5752802"/>
              <a:ext cx="4962525" cy="2132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Application of Artificial Intelligence in Dementia Research</a:t>
              </a:r>
              <a:endParaRPr dirty="0"/>
            </a:p>
          </p:txBody>
        </p:sp>
        <p:pic>
          <p:nvPicPr>
            <p:cNvPr id="350" name="Google Shape;350;p22" descr="image.png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6507228" y="5543252"/>
              <a:ext cx="119062" cy="133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1" name="Google Shape;351;p22"/>
          <p:cNvSpPr txBox="1"/>
          <p:nvPr/>
        </p:nvSpPr>
        <p:spPr>
          <a:xfrm>
            <a:off x="571500" y="4762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Presentation O</a:t>
            </a:r>
            <a:r>
              <a:rPr lang="en-US" sz="3000" b="1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verview</a:t>
            </a:r>
            <a:endParaRPr/>
          </a:p>
        </p:txBody>
      </p:sp>
      <p:sp>
        <p:nvSpPr>
          <p:cNvPr id="17" name="Google Shape;293;p21">
            <a:extLst>
              <a:ext uri="{FF2B5EF4-FFF2-40B4-BE49-F238E27FC236}">
                <a16:creationId xmlns:a16="http://schemas.microsoft.com/office/drawing/2014/main" id="{7C56619F-E255-4610-2A72-BE7AFA9FA457}"/>
              </a:ext>
            </a:extLst>
          </p:cNvPr>
          <p:cNvSpPr txBox="1"/>
          <p:nvPr/>
        </p:nvSpPr>
        <p:spPr>
          <a:xfrm>
            <a:off x="564968" y="1168585"/>
            <a:ext cx="5381625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38100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Session 1 Presentations</a:t>
            </a:r>
            <a:endParaRPr sz="1600" b="1" dirty="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Google Shape;293;p21">
            <a:extLst>
              <a:ext uri="{FF2B5EF4-FFF2-40B4-BE49-F238E27FC236}">
                <a16:creationId xmlns:a16="http://schemas.microsoft.com/office/drawing/2014/main" id="{33F9E0B0-45CB-552E-5D1C-33FDD9865949}"/>
              </a:ext>
            </a:extLst>
          </p:cNvPr>
          <p:cNvSpPr txBox="1"/>
          <p:nvPr/>
        </p:nvSpPr>
        <p:spPr>
          <a:xfrm>
            <a:off x="6176565" y="1166395"/>
            <a:ext cx="5381625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38100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Session </a:t>
            </a:r>
            <a:r>
              <a:rPr lang="en-US" sz="160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r>
              <a:rPr lang="en-US" sz="1600" b="0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Presentations</a:t>
            </a:r>
            <a:endParaRPr sz="1600" b="1" dirty="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BF56DFDC-5F9A-A262-C909-34BA1A77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 descr="image.png">
            <a:extLst>
              <a:ext uri="{FF2B5EF4-FFF2-40B4-BE49-F238E27FC236}">
                <a16:creationId xmlns:a16="http://schemas.microsoft.com/office/drawing/2014/main" id="{4E99A859-3B7A-F700-2276-7C361A67CF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>
            <a:extLst>
              <a:ext uri="{FF2B5EF4-FFF2-40B4-BE49-F238E27FC236}">
                <a16:creationId xmlns:a16="http://schemas.microsoft.com/office/drawing/2014/main" id="{B60423CC-09EB-5CFC-D495-E96289D54B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1104900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>
            <a:extLst>
              <a:ext uri="{FF2B5EF4-FFF2-40B4-BE49-F238E27FC236}">
                <a16:creationId xmlns:a16="http://schemas.microsoft.com/office/drawing/2014/main" id="{FD6910DB-951C-A673-DCA0-1F7497A6C613}"/>
              </a:ext>
            </a:extLst>
          </p:cNvPr>
          <p:cNvSpPr txBox="1"/>
          <p:nvPr/>
        </p:nvSpPr>
        <p:spPr>
          <a:xfrm>
            <a:off x="605313" y="1485900"/>
            <a:ext cx="10981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18C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CAI (CWT AI Forum: Crush on AI)</a:t>
            </a:r>
            <a:endParaRPr/>
          </a:p>
        </p:txBody>
      </p:sp>
      <p:sp>
        <p:nvSpPr>
          <p:cNvPr id="210" name="Google Shape;210;p18">
            <a:extLst>
              <a:ext uri="{FF2B5EF4-FFF2-40B4-BE49-F238E27FC236}">
                <a16:creationId xmlns:a16="http://schemas.microsoft.com/office/drawing/2014/main" id="{F8AC513E-FC20-61DE-212F-1A15A170925F}"/>
              </a:ext>
            </a:extLst>
          </p:cNvPr>
          <p:cNvSpPr txBox="1"/>
          <p:nvPr/>
        </p:nvSpPr>
        <p:spPr>
          <a:xfrm>
            <a:off x="1809750" y="1914525"/>
            <a:ext cx="8572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 student research forum that uniquely combines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Biological Sciences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500" b="0" i="0" u="none" strike="noStrike" cap="none">
                <a:solidFill>
                  <a:srgbClr val="818C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Technologies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3" name="Google Shape;223;p18">
            <a:extLst>
              <a:ext uri="{FF2B5EF4-FFF2-40B4-BE49-F238E27FC236}">
                <a16:creationId xmlns:a16="http://schemas.microsoft.com/office/drawing/2014/main" id="{B2449597-2C7B-8F08-6DE4-9B0CFA2371FD}"/>
              </a:ext>
            </a:extLst>
          </p:cNvPr>
          <p:cNvSpPr txBox="1"/>
          <p:nvPr/>
        </p:nvSpPr>
        <p:spPr>
          <a:xfrm>
            <a:off x="571500" y="47625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38BDF8"/>
                </a:solidFill>
                <a:latin typeface="Outfit"/>
                <a:sym typeface="Outfit"/>
              </a:rPr>
              <a:t>Networking &amp; Closing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79510D-E3D7-D1AC-8B4E-3E1E8747C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7393" y="2676525"/>
            <a:ext cx="3837214" cy="38372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02665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854</Words>
  <Application>Microsoft Office PowerPoint</Application>
  <PresentationFormat>와이드스크린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1" baseType="lpstr">
      <vt:lpstr>Outfit ExtraBold</vt:lpstr>
      <vt:lpstr>Inter</vt:lpstr>
      <vt:lpstr>Inter Light</vt:lpstr>
      <vt:lpstr>Outfit SemiBold</vt:lpstr>
      <vt:lpstr>Inter SemiBold</vt:lpstr>
      <vt:lpstr>Arial</vt:lpstr>
      <vt:lpstr>Inter Medium</vt:lpstr>
      <vt:lpstr>Outfit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Subin Hyun</cp:lastModifiedBy>
  <cp:revision>6</cp:revision>
  <dcterms:modified xsi:type="dcterms:W3CDTF">2026-06-25T14:53:03Z</dcterms:modified>
</cp:coreProperties>
</file>